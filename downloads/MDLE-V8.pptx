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73" r:id="rId3"/>
    <p:sldId id="280" r:id="rId5"/>
    <p:sldId id="281" r:id="rId6"/>
    <p:sldId id="282" r:id="rId7"/>
    <p:sldId id="284" r:id="rId8"/>
    <p:sldId id="285" r:id="rId9"/>
    <p:sldId id="286" r:id="rId10"/>
    <p:sldId id="287" r:id="rId11"/>
    <p:sldId id="288" r:id="rId12"/>
    <p:sldId id="289" r:id="rId13"/>
    <p:sldId id="283" r:id="rId14"/>
    <p:sldId id="274" r:id="rId15"/>
    <p:sldId id="290" r:id="rId16"/>
    <p:sldId id="275" r:id="rId17"/>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378"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66813" y="0"/>
            <a:ext cx="5334001" cy="3000375"/>
          </a:xfrm>
        </p:spPr>
      </p:sp>
      <p:sp>
        <p:nvSpPr>
          <p:cNvPr id="3" name="Notes Placeholder 2"/>
          <p:cNvSpPr>
            <a:spLocks noGrp="1"/>
          </p:cNvSpPr>
          <p:nvPr>
            <p:ph type="body" sz="quarter" idx="3"/>
          </p:nvPr>
        </p:nvSpPr>
        <p:spPr/>
        <p:txBody>
          <a:bodyPr/>
          <a:lstStyle/>
          <a:p>
            <a:r>
              <a:t>MDLE independent project presentation. All titles, rules and wordmark elements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MDLE dataset v1.3.0: 357 questions, selected only when BOTH Gemini 3.1 Pro Preview and Claude Opus 5 closed-book scores are strictly below 6/10. Exactly 6 is excluded; no linked-question exceptions. 56 questions have both scores equal to zero (15.7%). Nine mutually exclusive question types cover all 357 items; percentages are rounded. All slide typography, type-distribution bars, panels and arrows are native editable objects. Snapshot: assets/data/dataset-v1.3.0-summary.json.</a:t>
            </a:r>
          </a:p>
          <a:p>
            <a:r>
              <a:t>Dataset v1.3.0; question text and rubrics v1.2.1; historical model scores v1.1.0. The revised prompts have not been rerun; this selected challenge set does not establish general model rankings.</a:t>
            </a:r>
          </a:p>
          <a:p>
            <a:r>
              <a:t>Release: https://huggingface.co/datasets/Medical-Doctors-Last-Exam/mdle/tree/v1.3.0</a:t>
            </a:r>
          </a:p>
          <a:p>
            <a:r>
              <a:t>Commit: a96f155e900e6f7cbbc1145fb2e62b4a1ea15616</a:t>
            </a:r>
          </a:p>
          <a:p>
            <a:r>
              <a:t>JSONL SHA256: 3f4dc5090489a59a8f72d18907384e2e21c1dee1e31bd35f448884caf1256838</a:t>
            </a:r>
          </a:p>
          <a:p>
            <a:r>
              <a:t>Preview: https://34.238.150.88/preview/</a:t>
            </a:r>
          </a:p>
          <a:p>
            <a:r>
              <a:t>ECG: retained item q01-8975369c944dd1eb, Recio Ibarz et al., JACC Case Reports (2026), https://doi.org/10.1016/j.jaccas.2026.107618, CC BY. CT: retained item q01-092b434ed74d6936, Alabdouli et al. (2026), https://doi.org/10.7759/cureus.107843, CC BY. Clinical images are unchanged original raster assets from the published release.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Editable reconstruction of the selected MDLE representative-case image. The two clinical images are the original supplied axial and sagittal MRI assets.</a:t>
            </a:r>
          </a:p>
          <a:p>
            <a:r>
              <a:t>Benchmark dataset v1.3.0; item: q01-04cfddb40624b468; question version 1.2.1. The item remains in the strict 357-question release, with both model scores equal to zero. Source endpoint: https://34.238.150.88/preview/api/questions/q01-04cfddb40624b468</a:t>
            </a:r>
          </a:p>
          <a:p>
            <a:r>
              <a:t>The two model scores are historical version 1.1.0 scores against the original prompt. The current revised question was not rerun. The Claude quote is the first sentence of the recorded original-prompt response.</a:t>
            </a:r>
          </a:p>
          <a:p>
            <a:r>
              <a:t>Clinical source: Zhao et al., Neuroblastoma in neonates: a case report and literature review. Frontiers in Oncology (2026), DOI 10.3389/fonc.2026.1776760, CC BY.</a:t>
            </a:r>
          </a:p>
          <a:p>
            <a:r>
              <a:t>Only clinical images are bitmaps. Text boxes, icons, panel outlines, table rules and header/footer fills are native editable PowerPoint objects. Source image is stored separately in assets/references/02-case.png for visual comparison.</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Editable reconstruction of the user-selected concise reference-standard demo image (03-rubric.png). Text, numbering, card borders, separators, and arrows are native PowerPoint elements. Only the clinical MRI photographs are raster images.</a:t>
            </a:r>
          </a:p>
          <a:p/>
          <a:p>
            <a:r>
              <a:t>Case: MDLE dataset v1.3.0, q01-04cfddb40624b468. Question text and scoring rubric are unchanged from prompt version v1.2.1. Scoring highlights: Correct view (6 pts); Feature + meaning (4 pts). This slide intentionally uses only the concise rubric highlights shown in the selected image.</a:t>
            </a:r>
          </a:p>
          <a:p/>
          <a:p>
            <a:r>
              <a:t>Clinical image source credited by the selected reference: Zhao et al., Frontiers in Oncology (2026), doi:10.3389/fonc.2026.1776760, CC BY. Original axial and sagittal assets are included in assets/clinical/. The photographs retain their aspect ratio and are fitted in black native rectangles to avoid geometric distortion.</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MDLE-V3 ECG case, question and original clinical evidence. Item: q01-8975369c944dd1eb.</a:t>
            </a:r>
          </a:p>
          <a:p>
            <a:r>
              <a:t>Source of truth: the frozen published dataset v1.3.0 (357 questions), Hugging Face Medical-Doctors-Last-Exam/mdle, revision a96f155e900e6f7cbbc1145fb2e62b4a1ea15616.</a:t>
            </a:r>
          </a:p>
          <a:p>
            <a:r>
              <a:t>Question and rubric version: v1.2.1. Both displayed model scores are historical closed-book evaluations against v1.1.0. The revised current question has not been rerun. These scores are not a new evaluation.</a:t>
            </a:r>
          </a:p>
          <a:p>
            <a:r>
              <a:t>The clinical figure is the dataset original, with native PowerPoint cropping of blank margins only; all twelve leads and both tracings remain. Left tracing: immediately before invasive coronary angiography. Right tracing: immediately afterward.</a:t>
            </a:r>
          </a:p>
          <a:p>
            <a:r>
              <a:t>The displayed Claude excerpt is verbatim from the recorded candidate answer. Gemini has no raw candidate answer in this record; the slide labels its explanation as a judge summary, not a model quotation.</a:t>
            </a:r>
          </a:p>
          <a:p/>
          <a:p>
            <a:r>
              <a:t>COMPLETE CURRENT QUESTION</a:t>
            </a:r>
          </a:p>
          <a:p>
            <a:r>
              <a:t>Case: A woman in her 60s with no traditional cardiovascular risk factors presented with acute chest pain at rest. Coronary imaging showed that the RCA, LAD, and a small LCx arose from one ostium in a single aortic sinus. An intimal dissection flap in the shared sinus extended into the LCx. A separate dissection flap involved the mid-to-distal LAD.</a:t>
            </a:r>
          </a:p>
          <a:p/>
          <a:p>
            <a:r>
              <a:t>Images: The left 12-lead ECG was recorded immediately before invasive coronary angiography. The right ECG was recorded immediately afterward.</a:t>
            </a:r>
          </a:p>
          <a:p/>
          <a:p>
            <a:r>
              <a:t>Question: What new ischemic territory appears after angiography, and does it correspond to the LAD or LCx dissection?</a:t>
            </a:r>
          </a:p>
          <a:p/>
          <a:p>
            <a:r>
              <a:t>REFERENCE ANSWER</a:t>
            </a:r>
          </a:p>
          <a:p>
            <a:r>
              <a:t>The right-hand (immediately post-catheterization) tracing shows new/accentuated lateral ischemic changes (ST elevation in aVL with reciprocal/downsloping ST changes toward V5-V6), which were not the dominant feature on the pre-catheterization tracing (which was dominated by anterior/anteroseptal ST elevation in V2-V5). This new lateral pattern corresponds to the left circumflex artery (LCx) territory, distinct from the initial LAD-territory (anteroseptal) presentation.</a:t>
            </a:r>
          </a:p>
          <a:p/>
          <a:p>
            <a:r>
              <a:t>REFERENCE REASONING</a:t>
            </a:r>
          </a:p>
          <a:p>
            <a:r>
              <a:t>The pre-procedure tracing is dominated by marked ST elevation across V2-V5 (anteroseptal/anterior, LAD territory). On the post-procedure tracing this anterior elevation has diminished while a new pattern of ST elevation appears in aVL with downsloping ST changes extending toward the lateral precordial leads - a lateral-territory pattern. Since the case anatomy places the LCx as the vessel whose flow became compromised (via extension of the intimal flap from the shared sinus) during the catheterization procedure, this newly appearing lateral ECG pattern localizes to the LCx territory, while the initially presenting anteroseptal pattern localizes to the LAD territory.</a:t>
            </a:r>
          </a:p>
          <a:p/>
          <a:p>
            <a:r>
              <a:t>COMPLETE CURRENT RUBRIC</a:t>
            </a:r>
          </a:p>
          <a:p>
            <a:r>
              <a:t>{</a:t>
            </a:r>
          </a:p>
          <a:p>
            <a:r>
              <a:t>  "criteria": [</a:t>
            </a:r>
          </a:p>
          <a:p>
            <a:r>
              <a:t>    {</a:t>
            </a:r>
          </a:p>
          <a:p>
            <a:r>
              <a:t>      "id": "c1",</a:t>
            </a:r>
          </a:p>
          <a:p>
            <a:r>
              <a:t>      "partial_credit": "Award 3/6 if 'lateral' territory is named without referencing which leads changed, or if leads are cited without explicitly stating the territory is lateral",</a:t>
            </a:r>
          </a:p>
          <a:p>
            <a:r>
              <a:t>      "points": 6,</a:t>
            </a:r>
          </a:p>
          <a:p>
            <a:r>
              <a:t>      "requirement": "Identifies that the new/accentuated abnormality on the post-catheterization tracing is a lateral pattern (aVL, and/or I, V5-V6 changes), distinct from the anteroseptal pattern that dominated the pre-catheterization tracing"</a:t>
            </a:r>
          </a:p>
          <a:p>
            <a:r>
              <a:t>    },</a:t>
            </a:r>
          </a:p>
          <a:p>
            <a:r>
              <a:t>    {</a:t>
            </a:r>
          </a:p>
          <a:p>
            <a:r>
              <a:t>      "id": "c2",</a:t>
            </a:r>
          </a:p>
          <a:p>
            <a:r>
              <a:t>      "partial_credit": "Award 2/4 if LCx is named but the distinction from the initial LAD/anteroseptal pattern is not made explicit",</a:t>
            </a:r>
          </a:p>
          <a:p>
            <a:r>
              <a:t>      "points": 4,</a:t>
            </a:r>
          </a:p>
          <a:p>
            <a:r>
              <a:t>      "requirement": "Correctly attributes the new lateral pattern to the LCx territory (as opposed to the LAD, which corresponds to the initial anteroseptal presentation)"</a:t>
            </a:r>
          </a:p>
          <a:p>
            <a:r>
              <a:t>    }</a:t>
            </a:r>
          </a:p>
          <a:p>
            <a:r>
              <a:t>  ],</a:t>
            </a:r>
          </a:p>
          <a:p>
            <a:r>
              <a:t>  "critical_errors": [</a:t>
            </a:r>
          </a:p>
          <a:p>
            <a:r>
              <a:t>    {</a:t>
            </a:r>
          </a:p>
          <a:p>
            <a:r>
              <a:t>      "error": "States that no new territory is involved, or attributes the new change to an inferior/RCA territory",</a:t>
            </a:r>
          </a:p>
          <a:p>
            <a:r>
              <a:t>      "score_cap": 3</a:t>
            </a:r>
          </a:p>
          <a:p>
            <a:r>
              <a:t>    }</a:t>
            </a:r>
          </a:p>
          <a:p>
            <a:r>
              <a:t>  ],</a:t>
            </a:r>
          </a:p>
          <a:p>
            <a:r>
              <a:t>  "max_score": 10</a:t>
            </a:r>
          </a:p>
          <a:p>
            <a:r>
              <a:t>}</a:t>
            </a:r>
          </a:p>
          <a:p/>
          <a:p>
            <a:r>
              <a:t>HISTORICAL EVALUATION RECORD</a:t>
            </a:r>
          </a:p>
          <a:p>
            <a:r>
              <a:t>{</a:t>
            </a:r>
          </a:p>
          <a:p>
            <a:r>
              <a:t>  "decision": "closed_book_failed",</a:t>
            </a:r>
          </a:p>
          <a:p>
            <a:r>
              <a:t>  "solver_model": "gemini-3.1-pro-preview",</a:t>
            </a:r>
          </a:p>
          <a:p>
            <a:r>
              <a:t>  "judge_model": "gemini-3.1-pro-preview",</a:t>
            </a:r>
          </a:p>
          <a:p>
            <a:r>
              <a:t>  "closed_book": {</a:t>
            </a:r>
          </a:p>
          <a:p>
            <a:r>
              <a:t>    "score": 0.0,</a:t>
            </a:r>
          </a:p>
          <a:p>
            <a:r>
              <a:t>    "max_score": 10.0,</a:t>
            </a:r>
          </a:p>
          <a:p>
            <a:r>
              <a:t>    "passing_score": 7,</a:t>
            </a:r>
          </a:p>
          <a:p>
            <a:r>
              <a:t>    "passed": false,</a:t>
            </a:r>
          </a:p>
          <a:p>
            <a:r>
              <a:t>    "criteria": [</a:t>
            </a:r>
          </a:p>
          <a:p>
            <a:r>
              <a:t>      {</a:t>
            </a:r>
          </a:p>
          <a:p>
            <a:r>
              <a:t>        "id": "c1",</a:t>
            </a:r>
          </a:p>
          <a:p>
            <a:r>
              <a:t>        "points_awarded": 0.0,</a:t>
            </a:r>
          </a:p>
          <a:p>
            <a:r>
              <a:t>        "met": false,</a:t>
            </a:r>
          </a:p>
          <a:p>
            <a:r>
              <a:t>        "reason": "The candidate incorrectly identifies the new pattern as inferior rather than lateral."</a:t>
            </a:r>
          </a:p>
          <a:p>
            <a:r>
              <a:t>      },</a:t>
            </a:r>
          </a:p>
          <a:p>
            <a:r>
              <a:t>      {</a:t>
            </a:r>
          </a:p>
          <a:p>
            <a:r>
              <a:t>        "id": "c2",</a:t>
            </a:r>
          </a:p>
          <a:p>
            <a:r>
              <a:t>        "points_awarded": 0.0,</a:t>
            </a:r>
          </a:p>
          <a:p>
            <a:r>
              <a:t>        "met": false,</a:t>
            </a:r>
          </a:p>
          <a:p>
            <a:r>
              <a:t>        "reason": "Because the candidate incorrectly identified an inferior pattern, they did not attribute a new lateral pattern to the LCx territory."</a:t>
            </a:r>
          </a:p>
          <a:p>
            <a:r>
              <a:t>      }</a:t>
            </a:r>
          </a:p>
          <a:p>
            <a:r>
              <a:t>    ],</a:t>
            </a:r>
          </a:p>
          <a:p>
            <a:r>
              <a:t>    "critical_errors_triggered": [</a:t>
            </a:r>
          </a:p>
          <a:p>
            <a:r>
              <a:t>      {</a:t>
            </a:r>
          </a:p>
          <a:p>
            <a:r>
              <a:t>        "id": "e1",</a:t>
            </a:r>
          </a:p>
          <a:p>
            <a:r>
              <a:t>        "reason": "The candidate explicitly attributes the new change to the inferior territory, incorrectly stating there are ST elevations in leads II, III, and aVF."</a:t>
            </a:r>
          </a:p>
          <a:p>
            <a:r>
              <a:t>      }</a:t>
            </a:r>
          </a:p>
          <a:p>
            <a:r>
              <a:t>    ],</a:t>
            </a:r>
          </a:p>
          <a:p>
            <a:r>
              <a:t>    "rationale": "The candidate completely misread the second ECG, hallucinating ST elevations in the inferior leads and reciprocal depressions in aVL, when the tracing actually shows ST elevation in aVL and reciprocal depressions in the inferior leads. This triggers the critical error for incorrectly attributing the new changes to the inferior territory."</a:t>
            </a:r>
          </a:p>
          <a:p>
            <a:r>
              <a:t>  },</a:t>
            </a:r>
          </a:p>
          <a:p>
            <a:r>
              <a:t>  "opus_closed_book_recheck": {</a:t>
            </a:r>
          </a:p>
          <a:p>
            <a:r>
              <a:t>    "solver_model": "anthropic.claude-opus-5",</a:t>
            </a:r>
          </a:p>
          <a:p>
            <a:r>
              <a:t>    "judge_model": "gemini-3.1-pro-preview",</a:t>
            </a:r>
          </a:p>
          <a:p>
            <a:r>
              <a:t>    "graded_at": "2026-08-19T09:45:47.125105+00:00",</a:t>
            </a:r>
          </a:p>
          <a:p>
            <a:r>
              <a:t>    "score": 0.0,</a:t>
            </a:r>
          </a:p>
          <a:p>
            <a:r>
              <a:t>    "max_score": 10.0,</a:t>
            </a:r>
          </a:p>
          <a:p>
            <a:r>
              <a:t>    "passing_score": 7.0,</a:t>
            </a:r>
          </a:p>
          <a:p>
            <a:r>
              <a:t>    "passed": false,</a:t>
            </a:r>
          </a:p>
          <a:p>
            <a:r>
              <a:t>    "result": "wrong",</a:t>
            </a:r>
          </a:p>
          <a:p>
            <a:r>
              <a:t>    "candidate_answer": "**Answer: the inferior (inferolateral) wall — leads II, III and aVF — which corresponds to the dissected left circumflex territory (not the LAD).**\n\nReasoning from the tracings:\n\n- **Left (pre‑angiography) ECG:** the dominant abnormality is anterior/anterolateral — marked ST‑segment elevation with broad hyperacute/coved T waves across V2–V6 (with lesser, secondary change in the inferior leads). This is the LAD‑territory (mid‑to‑distal LAD dissection flap) injury pattern.\n\n- **Right (post‑angiography) ECG:** the precordial ST elevation in V2–V6 has largely resolved/normalized (only residual T‑wave flattening/inversion anteriorly), while the inferior leads II, III and aVF now show the active injury pattern — ST elevation/J‑point shift with terminal T‑wave inversion (with reciprocal change in I/aVL) — i.e. an inferior injury current that was not the dominant feature on the earlier tracing.\n\n- **Territorial attribution:** the inferior–inferolateral wall in this patient is supplied through the circumflex system, in which the dissection flap from the common ostium/shared sinus extended. Thus the newly implicated territory is the **inferior wall = LCx dissection**, indicating propagation/ongoing ischemia in the circumflex flap while the LAD territory reperfused.\n\n(Interpretation is based solely on the reproduced tracings; baseline calibration is standard 25 mm/s, 1 mV.)",</a:t>
            </a:r>
          </a:p>
          <a:p>
            <a:r>
              <a:t>    "criterion_scores": [</a:t>
            </a:r>
          </a:p>
          <a:p>
            <a:r>
              <a:t>      {</a:t>
            </a:r>
          </a:p>
          <a:p>
            <a:r>
              <a:t>        "id": "c1",</a:t>
            </a:r>
          </a:p>
          <a:p>
            <a:r>
              <a:t>        "points_awarded": 0,</a:t>
            </a:r>
          </a:p>
          <a:p>
            <a:r>
              <a:t>        "met": false,</a:t>
            </a:r>
          </a:p>
          <a:p>
            <a:r>
              <a:t>        "reason": "The candidate incorrectly identifies the new change as an inferior pattern (claiming ST elevation in leads II, III, and aVF), rather than correctly identifying the lateral pattern (ST elevation in aVL/I with reciprocal inferior depression)."</a:t>
            </a:r>
          </a:p>
          <a:p>
            <a:r>
              <a:t>      },</a:t>
            </a:r>
          </a:p>
          <a:p>
            <a:r>
              <a:t>      {</a:t>
            </a:r>
          </a:p>
          <a:p>
            <a:r>
              <a:t>        "id": "c2",</a:t>
            </a:r>
          </a:p>
          <a:p>
            <a:r>
              <a:t>        "points_awarded": 0,</a:t>
            </a:r>
          </a:p>
          <a:p>
            <a:r>
              <a:t>        "met": false,</a:t>
            </a:r>
          </a:p>
          <a:p>
            <a:r>
              <a:t>        "reason": "Although the candidate names the LCx, they reach this conclusion through clinically incompatible reasoning by falsely identifying inferior ST elevation instead of recognizing the lateral pattern, earning no credit per grading rules."</a:t>
            </a:r>
          </a:p>
          <a:p>
            <a:r>
              <a:t>      }</a:t>
            </a:r>
          </a:p>
          <a:p>
            <a:r>
              <a:t>    ],</a:t>
            </a:r>
          </a:p>
          <a:p>
            <a:r>
              <a:t>    "critical_errors_triggered": [</a:t>
            </a:r>
          </a:p>
          <a:p>
            <a:r>
              <a:t>      {</a:t>
            </a:r>
          </a:p>
          <a:p>
            <a:r>
              <a:t>        "id": "ce1",</a:t>
            </a:r>
          </a:p>
          <a:p>
            <a:r>
              <a:t>        "triggered": true,</a:t>
            </a:r>
          </a:p>
          <a:p>
            <a:r>
              <a:t>        "reason": "The candidate incorrectly attributes the new ECG changes to the inferior territory (leads II, III, aVF)."</a:t>
            </a:r>
          </a:p>
          <a:p>
            <a:r>
              <a:t>      }</a:t>
            </a:r>
          </a:p>
          <a:p>
            <a:r>
              <a:t>    ],</a:t>
            </a:r>
          </a:p>
          <a:p>
            <a:r>
              <a:t>    "rationale": "The candidate misread the post-catheterization ECG, incorrectly identifying inferior ST elevation when there is actually inferior ST depression and lateral ST elevation. This triggers the critical error for attributing the change to an inferior territory and invalidates the LCx attribution due to clinically incompatible reasoning.",</a:t>
            </a:r>
          </a:p>
          <a:p>
            <a:r>
              <a:t>    "raw_answer_available": true,</a:t>
            </a:r>
          </a:p>
          <a:p>
            <a:r>
              <a:t>    "judge_rationale_available": true</a:t>
            </a:r>
          </a:p>
          <a:p>
            <a:r>
              <a:t>  }</a:t>
            </a:r>
          </a:p>
          <a:p>
            <a:r>
              <a:t>}</a:t>
            </a:r>
          </a:p>
          <a:p/>
          <a:p>
            <a:r>
              <a:t>ORIGINAL QUESTION (v1.1.0)</a:t>
            </a:r>
          </a:p>
          <a:p>
            <a:r>
              <a:t>A woman in her 60s with no traditional cardiovascular risk factors presented with acute chest pain at rest. Coronary imaging later showed that her right coronary artery, left anterior descending artery (LAD), and a small left circumflex artery (LCx) all arose from a single ostium in one aortic sinus. An intimal dissection flap was present in that shared sinus and extended into the LCx, and a separate dissecting flap was found in the mid-to-distal LAD. The provided image shows two 12-lead ECG tracings recorded from this patient at different times, both displayed with standard limb and precordial lead labels: left, recorded immediately before invasive coronary angiography; right, recorded immediately after the angiography procedure. Comparing the right-hand tracing with the left-hand tracing, which myocardial territory shows a new or previously non-dominant pattern of active ischemic change, and which of the two dissected coronary territories (LAD vs LCx) does this newly implicated territory correspond to?</a:t>
            </a:r>
          </a:p>
          <a:p/>
          <a:p>
            <a:r>
              <a:t>SOURCE AND EVIDENCE</a:t>
            </a:r>
          </a:p>
          <a:p>
            <a:r>
              <a:t>{</a:t>
            </a:r>
          </a:p>
          <a:p>
            <a:r>
              <a:t>  "source": {</a:t>
            </a:r>
          </a:p>
          <a:p>
            <a:r>
              <a:t>    "source_id": "source_bfb488c7859c",</a:t>
            </a:r>
          </a:p>
          <a:p>
            <a:r>
              <a:t>    "pdf_sha256": "bfb488c7859cbe218c7d0ae1299e414b723f040675f031ac74c9e3390c52e35a",</a:t>
            </a:r>
          </a:p>
          <a:p>
            <a:r>
              <a:t>    "original_pdf_filename": "10.1016_j.jaccas.2026.107618-9a4d90d675.pdf",</a:t>
            </a:r>
          </a:p>
          <a:p>
            <a:r>
              <a:t>    "doi": "10.1016/j.jaccas.2026.107618",</a:t>
            </a:r>
          </a:p>
          <a:p>
            <a:r>
              <a:t>    "doi_url": "https://doi.org/10.1016/j.jaccas.2026.107618",</a:t>
            </a:r>
          </a:p>
          <a:p>
            <a:r>
              <a:t>    "title": "Spontaneous Coronary Artery Dissection in Complex Congenital Coronary Anatomy",</a:t>
            </a:r>
          </a:p>
          <a:p>
            <a:r>
              <a:t>    "authors": [</a:t>
            </a:r>
          </a:p>
          <a:p>
            <a:r>
              <a:t>      {</a:t>
            </a:r>
          </a:p>
          <a:p>
            <a:r>
              <a:t>        "given": "Mario José",</a:t>
            </a:r>
          </a:p>
          <a:p>
            <a:r>
              <a:t>        "family": "Recio Ibarz"</a:t>
            </a:r>
          </a:p>
          <a:p>
            <a:r>
              <a:t>      },</a:t>
            </a:r>
          </a:p>
          <a:p>
            <a:r>
              <a:t>      {</a:t>
            </a:r>
          </a:p>
          <a:p>
            <a:r>
              <a:t>        "given": "Amanda Leandro",</a:t>
            </a:r>
          </a:p>
          <a:p>
            <a:r>
              <a:t>        "family": "Barros"</a:t>
            </a:r>
          </a:p>
          <a:p>
            <a:r>
              <a:t>      },</a:t>
            </a:r>
          </a:p>
          <a:p>
            <a:r>
              <a:t>      {</a:t>
            </a:r>
          </a:p>
          <a:p>
            <a:r>
              <a:t>        "given": "Elena Rodriguez",</a:t>
            </a:r>
          </a:p>
          <a:p>
            <a:r>
              <a:t>        "family": "García"</a:t>
            </a:r>
          </a:p>
          <a:p>
            <a:r>
              <a:t>      },</a:t>
            </a:r>
          </a:p>
          <a:p>
            <a:r>
              <a:t>      {</a:t>
            </a:r>
          </a:p>
          <a:p>
            <a:r>
              <a:t>        "given": "Francisco de la Cuerda",</a:t>
            </a:r>
          </a:p>
          <a:p>
            <a:r>
              <a:t>        "family": "Llorente"</a:t>
            </a:r>
          </a:p>
          <a:p>
            <a:r>
              <a:t>      },</a:t>
            </a:r>
          </a:p>
          <a:p>
            <a:r>
              <a:t>      {</a:t>
            </a:r>
          </a:p>
          <a:p>
            <a:r>
              <a:t>        "given": "Flavio Augusto",</a:t>
            </a:r>
          </a:p>
          <a:p>
            <a:r>
              <a:t>        "family": "Gasparini Noriega"</a:t>
            </a:r>
          </a:p>
          <a:p>
            <a:r>
              <a:t>      },</a:t>
            </a:r>
          </a:p>
          <a:p>
            <a:r>
              <a:t>      {</a:t>
            </a:r>
          </a:p>
          <a:p>
            <a:r>
              <a:t>        "given": "Iván",</a:t>
            </a:r>
          </a:p>
          <a:p>
            <a:r>
              <a:t>        "family": "de María Mier"</a:t>
            </a:r>
          </a:p>
          <a:p>
            <a:r>
              <a:t>      },</a:t>
            </a:r>
          </a:p>
          <a:p>
            <a:r>
              <a:t>      {</a:t>
            </a:r>
          </a:p>
          <a:p>
            <a:r>
              <a:t>        "given": "Alberto García",</a:t>
            </a:r>
          </a:p>
          <a:p>
            <a:r>
              <a:t>        "family": "Lledó"</a:t>
            </a:r>
          </a:p>
          <a:p>
            <a:r>
              <a:t>      }</a:t>
            </a:r>
          </a:p>
          <a:p>
            <a:r>
              <a:t>    ],</a:t>
            </a:r>
          </a:p>
          <a:p>
            <a:r>
              <a:t>    "journal": "JACC Case Reports",</a:t>
            </a:r>
          </a:p>
          <a:p>
            <a:r>
              <a:t>    "publisher": "Elsevier BV",</a:t>
            </a:r>
          </a:p>
          <a:p>
            <a:r>
              <a:t>    "published_date": "2026-03-26",</a:t>
            </a:r>
          </a:p>
          <a:p>
            <a:r>
              <a:t>    "article_type": "journal-article",</a:t>
            </a:r>
          </a:p>
          <a:p>
            <a:r>
              <a:t>    "article_url": "https://linkinghub.elsevier.com/retrieve/pii/S2666084926007709",</a:t>
            </a:r>
          </a:p>
          <a:p>
            <a:r>
              <a:t>    "pdf_url": "https://www.sciencedirect.com/science/article/pii/S2666084926007709/pdfft?isDTMRedir=true&amp;download=true",</a:t>
            </a:r>
          </a:p>
          <a:p>
            <a:r>
              <a:t>    "pdf_url_source": "publisher URL pattern",</a:t>
            </a:r>
          </a:p>
          <a:p>
            <a:r>
              <a:t>    "pmcid": null,</a:t>
            </a:r>
          </a:p>
          <a:p>
            <a:r>
              <a:t>    "pmc_url": null,</a:t>
            </a:r>
          </a:p>
          <a:p>
            <a:r>
              <a:t>    "is_open_access": true,</a:t>
            </a:r>
          </a:p>
          <a:p>
            <a:r>
              <a:t>    "oa_status": "gold",</a:t>
            </a:r>
          </a:p>
          <a:p>
            <a:r>
              <a:t>    "license": "cc-by",</a:t>
            </a:r>
          </a:p>
          <a:p>
            <a:r>
              <a:t>    "metadata_sources": [</a:t>
            </a:r>
          </a:p>
          <a:p>
            <a:r>
              <a:t>      "Crossref",</a:t>
            </a:r>
          </a:p>
          <a:p>
            <a:r>
              <a:t>      "Unpaywall",</a:t>
            </a:r>
          </a:p>
          <a:p>
            <a:r>
              <a:t>      "OpenAlex"</a:t>
            </a:r>
          </a:p>
          <a:p>
            <a:r>
              <a:t>    ],</a:t>
            </a:r>
          </a:p>
          <a:p>
            <a:r>
              <a:t>    "pdf_included": false</a:t>
            </a:r>
          </a:p>
          <a:p>
            <a:r>
              <a:t>  },</a:t>
            </a:r>
          </a:p>
          <a:p>
            <a:r>
              <a:t>  "evidence": [</a:t>
            </a:r>
          </a:p>
          <a:p>
            <a:r>
              <a:t>    {</a:t>
            </a:r>
          </a:p>
          <a:p>
            <a:r>
              <a:t>      "page": 3,</a:t>
            </a:r>
          </a:p>
          <a:p>
            <a:r>
              <a:t>      "quote": "Immediately post-catheterization qR pattern and 1.5 mm of ST-segment elevation in aVL and downsloping ST straightening in V3 to V5, suggestive of active lateral ischemia."</a:t>
            </a:r>
          </a:p>
          <a:p>
            <a:r>
              <a:t>    },</a:t>
            </a:r>
          </a:p>
          <a:p>
            <a:r>
              <a:t>    {</a:t>
            </a:r>
          </a:p>
          <a:p>
            <a:r>
              <a:t>      "page": 2,</a:t>
            </a:r>
          </a:p>
          <a:p>
            <a:r>
              <a:t>      "quote": "progressed into the LCx, obstructing its flow, and involved the RCA ostium due to catheter traction"</a:t>
            </a:r>
          </a:p>
          <a:p>
            <a:r>
              <a:t>    }</a:t>
            </a:r>
          </a:p>
          <a:p>
            <a:r>
              <a:t>  ]</a:t>
            </a:r>
          </a:p>
          <a:p>
            <a:r>
              <a:t>}</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MDLE-V3 ECG case, reference reasoning, rubric and historical evaluation. Item: q01-8975369c944dd1eb.</a:t>
            </a:r>
          </a:p>
          <a:p>
            <a:r>
              <a:t>Source of truth: the frozen published dataset v1.3.0 (357 questions), Hugging Face Medical-Doctors-Last-Exam/mdle, revision a96f155e900e6f7cbbc1145fb2e62b4a1ea15616.</a:t>
            </a:r>
          </a:p>
          <a:p>
            <a:r>
              <a:t>Question and rubric version: v1.2.1. Both displayed model scores are historical closed-book evaluations against v1.1.0. The revised current question has not been rerun. These scores are not a new evaluation.</a:t>
            </a:r>
          </a:p>
          <a:p>
            <a:r>
              <a:t>The clinical figure is the dataset original, with native PowerPoint cropping of blank margins only; all twelve leads and both tracings remain. Left tracing: immediately before invasive coronary angiography. Right tracing: immediately afterward.</a:t>
            </a:r>
          </a:p>
          <a:p>
            <a:r>
              <a:t>The displayed Claude excerpt is verbatim from the recorded candidate answer. Gemini has no raw candidate answer in this record; the slide labels its explanation as a judge summary, not a model quotation.</a:t>
            </a:r>
          </a:p>
          <a:p/>
          <a:p>
            <a:r>
              <a:t>COMPLETE CURRENT QUESTION</a:t>
            </a:r>
          </a:p>
          <a:p>
            <a:r>
              <a:t>Case: A woman in her 60s with no traditional cardiovascular risk factors presented with acute chest pain at rest. Coronary imaging showed that the RCA, LAD, and a small LCx arose from one ostium in a single aortic sinus. An intimal dissection flap in the shared sinus extended into the LCx. A separate dissection flap involved the mid-to-distal LAD.</a:t>
            </a:r>
          </a:p>
          <a:p/>
          <a:p>
            <a:r>
              <a:t>Images: The left 12-lead ECG was recorded immediately before invasive coronary angiography. The right ECG was recorded immediately afterward.</a:t>
            </a:r>
          </a:p>
          <a:p/>
          <a:p>
            <a:r>
              <a:t>Question: What new ischemic territory appears after angiography, and does it correspond to the LAD or LCx dissection?</a:t>
            </a:r>
          </a:p>
          <a:p/>
          <a:p>
            <a:r>
              <a:t>REFERENCE ANSWER</a:t>
            </a:r>
          </a:p>
          <a:p>
            <a:r>
              <a:t>The right-hand (immediately post-catheterization) tracing shows new/accentuated lateral ischemic changes (ST elevation in aVL with reciprocal/downsloping ST changes toward V5-V6), which were not the dominant feature on the pre-catheterization tracing (which was dominated by anterior/anteroseptal ST elevation in V2-V5). This new lateral pattern corresponds to the left circumflex artery (LCx) territory, distinct from the initial LAD-territory (anteroseptal) presentation.</a:t>
            </a:r>
          </a:p>
          <a:p/>
          <a:p>
            <a:r>
              <a:t>REFERENCE REASONING</a:t>
            </a:r>
          </a:p>
          <a:p>
            <a:r>
              <a:t>The pre-procedure tracing is dominated by marked ST elevation across V2-V5 (anteroseptal/anterior, LAD territory). On the post-procedure tracing this anterior elevation has diminished while a new pattern of ST elevation appears in aVL with downsloping ST changes extending toward the lateral precordial leads - a lateral-territory pattern. Since the case anatomy places the LCx as the vessel whose flow became compromised (via extension of the intimal flap from the shared sinus) during the catheterization procedure, this newly appearing lateral ECG pattern localizes to the LCx territory, while the initially presenting anteroseptal pattern localizes to the LAD territory.</a:t>
            </a:r>
          </a:p>
          <a:p/>
          <a:p>
            <a:r>
              <a:t>COMPLETE CURRENT RUBRIC</a:t>
            </a:r>
          </a:p>
          <a:p>
            <a:r>
              <a:t>{</a:t>
            </a:r>
          </a:p>
          <a:p>
            <a:r>
              <a:t>  "criteria": [</a:t>
            </a:r>
          </a:p>
          <a:p>
            <a:r>
              <a:t>    {</a:t>
            </a:r>
          </a:p>
          <a:p>
            <a:r>
              <a:t>      "id": "c1",</a:t>
            </a:r>
          </a:p>
          <a:p>
            <a:r>
              <a:t>      "partial_credit": "Award 3/6 if 'lateral' territory is named without referencing which leads changed, or if leads are cited without explicitly stating the territory is lateral",</a:t>
            </a:r>
          </a:p>
          <a:p>
            <a:r>
              <a:t>      "points": 6,</a:t>
            </a:r>
          </a:p>
          <a:p>
            <a:r>
              <a:t>      "requirement": "Identifies that the new/accentuated abnormality on the post-catheterization tracing is a lateral pattern (aVL, and/or I, V5-V6 changes), distinct from the anteroseptal pattern that dominated the pre-catheterization tracing"</a:t>
            </a:r>
          </a:p>
          <a:p>
            <a:r>
              <a:t>    },</a:t>
            </a:r>
          </a:p>
          <a:p>
            <a:r>
              <a:t>    {</a:t>
            </a:r>
          </a:p>
          <a:p>
            <a:r>
              <a:t>      "id": "c2",</a:t>
            </a:r>
          </a:p>
          <a:p>
            <a:r>
              <a:t>      "partial_credit": "Award 2/4 if LCx is named but the distinction from the initial LAD/anteroseptal pattern is not made explicit",</a:t>
            </a:r>
          </a:p>
          <a:p>
            <a:r>
              <a:t>      "points": 4,</a:t>
            </a:r>
          </a:p>
          <a:p>
            <a:r>
              <a:t>      "requirement": "Correctly attributes the new lateral pattern to the LCx territory (as opposed to the LAD, which corresponds to the initial anteroseptal presentation)"</a:t>
            </a:r>
          </a:p>
          <a:p>
            <a:r>
              <a:t>    }</a:t>
            </a:r>
          </a:p>
          <a:p>
            <a:r>
              <a:t>  ],</a:t>
            </a:r>
          </a:p>
          <a:p>
            <a:r>
              <a:t>  "critical_errors": [</a:t>
            </a:r>
          </a:p>
          <a:p>
            <a:r>
              <a:t>    {</a:t>
            </a:r>
          </a:p>
          <a:p>
            <a:r>
              <a:t>      "error": "States that no new territory is involved, or attributes the new change to an inferior/RCA territory",</a:t>
            </a:r>
          </a:p>
          <a:p>
            <a:r>
              <a:t>      "score_cap": 3</a:t>
            </a:r>
          </a:p>
          <a:p>
            <a:r>
              <a:t>    }</a:t>
            </a:r>
          </a:p>
          <a:p>
            <a:r>
              <a:t>  ],</a:t>
            </a:r>
          </a:p>
          <a:p>
            <a:r>
              <a:t>  "max_score": 10</a:t>
            </a:r>
          </a:p>
          <a:p>
            <a:r>
              <a:t>}</a:t>
            </a:r>
          </a:p>
          <a:p/>
          <a:p>
            <a:r>
              <a:t>HISTORICAL EVALUATION RECORD</a:t>
            </a:r>
          </a:p>
          <a:p>
            <a:r>
              <a:t>{</a:t>
            </a:r>
          </a:p>
          <a:p>
            <a:r>
              <a:t>  "decision": "closed_book_failed",</a:t>
            </a:r>
          </a:p>
          <a:p>
            <a:r>
              <a:t>  "solver_model": "gemini-3.1-pro-preview",</a:t>
            </a:r>
          </a:p>
          <a:p>
            <a:r>
              <a:t>  "judge_model": "gemini-3.1-pro-preview",</a:t>
            </a:r>
          </a:p>
          <a:p>
            <a:r>
              <a:t>  "closed_book": {</a:t>
            </a:r>
          </a:p>
          <a:p>
            <a:r>
              <a:t>    "score": 0.0,</a:t>
            </a:r>
          </a:p>
          <a:p>
            <a:r>
              <a:t>    "max_score": 10.0,</a:t>
            </a:r>
          </a:p>
          <a:p>
            <a:r>
              <a:t>    "passing_score": 7,</a:t>
            </a:r>
          </a:p>
          <a:p>
            <a:r>
              <a:t>    "passed": false,</a:t>
            </a:r>
          </a:p>
          <a:p>
            <a:r>
              <a:t>    "criteria": [</a:t>
            </a:r>
          </a:p>
          <a:p>
            <a:r>
              <a:t>      {</a:t>
            </a:r>
          </a:p>
          <a:p>
            <a:r>
              <a:t>        "id": "c1",</a:t>
            </a:r>
          </a:p>
          <a:p>
            <a:r>
              <a:t>        "points_awarded": 0.0,</a:t>
            </a:r>
          </a:p>
          <a:p>
            <a:r>
              <a:t>        "met": false,</a:t>
            </a:r>
          </a:p>
          <a:p>
            <a:r>
              <a:t>        "reason": "The candidate incorrectly identifies the new pattern as inferior rather than lateral."</a:t>
            </a:r>
          </a:p>
          <a:p>
            <a:r>
              <a:t>      },</a:t>
            </a:r>
          </a:p>
          <a:p>
            <a:r>
              <a:t>      {</a:t>
            </a:r>
          </a:p>
          <a:p>
            <a:r>
              <a:t>        "id": "c2",</a:t>
            </a:r>
          </a:p>
          <a:p>
            <a:r>
              <a:t>        "points_awarded": 0.0,</a:t>
            </a:r>
          </a:p>
          <a:p>
            <a:r>
              <a:t>        "met": false,</a:t>
            </a:r>
          </a:p>
          <a:p>
            <a:r>
              <a:t>        "reason": "Because the candidate incorrectly identified an inferior pattern, they did not attribute a new lateral pattern to the LCx territory."</a:t>
            </a:r>
          </a:p>
          <a:p>
            <a:r>
              <a:t>      }</a:t>
            </a:r>
          </a:p>
          <a:p>
            <a:r>
              <a:t>    ],</a:t>
            </a:r>
          </a:p>
          <a:p>
            <a:r>
              <a:t>    "critical_errors_triggered": [</a:t>
            </a:r>
          </a:p>
          <a:p>
            <a:r>
              <a:t>      {</a:t>
            </a:r>
          </a:p>
          <a:p>
            <a:r>
              <a:t>        "id": "e1",</a:t>
            </a:r>
          </a:p>
          <a:p>
            <a:r>
              <a:t>        "reason": "The candidate explicitly attributes the new change to the inferior territory, incorrectly stating there are ST elevations in leads II, III, and aVF."</a:t>
            </a:r>
          </a:p>
          <a:p>
            <a:r>
              <a:t>      }</a:t>
            </a:r>
          </a:p>
          <a:p>
            <a:r>
              <a:t>    ],</a:t>
            </a:r>
          </a:p>
          <a:p>
            <a:r>
              <a:t>    "rationale": "The candidate completely misread the second ECG, hallucinating ST elevations in the inferior leads and reciprocal depressions in aVL, when the tracing actually shows ST elevation in aVL and reciprocal depressions in the inferior leads. This triggers the critical error for incorrectly attributing the new changes to the inferior territory."</a:t>
            </a:r>
          </a:p>
          <a:p>
            <a:r>
              <a:t>  },</a:t>
            </a:r>
          </a:p>
          <a:p>
            <a:r>
              <a:t>  "opus_closed_book_recheck": {</a:t>
            </a:r>
          </a:p>
          <a:p>
            <a:r>
              <a:t>    "solver_model": "anthropic.claude-opus-5",</a:t>
            </a:r>
          </a:p>
          <a:p>
            <a:r>
              <a:t>    "judge_model": "gemini-3.1-pro-preview",</a:t>
            </a:r>
          </a:p>
          <a:p>
            <a:r>
              <a:t>    "graded_at": "2026-08-19T09:45:47.125105+00:00",</a:t>
            </a:r>
          </a:p>
          <a:p>
            <a:r>
              <a:t>    "score": 0.0,</a:t>
            </a:r>
          </a:p>
          <a:p>
            <a:r>
              <a:t>    "max_score": 10.0,</a:t>
            </a:r>
          </a:p>
          <a:p>
            <a:r>
              <a:t>    "passing_score": 7.0,</a:t>
            </a:r>
          </a:p>
          <a:p>
            <a:r>
              <a:t>    "passed": false,</a:t>
            </a:r>
          </a:p>
          <a:p>
            <a:r>
              <a:t>    "result": "wrong",</a:t>
            </a:r>
          </a:p>
          <a:p>
            <a:r>
              <a:t>    "candidate_answer": "**Answer: the inferior (inferolateral) wall — leads II, III and aVF — which corresponds to the dissected left circumflex territory (not the LAD).**\n\nReasoning from the tracings:\n\n- **Left (pre‑angiography) ECG:** the dominant abnormality is anterior/anterolateral — marked ST‑segment elevation with broad hyperacute/coved T waves across V2–V6 (with lesser, secondary change in the inferior leads). This is the LAD‑territory (mid‑to‑distal LAD dissection flap) injury pattern.\n\n- **Right (post‑angiography) ECG:** the precordial ST elevation in V2–V6 has largely resolved/normalized (only residual T‑wave flattening/inversion anteriorly), while the inferior leads II, III and aVF now show the active injury pattern — ST elevation/J‑point shift with terminal T‑wave inversion (with reciprocal change in I/aVL) — i.e. an inferior injury current that was not the dominant feature on the earlier tracing.\n\n- **Territorial attribution:** the inferior–inferolateral wall in this patient is supplied through the circumflex system, in which the dissection flap from the common ostium/shared sinus extended. Thus the newly implicated territory is the **inferior wall = LCx dissection**, indicating propagation/ongoing ischemia in the circumflex flap while the LAD territory reperfused.\n\n(Interpretation is based solely on the reproduced tracings; baseline calibration is standard 25 mm/s, 1 mV.)",</a:t>
            </a:r>
          </a:p>
          <a:p>
            <a:r>
              <a:t>    "criterion_scores": [</a:t>
            </a:r>
          </a:p>
          <a:p>
            <a:r>
              <a:t>      {</a:t>
            </a:r>
          </a:p>
          <a:p>
            <a:r>
              <a:t>        "id": "c1",</a:t>
            </a:r>
          </a:p>
          <a:p>
            <a:r>
              <a:t>        "points_awarded": 0,</a:t>
            </a:r>
          </a:p>
          <a:p>
            <a:r>
              <a:t>        "met": false,</a:t>
            </a:r>
          </a:p>
          <a:p>
            <a:r>
              <a:t>        "reason": "The candidate incorrectly identifies the new change as an inferior pattern (claiming ST elevation in leads II, III, and aVF), rather than correctly identifying the lateral pattern (ST elevation in aVL/I with reciprocal inferior depression)."</a:t>
            </a:r>
          </a:p>
          <a:p>
            <a:r>
              <a:t>      },</a:t>
            </a:r>
          </a:p>
          <a:p>
            <a:r>
              <a:t>      {</a:t>
            </a:r>
          </a:p>
          <a:p>
            <a:r>
              <a:t>        "id": "c2",</a:t>
            </a:r>
          </a:p>
          <a:p>
            <a:r>
              <a:t>        "points_awarded": 0,</a:t>
            </a:r>
          </a:p>
          <a:p>
            <a:r>
              <a:t>        "met": false,</a:t>
            </a:r>
          </a:p>
          <a:p>
            <a:r>
              <a:t>        "reason": "Although the candidate names the LCx, they reach this conclusion through clinically incompatible reasoning by falsely identifying inferior ST elevation instead of recognizing the lateral pattern, earning no credit per grading rules."</a:t>
            </a:r>
          </a:p>
          <a:p>
            <a:r>
              <a:t>      }</a:t>
            </a:r>
          </a:p>
          <a:p>
            <a:r>
              <a:t>    ],</a:t>
            </a:r>
          </a:p>
          <a:p>
            <a:r>
              <a:t>    "critical_errors_triggered": [</a:t>
            </a:r>
          </a:p>
          <a:p>
            <a:r>
              <a:t>      {</a:t>
            </a:r>
          </a:p>
          <a:p>
            <a:r>
              <a:t>        "id": "ce1",</a:t>
            </a:r>
          </a:p>
          <a:p>
            <a:r>
              <a:t>        "triggered": true,</a:t>
            </a:r>
          </a:p>
          <a:p>
            <a:r>
              <a:t>        "reason": "The candidate incorrectly attributes the new ECG changes to the inferior territory (leads II, III, aVF)."</a:t>
            </a:r>
          </a:p>
          <a:p>
            <a:r>
              <a:t>      }</a:t>
            </a:r>
          </a:p>
          <a:p>
            <a:r>
              <a:t>    ],</a:t>
            </a:r>
          </a:p>
          <a:p>
            <a:r>
              <a:t>    "rationale": "The candidate misread the post-catheterization ECG, incorrectly identifying inferior ST elevation when there is actually inferior ST depression and lateral ST elevation. This triggers the critical error for attributing the change to an inferior territory and invalidates the LCx attribution due to clinically incompatible reasoning.",</a:t>
            </a:r>
          </a:p>
          <a:p>
            <a:r>
              <a:t>    "raw_answer_available": true,</a:t>
            </a:r>
          </a:p>
          <a:p>
            <a:r>
              <a:t>    "judge_rationale_available": true</a:t>
            </a:r>
          </a:p>
          <a:p>
            <a:r>
              <a:t>  }</a:t>
            </a:r>
          </a:p>
          <a:p>
            <a:r>
              <a:t>}</a:t>
            </a:r>
          </a:p>
          <a:p/>
          <a:p>
            <a:r>
              <a:t>ORIGINAL QUESTION (v1.1.0)</a:t>
            </a:r>
          </a:p>
          <a:p>
            <a:r>
              <a:t>A woman in her 60s with no traditional cardiovascular risk factors presented with acute chest pain at rest. Coronary imaging later showed that her right coronary artery, left anterior descending artery (LAD), and a small left circumflex artery (LCx) all arose from a single ostium in one aortic sinus. An intimal dissection flap was present in that shared sinus and extended into the LCx, and a separate dissecting flap was found in the mid-to-distal LAD. The provided image shows two 12-lead ECG tracings recorded from this patient at different times, both displayed with standard limb and precordial lead labels: left, recorded immediately before invasive coronary angiography; right, recorded immediately after the angiography procedure. Comparing the right-hand tracing with the left-hand tracing, which myocardial territory shows a new or previously non-dominant pattern of active ischemic change, and which of the two dissected coronary territories (LAD vs LCx) does this newly implicated territory correspond to?</a:t>
            </a:r>
          </a:p>
          <a:p/>
          <a:p>
            <a:r>
              <a:t>SOURCE AND EVIDENCE</a:t>
            </a:r>
          </a:p>
          <a:p>
            <a:r>
              <a:t>{</a:t>
            </a:r>
          </a:p>
          <a:p>
            <a:r>
              <a:t>  "source": {</a:t>
            </a:r>
          </a:p>
          <a:p>
            <a:r>
              <a:t>    "source_id": "source_bfb488c7859c",</a:t>
            </a:r>
          </a:p>
          <a:p>
            <a:r>
              <a:t>    "pdf_sha256": "bfb488c7859cbe218c7d0ae1299e414b723f040675f031ac74c9e3390c52e35a",</a:t>
            </a:r>
          </a:p>
          <a:p>
            <a:r>
              <a:t>    "original_pdf_filename": "10.1016_j.jaccas.2026.107618-9a4d90d675.pdf",</a:t>
            </a:r>
          </a:p>
          <a:p>
            <a:r>
              <a:t>    "doi": "10.1016/j.jaccas.2026.107618",</a:t>
            </a:r>
          </a:p>
          <a:p>
            <a:r>
              <a:t>    "doi_url": "https://doi.org/10.1016/j.jaccas.2026.107618",</a:t>
            </a:r>
          </a:p>
          <a:p>
            <a:r>
              <a:t>    "title": "Spontaneous Coronary Artery Dissection in Complex Congenital Coronary Anatomy",</a:t>
            </a:r>
          </a:p>
          <a:p>
            <a:r>
              <a:t>    "authors": [</a:t>
            </a:r>
          </a:p>
          <a:p>
            <a:r>
              <a:t>      {</a:t>
            </a:r>
          </a:p>
          <a:p>
            <a:r>
              <a:t>        "given": "Mario José",</a:t>
            </a:r>
          </a:p>
          <a:p>
            <a:r>
              <a:t>        "family": "Recio Ibarz"</a:t>
            </a:r>
          </a:p>
          <a:p>
            <a:r>
              <a:t>      },</a:t>
            </a:r>
          </a:p>
          <a:p>
            <a:r>
              <a:t>      {</a:t>
            </a:r>
          </a:p>
          <a:p>
            <a:r>
              <a:t>        "given": "Amanda Leandro",</a:t>
            </a:r>
          </a:p>
          <a:p>
            <a:r>
              <a:t>        "family": "Barros"</a:t>
            </a:r>
          </a:p>
          <a:p>
            <a:r>
              <a:t>      },</a:t>
            </a:r>
          </a:p>
          <a:p>
            <a:r>
              <a:t>      {</a:t>
            </a:r>
          </a:p>
          <a:p>
            <a:r>
              <a:t>        "given": "Elena Rodriguez",</a:t>
            </a:r>
          </a:p>
          <a:p>
            <a:r>
              <a:t>        "family": "García"</a:t>
            </a:r>
          </a:p>
          <a:p>
            <a:r>
              <a:t>      },</a:t>
            </a:r>
          </a:p>
          <a:p>
            <a:r>
              <a:t>      {</a:t>
            </a:r>
          </a:p>
          <a:p>
            <a:r>
              <a:t>        "given": "Francisco de la Cuerda",</a:t>
            </a:r>
          </a:p>
          <a:p>
            <a:r>
              <a:t>        "family": "Llorente"</a:t>
            </a:r>
          </a:p>
          <a:p>
            <a:r>
              <a:t>      },</a:t>
            </a:r>
          </a:p>
          <a:p>
            <a:r>
              <a:t>      {</a:t>
            </a:r>
          </a:p>
          <a:p>
            <a:r>
              <a:t>        "given": "Flavio Augusto",</a:t>
            </a:r>
          </a:p>
          <a:p>
            <a:r>
              <a:t>        "family": "Gasparini Noriega"</a:t>
            </a:r>
          </a:p>
          <a:p>
            <a:r>
              <a:t>      },</a:t>
            </a:r>
          </a:p>
          <a:p>
            <a:r>
              <a:t>      {</a:t>
            </a:r>
          </a:p>
          <a:p>
            <a:r>
              <a:t>        "given": "Iván",</a:t>
            </a:r>
          </a:p>
          <a:p>
            <a:r>
              <a:t>        "family": "de María Mier"</a:t>
            </a:r>
          </a:p>
          <a:p>
            <a:r>
              <a:t>      },</a:t>
            </a:r>
          </a:p>
          <a:p>
            <a:r>
              <a:t>      {</a:t>
            </a:r>
          </a:p>
          <a:p>
            <a:r>
              <a:t>        "given": "Alberto García",</a:t>
            </a:r>
          </a:p>
          <a:p>
            <a:r>
              <a:t>        "family": "Lledó"</a:t>
            </a:r>
          </a:p>
          <a:p>
            <a:r>
              <a:t>      }</a:t>
            </a:r>
          </a:p>
          <a:p>
            <a:r>
              <a:t>    ],</a:t>
            </a:r>
          </a:p>
          <a:p>
            <a:r>
              <a:t>    "journal": "JACC Case Reports",</a:t>
            </a:r>
          </a:p>
          <a:p>
            <a:r>
              <a:t>    "publisher": "Elsevier BV",</a:t>
            </a:r>
          </a:p>
          <a:p>
            <a:r>
              <a:t>    "published_date": "2026-03-26",</a:t>
            </a:r>
          </a:p>
          <a:p>
            <a:r>
              <a:t>    "article_type": "journal-article",</a:t>
            </a:r>
          </a:p>
          <a:p>
            <a:r>
              <a:t>    "article_url": "https://linkinghub.elsevier.com/retrieve/pii/S2666084926007709",</a:t>
            </a:r>
          </a:p>
          <a:p>
            <a:r>
              <a:t>    "pdf_url": "https://www.sciencedirect.com/science/article/pii/S2666084926007709/pdfft?isDTMRedir=true&amp;download=true",</a:t>
            </a:r>
          </a:p>
          <a:p>
            <a:r>
              <a:t>    "pdf_url_source": "publisher URL pattern",</a:t>
            </a:r>
          </a:p>
          <a:p>
            <a:r>
              <a:t>    "pmcid": null,</a:t>
            </a:r>
          </a:p>
          <a:p>
            <a:r>
              <a:t>    "pmc_url": null,</a:t>
            </a:r>
          </a:p>
          <a:p>
            <a:r>
              <a:t>    "is_open_access": true,</a:t>
            </a:r>
          </a:p>
          <a:p>
            <a:r>
              <a:t>    "oa_status": "gold",</a:t>
            </a:r>
          </a:p>
          <a:p>
            <a:r>
              <a:t>    "license": "cc-by",</a:t>
            </a:r>
          </a:p>
          <a:p>
            <a:r>
              <a:t>    "metadata_sources": [</a:t>
            </a:r>
          </a:p>
          <a:p>
            <a:r>
              <a:t>      "Crossref",</a:t>
            </a:r>
          </a:p>
          <a:p>
            <a:r>
              <a:t>      "Unpaywall",</a:t>
            </a:r>
          </a:p>
          <a:p>
            <a:r>
              <a:t>      "OpenAlex"</a:t>
            </a:r>
          </a:p>
          <a:p>
            <a:r>
              <a:t>    ],</a:t>
            </a:r>
          </a:p>
          <a:p>
            <a:r>
              <a:t>    "pdf_included": false</a:t>
            </a:r>
          </a:p>
          <a:p>
            <a:r>
              <a:t>  },</a:t>
            </a:r>
          </a:p>
          <a:p>
            <a:r>
              <a:t>  "evidence": [</a:t>
            </a:r>
          </a:p>
          <a:p>
            <a:r>
              <a:t>    {</a:t>
            </a:r>
          </a:p>
          <a:p>
            <a:r>
              <a:t>      "page": 3,</a:t>
            </a:r>
          </a:p>
          <a:p>
            <a:r>
              <a:t>      "quote": "Immediately post-catheterization qR pattern and 1.5 mm of ST-segment elevation in aVL and downsloping ST straightening in V3 to V5, suggestive of active lateral ischemia."</a:t>
            </a:r>
          </a:p>
          <a:p>
            <a:r>
              <a:t>    },</a:t>
            </a:r>
          </a:p>
          <a:p>
            <a:r>
              <a:t>    {</a:t>
            </a:r>
          </a:p>
          <a:p>
            <a:r>
              <a:t>      "page": 2,</a:t>
            </a:r>
          </a:p>
          <a:p>
            <a:r>
              <a:t>      "quote": "progressed into the LCx, obstructing its flow, and involved the RCA ostium due to catheter traction"</a:t>
            </a:r>
          </a:p>
          <a:p>
            <a:r>
              <a:t>    }</a:t>
            </a:r>
          </a:p>
          <a:p>
            <a:r>
              <a:t>  ]</a:t>
            </a:r>
          </a:p>
          <a:p>
            <a:r>
              <a: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MDLE V3 additional case: q01-55ea587e1ed2f1dc. Question and clinical evidence page.</a:t>
            </a:r>
          </a:p>
          <a:p>
            <a:r>
              <a:t>Dataset v1.3.0; current question and rubric v1.2.1; historical scores v1.1.0. Gemini 3.1 Pro Preview 0/10; Claude Opus 5 3/10. Current question not rerun. Selected because both historical closed-book scores are strictly below 6/10. The current prompt answerability record is preserved.</a:t>
            </a:r>
          </a:p>
          <a:p>
            <a:r>
              <a:t>Question-page clinical course is a concise paraphrase; the final Question sentence is verbatim. Reference explanations are a summary of the dataset reference, not a universal treatment guideline. CT and treatment course must be interpreted together; lack of anti-inflammatory response alone does not prove malignancy. The clinical CT is an unchanged source bitmap. Text, panel borders, arrows and scoring cards are editable PowerPoint elements.</a:t>
            </a:r>
          </a:p>
          <a:p>
            <a:r>
              <a:t>Claude excerpt is copied from its recorded original-prompt response. Gemini raw response is not in this release; its error description is explicitly a judge summary. Claude earned 0 for mechanism and 4 for treatment-response reasoning, then the critical-error cap reduced the final score to 3. A cap is a maximum score, not guaranteed credit.</a:t>
            </a:r>
          </a:p>
          <a:p>
            <a:r>
              <a:t>Release: https://huggingface.co/datasets/Medical-Doctors-Last-Exam/mdle/tree/v1.3.0</a:t>
            </a:r>
          </a:p>
          <a:p>
            <a:r>
              <a:t>Explorer: https://34.238.150.88/preview/api/questions/q01-55ea587e1ed2f1dc</a:t>
            </a:r>
          </a:p>
          <a:p>
            <a:r>
              <a:t>Source: Dawelbeit et al., When Constriction Is Not Just the Pericardium: Extrinsic Cardiac Encasement by Thymic Squamous Cell Carcinoma. Cureus (2026). https://doi.org/10.7759/cureus.105678. CC BY. Evidence excerpts cite source pages 4 and 5.</a:t>
            </a:r>
          </a:p>
          <a:p/>
          <a:p>
            <a:r>
              <a:t>FULL CURRENT QUESTION</a:t>
            </a:r>
          </a:p>
          <a:p>
            <a:r>
              <a:t>Case: A man in his late 50s had received thoracic radiotherapy for a mediastinal malignancy. He also had severe COVID-19 complicated by pericarditis and pericardial tamponade.</a:t>
            </a:r>
          </a:p>
          <a:p/>
          <a:p>
            <a:r>
              <a:t>Years later, he presented with anasarca and exertional dyspnea. Echocardiography and right heart catheterization showed marked reciprocal respiratory variation in mitral and tricuspid inflow, a prominent septal bounce, and ventricular interdependence. His ejection fraction was preserved.</a:t>
            </a:r>
          </a:p>
          <a:p/>
          <a:p>
            <a:r>
              <a:t>He received high-dose corticosteroids and colchicine for 4 months for presumed inflammatory pericarditis. His symptoms and hemodynamics did not improve.</a:t>
            </a:r>
          </a:p>
          <a:p/>
          <a:p>
            <a:r>
              <a:t>Images: Contrast-enhanced axial chest CT was obtained around this time. Panel A (left) is at the level of the great vessels. Panel B (right) is at the level of the upper cardiac chambers.</a:t>
            </a:r>
          </a:p>
          <a:p/>
          <a:p>
            <a:r>
              <a:t>Question: What mechanism explains both the constrictive physiology and the failure of anti-inflammatory treatment?</a:t>
            </a:r>
          </a:p>
          <a:p/>
          <a:p>
            <a:r>
              <a:t>REFERENCE ANSWER</a:t>
            </a:r>
          </a:p>
          <a:p>
            <a:r>
              <a:t>The constrictive physiology is caused by direct malignant tumor infiltration that circumferentially encases the pericardium, mediastinal pleura, and epicardial surface of the heart (malignant extrinsic cardiac encasement / 'pseudo-constriction'), rather than by primary inflammatory or radiation-fibrotic pericardial disease. The CT shows a bulky enhancing soft-tissue mass inseparable from the pericardium/epicardial fat, deforming the right atrium and compressing the inferior vena cava, i.e., a solid mechanical shell rather than isolated pericardial thickening or effusion. Because the restriction is produced by a fixed, non-compliant tumor mass and not by active pericardial inflammation, there is no inflammatory process for corticosteroids/colchicine to suppress, so an adequate 4-month anti-inflammatory trial produced no hemodynamic or symptomatic benefit — the treatment failure itself is evidence that the driver is mechanical/structural rather than inflammatory.</a:t>
            </a:r>
          </a:p>
          <a:p/>
          <a:p>
            <a:r>
              <a:t>REFERENCE REASONING</a:t>
            </a:r>
          </a:p>
          <a:p>
            <a:r>
              <a:t>Two independent pieces of evidence must be combined: (1) imaging showing a mediastinal mass directly infiltrating/inseparable from the pericardium and epicardial fat with RA deformity and IVC compression — i.e., a mechanical encasing process rather than isolated pericardial disease; and (2) the complete absence of response to a 4-month, guideline-adequate corticosteroid/colchicine trial, which would be expected to improve or resolve inflammatory or post-viral constrictive pericarditis. Neither fact alone is conclusive (imaging alone could reflect coexisting effusion/inflammation on a background of prior radiation and COVID-19 pericarditis; treatment failure alone could reflect an inadequate trial or resistant inflammatory pericarditis), but together they indicate the constrictive physiology is driven by fixed malignant encasement, not reversible pericardial inflammation.</a:t>
            </a:r>
          </a:p>
          <a:p/>
          <a:p>
            <a:r>
              <a:t>CURRENT RUBRIC</a:t>
            </a:r>
          </a:p>
          <a:p>
            <a:r>
              <a:t>{</a:t>
            </a:r>
          </a:p>
          <a:p>
            <a:r>
              <a:t>  "criteria": [</a:t>
            </a:r>
          </a:p>
          <a:p>
            <a:r>
              <a:t>    {</a:t>
            </a:r>
          </a:p>
          <a:p>
            <a:r>
              <a:t>      "id": "c1",</a:t>
            </a:r>
          </a:p>
          <a:p>
            <a:r>
              <a:t>      "partial_credit": "Full credit for any answer identifying tumor infiltration/encasement of the pericardium or heart as the driver, using equivalent terminology (e.g., 'malignant pericardial infiltration', 'extrinsic tumor shell', 'neoplastic encasement'); partial credit (3) if answer says 'malignant pericardial disease' without clearly conveying the mechanical/structural (vs inflammatory) nature; no credit if answer concludes classic inflammatory or radiation-fibrotic constrictive pericarditis is the primary driver",</a:t>
            </a:r>
          </a:p>
          <a:p>
            <a:r>
              <a:t>      "points": 6,</a:t>
            </a:r>
          </a:p>
          <a:p>
            <a:r>
              <a:t>      "requirement": "States the core mechanism: direct tumor/malignant infiltration and circumferential encasement of the pericardium/heart (extrinsic mechanical restriction), not primary/inflammatory pericardial disease"</a:t>
            </a:r>
          </a:p>
          <a:p>
            <a:r>
              <a:t>    },</a:t>
            </a:r>
          </a:p>
          <a:p>
            <a:r>
              <a:t>    {</a:t>
            </a:r>
          </a:p>
          <a:p>
            <a:r>
              <a:t>      "id": "c2",</a:t>
            </a:r>
          </a:p>
          <a:p>
            <a:r>
              <a:t>      "partial_credit": "Full credit if the answer links the absence of an inflammatory target to lack of steroid/colchicine response; partial credit (2) if the link is only implied or partially stated",</a:t>
            </a:r>
          </a:p>
          <a:p>
            <a:r>
              <a:t>      "points": 4,</a:t>
            </a:r>
          </a:p>
          <a:p>
            <a:r>
              <a:t>      "requirement": "Explains why this mechanism accounts for anti-inflammatory treatment failure (fixed mechanical process, no active inflammatory substrate to treat)"</a:t>
            </a:r>
          </a:p>
          <a:p>
            <a:r>
              <a:t>    }</a:t>
            </a:r>
          </a:p>
          <a:p>
            <a:r>
              <a:t>  ],</a:t>
            </a:r>
          </a:p>
          <a:p>
            <a:r>
              <a:t>  "critical_errors": [</a:t>
            </a:r>
          </a:p>
          <a:p>
            <a:r>
              <a:t>    {</a:t>
            </a:r>
          </a:p>
          <a:p>
            <a:r>
              <a:t>      "error": "Concludes the constriction is primarily due to classic (inflammatory/post-viral/radiation-fibrotic) constrictive pericarditis or isolated pericardial effusion/tamponade, without recognizing tumor encasement as the driver",</a:t>
            </a:r>
          </a:p>
          <a:p>
            <a:r>
              <a:t>      "score_cap": 3</a:t>
            </a:r>
          </a:p>
          <a:p>
            <a:r>
              <a:t>    }</a:t>
            </a:r>
          </a:p>
          <a:p>
            <a:r>
              <a:t>  ],</a:t>
            </a:r>
          </a:p>
          <a:p>
            <a:r>
              <a:t>  "max_score": 10</a:t>
            </a:r>
          </a:p>
          <a:p>
            <a:r>
              <a:t>}</a:t>
            </a:r>
          </a:p>
          <a:p/>
          <a:p>
            <a:r>
              <a:t>SOURCE EVIDENCE</a:t>
            </a:r>
          </a:p>
          <a:p>
            <a:r>
              <a:t>[</a:t>
            </a:r>
          </a:p>
          <a:p>
            <a:r>
              <a:t>  {</a:t>
            </a:r>
          </a:p>
          <a:p>
            <a:r>
              <a:t>    "page": 4,</a:t>
            </a:r>
          </a:p>
          <a:p>
            <a:r>
              <a:t>    "quote": "Axial contrast-enhanced CT images at the level of the great vessels (A) and upper cardiac chambers (B) demonstrate significant disease progression and malignant cardiac encasement. The mass directly infiltrates the mediastinal pleura and pericardium, becoming inseparable from the adjacent epicardial fat pads."</a:t>
            </a:r>
          </a:p>
          <a:p>
            <a:r>
              <a:t>  },</a:t>
            </a:r>
          </a:p>
          <a:p>
            <a:r>
              <a:t>  {</a:t>
            </a:r>
          </a:p>
          <a:p>
            <a:r>
              <a:t>    "page": 5,</a:t>
            </a:r>
          </a:p>
          <a:p>
            <a:r>
              <a:t>    "quote": "Despite adherence to the anti-inflammatory regimen, the patient's condition failed to improve."</a:t>
            </a:r>
          </a:p>
          <a:p>
            <a:r>
              <a:t>  }</a:t>
            </a:r>
          </a:p>
          <a:p>
            <a:r>
              <a: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MDLE V3 additional case: q01-55ea587e1ed2f1dc. Reference reasoning, current rubric highlights and recorded historical model evidence.</a:t>
            </a:r>
          </a:p>
          <a:p>
            <a:r>
              <a:t>Dataset v1.3.0; current question and rubric v1.2.1; historical scores v1.1.0. Gemini 3.1 Pro Preview 0/10; Claude Opus 5 3/10. Current question not rerun. Selected because both historical closed-book scores are strictly below 6/10. The current prompt answerability record is preserved.</a:t>
            </a:r>
          </a:p>
          <a:p>
            <a:r>
              <a:t>Question-page clinical course is a concise paraphrase; the final Question sentence is verbatim. Reference explanations are a summary of the dataset reference, not a universal treatment guideline. CT and treatment course must be interpreted together; lack of anti-inflammatory response alone does not prove malignancy. The clinical CT is an unchanged source bitmap. Text, panel borders, arrows and scoring cards are editable PowerPoint elements.</a:t>
            </a:r>
          </a:p>
          <a:p>
            <a:r>
              <a:t>Claude excerpt is copied from its recorded original-prompt response. Gemini raw response is not in this release; its error description is explicitly a judge summary. Claude earned 0 for mechanism and 4 for treatment-response reasoning, then the critical-error cap reduced the final score to 3. A cap is a maximum score, not guaranteed credit.</a:t>
            </a:r>
          </a:p>
          <a:p>
            <a:r>
              <a:t>Release: https://huggingface.co/datasets/Medical-Doctors-Last-Exam/mdle/tree/v1.3.0</a:t>
            </a:r>
          </a:p>
          <a:p>
            <a:r>
              <a:t>Explorer: https://34.238.150.88/preview/api/questions/q01-55ea587e1ed2f1dc</a:t>
            </a:r>
          </a:p>
          <a:p>
            <a:r>
              <a:t>Source: Dawelbeit et al., When Constriction Is Not Just the Pericardium: Extrinsic Cardiac Encasement by Thymic Squamous Cell Carcinoma. Cureus (2026). https://doi.org/10.7759/cureus.105678. CC BY. Evidence excerpts cite source pages 4 and 5.</a:t>
            </a:r>
          </a:p>
          <a:p/>
          <a:p>
            <a:r>
              <a:t>FULL CURRENT QUESTION</a:t>
            </a:r>
          </a:p>
          <a:p>
            <a:r>
              <a:t>Case: A man in his late 50s had received thoracic radiotherapy for a mediastinal malignancy. He also had severe COVID-19 complicated by pericarditis and pericardial tamponade.</a:t>
            </a:r>
          </a:p>
          <a:p/>
          <a:p>
            <a:r>
              <a:t>Years later, he presented with anasarca and exertional dyspnea. Echocardiography and right heart catheterization showed marked reciprocal respiratory variation in mitral and tricuspid inflow, a prominent septal bounce, and ventricular interdependence. His ejection fraction was preserved.</a:t>
            </a:r>
          </a:p>
          <a:p/>
          <a:p>
            <a:r>
              <a:t>He received high-dose corticosteroids and colchicine for 4 months for presumed inflammatory pericarditis. His symptoms and hemodynamics did not improve.</a:t>
            </a:r>
          </a:p>
          <a:p/>
          <a:p>
            <a:r>
              <a:t>Images: Contrast-enhanced axial chest CT was obtained around this time. Panel A (left) is at the level of the great vessels. Panel B (right) is at the level of the upper cardiac chambers.</a:t>
            </a:r>
          </a:p>
          <a:p/>
          <a:p>
            <a:r>
              <a:t>Question: What mechanism explains both the constrictive physiology and the failure of anti-inflammatory treatment?</a:t>
            </a:r>
          </a:p>
          <a:p/>
          <a:p>
            <a:r>
              <a:t>REFERENCE ANSWER</a:t>
            </a:r>
          </a:p>
          <a:p>
            <a:r>
              <a:t>The constrictive physiology is caused by direct malignant tumor infiltration that circumferentially encases the pericardium, mediastinal pleura, and epicardial surface of the heart (malignant extrinsic cardiac encasement / 'pseudo-constriction'), rather than by primary inflammatory or radiation-fibrotic pericardial disease. The CT shows a bulky enhancing soft-tissue mass inseparable from the pericardium/epicardial fat, deforming the right atrium and compressing the inferior vena cava, i.e., a solid mechanical shell rather than isolated pericardial thickening or effusion. Because the restriction is produced by a fixed, non-compliant tumor mass and not by active pericardial inflammation, there is no inflammatory process for corticosteroids/colchicine to suppress, so an adequate 4-month anti-inflammatory trial produced no hemodynamic or symptomatic benefit — the treatment failure itself is evidence that the driver is mechanical/structural rather than inflammatory.</a:t>
            </a:r>
          </a:p>
          <a:p/>
          <a:p>
            <a:r>
              <a:t>REFERENCE REASONING</a:t>
            </a:r>
          </a:p>
          <a:p>
            <a:r>
              <a:t>Two independent pieces of evidence must be combined: (1) imaging showing a mediastinal mass directly infiltrating/inseparable from the pericardium and epicardial fat with RA deformity and IVC compression — i.e., a mechanical encasing process rather than isolated pericardial disease; and (2) the complete absence of response to a 4-month, guideline-adequate corticosteroid/colchicine trial, which would be expected to improve or resolve inflammatory or post-viral constrictive pericarditis. Neither fact alone is conclusive (imaging alone could reflect coexisting effusion/inflammation on a background of prior radiation and COVID-19 pericarditis; treatment failure alone could reflect an inadequate trial or resistant inflammatory pericarditis), but together they indicate the constrictive physiology is driven by fixed malignant encasement, not reversible pericardial inflammation.</a:t>
            </a:r>
          </a:p>
          <a:p/>
          <a:p>
            <a:r>
              <a:t>CURRENT RUBRIC</a:t>
            </a:r>
          </a:p>
          <a:p>
            <a:r>
              <a:t>{</a:t>
            </a:r>
          </a:p>
          <a:p>
            <a:r>
              <a:t>  "criteria": [</a:t>
            </a:r>
          </a:p>
          <a:p>
            <a:r>
              <a:t>    {</a:t>
            </a:r>
          </a:p>
          <a:p>
            <a:r>
              <a:t>      "id": "c1",</a:t>
            </a:r>
          </a:p>
          <a:p>
            <a:r>
              <a:t>      "partial_credit": "Full credit for any answer identifying tumor infiltration/encasement of the pericardium or heart as the driver, using equivalent terminology (e.g., 'malignant pericardial infiltration', 'extrinsic tumor shell', 'neoplastic encasement'); partial credit (3) if answer says 'malignant pericardial disease' without clearly conveying the mechanical/structural (vs inflammatory) nature; no credit if answer concludes classic inflammatory or radiation-fibrotic constrictive pericarditis is the primary driver",</a:t>
            </a:r>
          </a:p>
          <a:p>
            <a:r>
              <a:t>      "points": 6,</a:t>
            </a:r>
          </a:p>
          <a:p>
            <a:r>
              <a:t>      "requirement": "States the core mechanism: direct tumor/malignant infiltration and circumferential encasement of the pericardium/heart (extrinsic mechanical restriction), not primary/inflammatory pericardial disease"</a:t>
            </a:r>
          </a:p>
          <a:p>
            <a:r>
              <a:t>    },</a:t>
            </a:r>
          </a:p>
          <a:p>
            <a:r>
              <a:t>    {</a:t>
            </a:r>
          </a:p>
          <a:p>
            <a:r>
              <a:t>      "id": "c2",</a:t>
            </a:r>
          </a:p>
          <a:p>
            <a:r>
              <a:t>      "partial_credit": "Full credit if the answer links the absence of an inflammatory target to lack of steroid/colchicine response; partial credit (2) if the link is only implied or partially stated",</a:t>
            </a:r>
          </a:p>
          <a:p>
            <a:r>
              <a:t>      "points": 4,</a:t>
            </a:r>
          </a:p>
          <a:p>
            <a:r>
              <a:t>      "requirement": "Explains why this mechanism accounts for anti-inflammatory treatment failure (fixed mechanical process, no active inflammatory substrate to treat)"</a:t>
            </a:r>
          </a:p>
          <a:p>
            <a:r>
              <a:t>    }</a:t>
            </a:r>
          </a:p>
          <a:p>
            <a:r>
              <a:t>  ],</a:t>
            </a:r>
          </a:p>
          <a:p>
            <a:r>
              <a:t>  "critical_errors": [</a:t>
            </a:r>
          </a:p>
          <a:p>
            <a:r>
              <a:t>    {</a:t>
            </a:r>
          </a:p>
          <a:p>
            <a:r>
              <a:t>      "error": "Concludes the constriction is primarily due to classic (inflammatory/post-viral/radiation-fibrotic) constrictive pericarditis or isolated pericardial effusion/tamponade, without recognizing tumor encasement as the driver",</a:t>
            </a:r>
          </a:p>
          <a:p>
            <a:r>
              <a:t>      "score_cap": 3</a:t>
            </a:r>
          </a:p>
          <a:p>
            <a:r>
              <a:t>    }</a:t>
            </a:r>
          </a:p>
          <a:p>
            <a:r>
              <a:t>  ],</a:t>
            </a:r>
          </a:p>
          <a:p>
            <a:r>
              <a:t>  "max_score": 10</a:t>
            </a:r>
          </a:p>
          <a:p>
            <a:r>
              <a:t>}</a:t>
            </a:r>
          </a:p>
          <a:p/>
          <a:p>
            <a:r>
              <a:t>SOURCE EVIDENCE</a:t>
            </a:r>
          </a:p>
          <a:p>
            <a:r>
              <a:t>[</a:t>
            </a:r>
          </a:p>
          <a:p>
            <a:r>
              <a:t>  {</a:t>
            </a:r>
          </a:p>
          <a:p>
            <a:r>
              <a:t>    "page": 4,</a:t>
            </a:r>
          </a:p>
          <a:p>
            <a:r>
              <a:t>    "quote": "Axial contrast-enhanced CT images at the level of the great vessels (A) and upper cardiac chambers (B) demonstrate significant disease progression and malignant cardiac encasement. The mass directly infiltrates the mediastinal pleura and pericardium, becoming inseparable from the adjacent epicardial fat pads."</a:t>
            </a:r>
          </a:p>
          <a:p>
            <a:r>
              <a:t>  },</a:t>
            </a:r>
          </a:p>
          <a:p>
            <a:r>
              <a:t>  {</a:t>
            </a:r>
          </a:p>
          <a:p>
            <a:r>
              <a:t>    "page": 5,</a:t>
            </a:r>
          </a:p>
          <a:p>
            <a:r>
              <a:t>    "quote": "Despite adherence to the anti-inflammatory regimen, the patient's condition failed to improve."</a:t>
            </a:r>
          </a:p>
          <a:p>
            <a:r>
              <a:t>  }</a:t>
            </a:r>
          </a:p>
          <a:p>
            <a:r>
              <a:t>]</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MDLE V3 · Case 04 · Current question and case relationships</a:t>
            </a:r>
          </a:p>
          <a:p>
            <a:r>
              <a:t>Item: q03-d89bdb28347ec18a</a:t>
            </a:r>
          </a:p>
          <a:p>
            <a:r>
              <a:t>Dataset v1.3.0 contains 357 questions, each with both model scores strictly less than 6. Current question version: 1.2.1. Historical closed-book model score version: 1.1.0; revised question not rerun.</a:t>
            </a:r>
          </a:p>
          <a:p>
            <a:r>
              <a:t>This is a case-specific benchmark reference strategy, not a general surgical recommendation. The original question supplies no clinical image. The native diagram represents textual relationships only and does not claim anatomical scale or spatial fidelity.</a:t>
            </a:r>
          </a:p>
          <a:p>
            <a:r>
              <a:t>Current full question:</a:t>
            </a:r>
          </a:p>
          <a:p>
            <a:r>
              <a:t>Case: A jugular-foramen tumor arises from the accessory nerve. It extends laterally through the extracranial hypoglossal canal to the level of C1. It compresses, but does not invade, the hypoglossal nerve. Adjacent lower cranial nerve territories are also involved. Surgical resection is planned.</a:t>
            </a:r>
          </a:p>
          <a:p/>
          <a:p>
            <a:r>
              <a:t>Question: What extent-of-resection approach for the intracranial portion best balances tumor removal with preservation of the nerve of origin?</a:t>
            </a:r>
          </a:p>
          <a:p/>
          <a:p>
            <a:r>
              <a:t>Complete benchmark reference answer:</a:t>
            </a:r>
          </a:p>
          <a:p>
            <a:r>
              <a:t>An intracapsular resection strategy — removing the bulk of the tumor and its extracranial extension while leaving a thin residual capsule adherent to the accessory nerve (radiographically complete intracapsular resection) — is preferable to an aggressive gross total resection that risks sacrificing or severely damaging the nerve of origin. This balances maximizing decompression of the secondarily affected nerves (relieving hypoglossal, vagus, and glossopharyngeal compression by removing the extracranial/hypoglossal-canal tumor component) against minimizing the risk of new or worsened accessory nerve (CN XI) deficit, at the cost of accepting a small residual/recurrence risk from the retained capsule.</a:t>
            </a:r>
          </a:p>
          <a:p/>
          <a:p>
            <a:r>
              <a:t>Benchmark reasoning:</a:t>
            </a:r>
          </a:p>
          <a:p>
            <a:r>
              <a:t>In the illustrative case, radiographically complete intracapsular resection (RCIR) rather than gross total resection was performed specifically because the accessory nerve was the nerve of origin, and the discussion explicitly frames CN XI preservation versus resection completeness as a tradeoff distinct from the reversible CN XII compression, noting postoperative CN XI deterioration was reported in a subset of cases when more aggressive resection was pursued.</a:t>
            </a:r>
          </a:p>
          <a:p/>
          <a:p>
            <a:r>
              <a:t>Complete rubric:</a:t>
            </a:r>
          </a:p>
          <a:p>
            <a:r>
              <a:t>{</a:t>
            </a:r>
          </a:p>
          <a:p>
            <a:r>
              <a:t>  "criteria": [</a:t>
            </a:r>
          </a:p>
          <a:p>
            <a:r>
              <a:t>    {</a:t>
            </a:r>
          </a:p>
          <a:p>
            <a:r>
              <a:t>      "id": "c1",</a:t>
            </a:r>
          </a:p>
          <a:p>
            <a:r>
              <a:t>      "partial_credit": "Award 3/6 if response only says 'try to preserve CN XI' without naming an intracapsular/subtotal resection strategy.",</a:t>
            </a:r>
          </a:p>
          <a:p>
            <a:r>
              <a:t>      "points": 6,</a:t>
            </a:r>
          </a:p>
          <a:p>
            <a:r>
              <a:t>      "requirement": "Recommends intracapsular/subtotal resection preserving the nerve of origin rather than aggressive gross total resection"</a:t>
            </a:r>
          </a:p>
          <a:p>
            <a:r>
              <a:t>    },</a:t>
            </a:r>
          </a:p>
          <a:p>
            <a:r>
              <a:t>    {</a:t>
            </a:r>
          </a:p>
          <a:p>
            <a:r>
              <a:t>      "id": "c2",</a:t>
            </a:r>
          </a:p>
          <a:p>
            <a:r>
              <a:t>      "partial_credit": "Award 2/4 for stating a trade-off exists without specifying both sides (decompression benefit vs. CN XI injury/residual risk).",</a:t>
            </a:r>
          </a:p>
          <a:p>
            <a:r>
              <a:t>      "points": 4,</a:t>
            </a:r>
          </a:p>
          <a:p>
            <a:r>
              <a:t>      "requirement": "Articulates the trade-off between maximal decompression/resection of the tumor (benefiting secondarily compressed nerves) and risk of new accessory nerve injury/residual tumor"</a:t>
            </a:r>
          </a:p>
          <a:p>
            <a:r>
              <a:t>    }</a:t>
            </a:r>
          </a:p>
          <a:p>
            <a:r>
              <a:t>  ],</a:t>
            </a:r>
          </a:p>
          <a:p>
            <a:r>
              <a:t>  "critical_errors": [</a:t>
            </a:r>
          </a:p>
          <a:p>
            <a:r>
              <a:t>    {</a:t>
            </a:r>
          </a:p>
          <a:p>
            <a:r>
              <a:t>      "error": "Recommends deliberate sacrifice of the accessory nerve or states no trade-off exists between resection extent and nerve preservation",</a:t>
            </a:r>
          </a:p>
          <a:p>
            <a:r>
              <a:t>      "score_cap": 3</a:t>
            </a:r>
          </a:p>
          <a:p>
            <a:r>
              <a:t>    }</a:t>
            </a:r>
          </a:p>
          <a:p>
            <a:r>
              <a:t>  ],</a:t>
            </a:r>
          </a:p>
          <a:p>
            <a:r>
              <a:t>  "max_score": 10</a:t>
            </a:r>
          </a:p>
          <a:p>
            <a:r>
              <a:t>}</a:t>
            </a:r>
          </a:p>
          <a:p/>
          <a:p>
            <a:r>
              <a:t>Gemini closed-book assessment (judge summary only; no raw response is supplied in this released item):</a:t>
            </a:r>
          </a:p>
          <a:p>
            <a:r>
              <a:t>{</a:t>
            </a:r>
          </a:p>
          <a:p>
            <a:r>
              <a:t>  "score": 0.0,</a:t>
            </a:r>
          </a:p>
          <a:p>
            <a:r>
              <a:t>  "max_score": 10.0,</a:t>
            </a:r>
          </a:p>
          <a:p>
            <a:r>
              <a:t>  "passing_score": 7,</a:t>
            </a:r>
          </a:p>
          <a:p>
            <a:r>
              <a:t>  "passed": false,</a:t>
            </a:r>
          </a:p>
          <a:p>
            <a:r>
              <a:t>  "criteria": [</a:t>
            </a:r>
          </a:p>
          <a:p>
            <a:r>
              <a:t>    {</a:t>
            </a:r>
          </a:p>
          <a:p>
            <a:r>
              <a:t>      "id": "c1",</a:t>
            </a:r>
          </a:p>
          <a:p>
            <a:r>
              <a:t>      "points_awarded": 0.0,</a:t>
            </a:r>
          </a:p>
          <a:p>
            <a:r>
              <a:t>      "met": false,</a:t>
            </a:r>
          </a:p>
          <a:p>
            <a:r>
              <a:t>      "reason": "The candidate incorrectly recommends gross total resection rather than an intracapsular or subtotal resection to preserve the nerve."</a:t>
            </a:r>
          </a:p>
          <a:p>
            <a:r>
              <a:t>    },</a:t>
            </a:r>
          </a:p>
          <a:p>
            <a:r>
              <a:t>    {</a:t>
            </a:r>
          </a:p>
          <a:p>
            <a:r>
              <a:t>      "id": "c2",</a:t>
            </a:r>
          </a:p>
          <a:p>
            <a:r>
              <a:t>      "points_awarded": 0.0,</a:t>
            </a:r>
          </a:p>
          <a:p>
            <a:r>
              <a:t>      "met": false,</a:t>
            </a:r>
          </a:p>
          <a:p>
            <a:r>
              <a:t>      "reason": "The candidate does not articulate the trade-off of maximizing decompression versus minimizing accessory nerve injury; instead, they advocate sacrificing the accessory nerve for tumor control."</a:t>
            </a:r>
          </a:p>
          <a:p>
            <a:r>
              <a:t>    }</a:t>
            </a:r>
          </a:p>
          <a:p>
            <a:r>
              <a:t>  ],</a:t>
            </a:r>
          </a:p>
          <a:p>
            <a:r>
              <a:t>  "critical_errors_triggered": [</a:t>
            </a:r>
          </a:p>
          <a:p>
            <a:r>
              <a:t>    {</a:t>
            </a:r>
          </a:p>
          <a:p>
            <a:r>
              <a:t>      "id": "e1",</a:t>
            </a:r>
          </a:p>
          <a:p>
            <a:r>
              <a:t>      "reason": "The candidate explicitly recommends deliberate sacrifice of the accessory nerve (CN XI) to achieve complete tumor removal."</a:t>
            </a:r>
          </a:p>
          <a:p>
            <a:r>
              <a:t>    }</a:t>
            </a:r>
          </a:p>
          <a:p>
            <a:r>
              <a:t>  ],</a:t>
            </a:r>
          </a:p>
          <a:p>
            <a:r>
              <a:t>  "rationale": "The candidate recommends gross total resection and deliberate sacrifice of the accessory nerve, directly contradicting the reference answer which advises intracapsular resection to preserve the nerve. This triggers a critical error and results in zero points across all criteria."</a:t>
            </a:r>
          </a:p>
          <a:p>
            <a:r>
              <a:t>}</a:t>
            </a:r>
          </a:p>
          <a:p/>
          <a:p>
            <a:r>
              <a:t>Claude historical assessment: raw response and judge rationale are unavailable; no response content is inferred.</a:t>
            </a:r>
          </a:p>
          <a:p>
            <a:r>
              <a:t>{</a:t>
            </a:r>
          </a:p>
          <a:p>
            <a:r>
              <a:t>  "solver_model": "anthropic.claude-opus-5",</a:t>
            </a:r>
          </a:p>
          <a:p>
            <a:r>
              <a:t>  "judge_model": "gemini-3.1-pro-preview",</a:t>
            </a:r>
          </a:p>
          <a:p>
            <a:r>
              <a:t>  "graded_at": null,</a:t>
            </a:r>
          </a:p>
          <a:p>
            <a:r>
              <a:t>  "score": 0.0,</a:t>
            </a:r>
          </a:p>
          <a:p>
            <a:r>
              <a:t>  "max_score": 10.0,</a:t>
            </a:r>
          </a:p>
          <a:p>
            <a:r>
              <a:t>  "passing_score": 7,</a:t>
            </a:r>
          </a:p>
          <a:p>
            <a:r>
              <a:t>  "passed": false,</a:t>
            </a:r>
          </a:p>
          <a:p>
            <a:r>
              <a:t>  "result": "wrong",</a:t>
            </a:r>
          </a:p>
          <a:p>
            <a:r>
              <a:t>  "candidate_answer": null,</a:t>
            </a:r>
          </a:p>
          <a:p>
            <a:r>
              <a:t>  "criterion_scores": [],</a:t>
            </a:r>
          </a:p>
          <a:p>
            <a:r>
              <a:t>  "critical_errors_triggered": [],</a:t>
            </a:r>
          </a:p>
          <a:p>
            <a:r>
              <a:t>  "rationale": null,</a:t>
            </a:r>
          </a:p>
          <a:p>
            <a:r>
              <a:t>  "raw_answer_available": false,</a:t>
            </a:r>
          </a:p>
          <a:p>
            <a:r>
              <a:t>  "judge_rationale_available": false</a:t>
            </a:r>
          </a:p>
          <a:p>
            <a:r>
              <a:t>}</a:t>
            </a:r>
          </a:p>
          <a:p/>
          <a:p>
            <a:r>
              <a:t>Evidence:</a:t>
            </a:r>
          </a:p>
          <a:p>
            <a:r>
              <a:t>[</a:t>
            </a:r>
          </a:p>
          <a:p>
            <a:r>
              <a:t>  {</a:t>
            </a:r>
          </a:p>
          <a:p>
            <a:r>
              <a:t>    "page": 14,</a:t>
            </a:r>
          </a:p>
          <a:p>
            <a:r>
              <a:t>    "quote": "Radiographically complete intracapsular resection of the tumor and its extracranial extension was achieved without complications"</a:t>
            </a:r>
          </a:p>
          <a:p>
            <a:r>
              <a:t>  },</a:t>
            </a:r>
          </a:p>
          <a:p>
            <a:r>
              <a:t>  {</a:t>
            </a:r>
          </a:p>
          <a:p>
            <a:r>
              <a:t>    "page": 18,</a:t>
            </a:r>
          </a:p>
          <a:p>
            <a:r>
              <a:t>    "quote": "preservation of accessory nerve function (CN XI) represents a distinct surgical challenge... underscoring the potential tradeoff between achieving adequate tumor resection and avoiding additional CN XI morbidity"</a:t>
            </a:r>
          </a:p>
          <a:p>
            <a:r>
              <a:t>  }</a:t>
            </a:r>
          </a:p>
          <a:p>
            <a:r>
              <a:t>]</a:t>
            </a:r>
          </a:p>
          <a:p/>
          <a:p>
            <a:r>
              <a:t>Source: Futamura et al., Accessory Nerve Schwannomas Presenting with Hypoglossal Nerve Palsy: A Narrative Review with an Illustrative Case. Life (2026). https://doi.org/10.3390/life16040655. CC BY.</a:t>
            </a:r>
          </a:p>
          <a:p>
            <a:r>
              <a:t>Dataset: https://huggingface.co/datasets/Medical-Doctors-Last-Exam/mdle/tree/v1.3.0</a:t>
            </a:r>
          </a:p>
          <a:p>
            <a:r>
              <a:t>Item endpoint: https://34.238.150.88/preview/api/questions/q03-d89bdb28347ec18a</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MDLE V3 · Case 04 · Reference answer, rubric and historical score interpretation</a:t>
            </a:r>
          </a:p>
          <a:p>
            <a:r>
              <a:t>Item: q03-d89bdb28347ec18a</a:t>
            </a:r>
          </a:p>
          <a:p>
            <a:r>
              <a:t>Dataset v1.3.0 contains 357 questions, each with both model scores strictly less than 6. Current question version: 1.2.1. Historical closed-book model score version: 1.1.0; revised question not rerun.</a:t>
            </a:r>
          </a:p>
          <a:p>
            <a:r>
              <a:t>This is a case-specific benchmark reference strategy, not a general surgical recommendation. The original question supplies no clinical image. The native diagram represents textual relationships only and does not claim anatomical scale or spatial fidelity.</a:t>
            </a:r>
          </a:p>
          <a:p>
            <a:r>
              <a:t>Current full question:</a:t>
            </a:r>
          </a:p>
          <a:p>
            <a:r>
              <a:t>Case: A jugular-foramen tumor arises from the accessory nerve. It extends laterally through the extracranial hypoglossal canal to the level of C1. It compresses, but does not invade, the hypoglossal nerve. Adjacent lower cranial nerve territories are also involved. Surgical resection is planned.</a:t>
            </a:r>
          </a:p>
          <a:p/>
          <a:p>
            <a:r>
              <a:t>Question: What extent-of-resection approach for the intracranial portion best balances tumor removal with preservation of the nerve of origin?</a:t>
            </a:r>
          </a:p>
          <a:p/>
          <a:p>
            <a:r>
              <a:t>Complete benchmark reference answer:</a:t>
            </a:r>
          </a:p>
          <a:p>
            <a:r>
              <a:t>An intracapsular resection strategy — removing the bulk of the tumor and its extracranial extension while leaving a thin residual capsule adherent to the accessory nerve (radiographically complete intracapsular resection) — is preferable to an aggressive gross total resection that risks sacrificing or severely damaging the nerve of origin. This balances maximizing decompression of the secondarily affected nerves (relieving hypoglossal, vagus, and glossopharyngeal compression by removing the extracranial/hypoglossal-canal tumor component) against minimizing the risk of new or worsened accessory nerve (CN XI) deficit, at the cost of accepting a small residual/recurrence risk from the retained capsule.</a:t>
            </a:r>
          </a:p>
          <a:p/>
          <a:p>
            <a:r>
              <a:t>Benchmark reasoning:</a:t>
            </a:r>
          </a:p>
          <a:p>
            <a:r>
              <a:t>In the illustrative case, radiographically complete intracapsular resection (RCIR) rather than gross total resection was performed specifically because the accessory nerve was the nerve of origin, and the discussion explicitly frames CN XI preservation versus resection completeness as a tradeoff distinct from the reversible CN XII compression, noting postoperative CN XI deterioration was reported in a subset of cases when more aggressive resection was pursued.</a:t>
            </a:r>
          </a:p>
          <a:p/>
          <a:p>
            <a:r>
              <a:t>Complete rubric:</a:t>
            </a:r>
          </a:p>
          <a:p>
            <a:r>
              <a:t>{</a:t>
            </a:r>
          </a:p>
          <a:p>
            <a:r>
              <a:t>  "criteria": [</a:t>
            </a:r>
          </a:p>
          <a:p>
            <a:r>
              <a:t>    {</a:t>
            </a:r>
          </a:p>
          <a:p>
            <a:r>
              <a:t>      "id": "c1",</a:t>
            </a:r>
          </a:p>
          <a:p>
            <a:r>
              <a:t>      "partial_credit": "Award 3/6 if response only says 'try to preserve CN XI' without naming an intracapsular/subtotal resection strategy.",</a:t>
            </a:r>
          </a:p>
          <a:p>
            <a:r>
              <a:t>      "points": 6,</a:t>
            </a:r>
          </a:p>
          <a:p>
            <a:r>
              <a:t>      "requirement": "Recommends intracapsular/subtotal resection preserving the nerve of origin rather than aggressive gross total resection"</a:t>
            </a:r>
          </a:p>
          <a:p>
            <a:r>
              <a:t>    },</a:t>
            </a:r>
          </a:p>
          <a:p>
            <a:r>
              <a:t>    {</a:t>
            </a:r>
          </a:p>
          <a:p>
            <a:r>
              <a:t>      "id": "c2",</a:t>
            </a:r>
          </a:p>
          <a:p>
            <a:r>
              <a:t>      "partial_credit": "Award 2/4 for stating a trade-off exists without specifying both sides (decompression benefit vs. CN XI injury/residual risk).",</a:t>
            </a:r>
          </a:p>
          <a:p>
            <a:r>
              <a:t>      "points": 4,</a:t>
            </a:r>
          </a:p>
          <a:p>
            <a:r>
              <a:t>      "requirement": "Articulates the trade-off between maximal decompression/resection of the tumor (benefiting secondarily compressed nerves) and risk of new accessory nerve injury/residual tumor"</a:t>
            </a:r>
          </a:p>
          <a:p>
            <a:r>
              <a:t>    }</a:t>
            </a:r>
          </a:p>
          <a:p>
            <a:r>
              <a:t>  ],</a:t>
            </a:r>
          </a:p>
          <a:p>
            <a:r>
              <a:t>  "critical_errors": [</a:t>
            </a:r>
          </a:p>
          <a:p>
            <a:r>
              <a:t>    {</a:t>
            </a:r>
          </a:p>
          <a:p>
            <a:r>
              <a:t>      "error": "Recommends deliberate sacrifice of the accessory nerve or states no trade-off exists between resection extent and nerve preservation",</a:t>
            </a:r>
          </a:p>
          <a:p>
            <a:r>
              <a:t>      "score_cap": 3</a:t>
            </a:r>
          </a:p>
          <a:p>
            <a:r>
              <a:t>    }</a:t>
            </a:r>
          </a:p>
          <a:p>
            <a:r>
              <a:t>  ],</a:t>
            </a:r>
          </a:p>
          <a:p>
            <a:r>
              <a:t>  "max_score": 10</a:t>
            </a:r>
          </a:p>
          <a:p>
            <a:r>
              <a:t>}</a:t>
            </a:r>
          </a:p>
          <a:p/>
          <a:p>
            <a:r>
              <a:t>Gemini closed-book assessment (judge summary only; no raw response is supplied in this released item):</a:t>
            </a:r>
          </a:p>
          <a:p>
            <a:r>
              <a:t>{</a:t>
            </a:r>
          </a:p>
          <a:p>
            <a:r>
              <a:t>  "score": 0.0,</a:t>
            </a:r>
          </a:p>
          <a:p>
            <a:r>
              <a:t>  "max_score": 10.0,</a:t>
            </a:r>
          </a:p>
          <a:p>
            <a:r>
              <a:t>  "passing_score": 7,</a:t>
            </a:r>
          </a:p>
          <a:p>
            <a:r>
              <a:t>  "passed": false,</a:t>
            </a:r>
          </a:p>
          <a:p>
            <a:r>
              <a:t>  "criteria": [</a:t>
            </a:r>
          </a:p>
          <a:p>
            <a:r>
              <a:t>    {</a:t>
            </a:r>
          </a:p>
          <a:p>
            <a:r>
              <a:t>      "id": "c1",</a:t>
            </a:r>
          </a:p>
          <a:p>
            <a:r>
              <a:t>      "points_awarded": 0.0,</a:t>
            </a:r>
          </a:p>
          <a:p>
            <a:r>
              <a:t>      "met": false,</a:t>
            </a:r>
          </a:p>
          <a:p>
            <a:r>
              <a:t>      "reason": "The candidate incorrectly recommends gross total resection rather than an intracapsular or subtotal resection to preserve the nerve."</a:t>
            </a:r>
          </a:p>
          <a:p>
            <a:r>
              <a:t>    },</a:t>
            </a:r>
          </a:p>
          <a:p>
            <a:r>
              <a:t>    {</a:t>
            </a:r>
          </a:p>
          <a:p>
            <a:r>
              <a:t>      "id": "c2",</a:t>
            </a:r>
          </a:p>
          <a:p>
            <a:r>
              <a:t>      "points_awarded": 0.0,</a:t>
            </a:r>
          </a:p>
          <a:p>
            <a:r>
              <a:t>      "met": false,</a:t>
            </a:r>
          </a:p>
          <a:p>
            <a:r>
              <a:t>      "reason": "The candidate does not articulate the trade-off of maximizing decompression versus minimizing accessory nerve injury; instead, they advocate sacrificing the accessory nerve for tumor control."</a:t>
            </a:r>
          </a:p>
          <a:p>
            <a:r>
              <a:t>    }</a:t>
            </a:r>
          </a:p>
          <a:p>
            <a:r>
              <a:t>  ],</a:t>
            </a:r>
          </a:p>
          <a:p>
            <a:r>
              <a:t>  "critical_errors_triggered": [</a:t>
            </a:r>
          </a:p>
          <a:p>
            <a:r>
              <a:t>    {</a:t>
            </a:r>
          </a:p>
          <a:p>
            <a:r>
              <a:t>      "id": "e1",</a:t>
            </a:r>
          </a:p>
          <a:p>
            <a:r>
              <a:t>      "reason": "The candidate explicitly recommends deliberate sacrifice of the accessory nerve (CN XI) to achieve complete tumor removal."</a:t>
            </a:r>
          </a:p>
          <a:p>
            <a:r>
              <a:t>    }</a:t>
            </a:r>
          </a:p>
          <a:p>
            <a:r>
              <a:t>  ],</a:t>
            </a:r>
          </a:p>
          <a:p>
            <a:r>
              <a:t>  "rationale": "The candidate recommends gross total resection and deliberate sacrifice of the accessory nerve, directly contradicting the reference answer which advises intracapsular resection to preserve the nerve. This triggers a critical error and results in zero points across all criteria."</a:t>
            </a:r>
          </a:p>
          <a:p>
            <a:r>
              <a:t>}</a:t>
            </a:r>
          </a:p>
          <a:p/>
          <a:p>
            <a:r>
              <a:t>Claude historical assessment: raw response and judge rationale are unavailable; no response content is inferred.</a:t>
            </a:r>
          </a:p>
          <a:p>
            <a:r>
              <a:t>{</a:t>
            </a:r>
          </a:p>
          <a:p>
            <a:r>
              <a:t>  "solver_model": "anthropic.claude-opus-5",</a:t>
            </a:r>
          </a:p>
          <a:p>
            <a:r>
              <a:t>  "judge_model": "gemini-3.1-pro-preview",</a:t>
            </a:r>
          </a:p>
          <a:p>
            <a:r>
              <a:t>  "graded_at": null,</a:t>
            </a:r>
          </a:p>
          <a:p>
            <a:r>
              <a:t>  "score": 0.0,</a:t>
            </a:r>
          </a:p>
          <a:p>
            <a:r>
              <a:t>  "max_score": 10.0,</a:t>
            </a:r>
          </a:p>
          <a:p>
            <a:r>
              <a:t>  "passing_score": 7,</a:t>
            </a:r>
          </a:p>
          <a:p>
            <a:r>
              <a:t>  "passed": false,</a:t>
            </a:r>
          </a:p>
          <a:p>
            <a:r>
              <a:t>  "result": "wrong",</a:t>
            </a:r>
          </a:p>
          <a:p>
            <a:r>
              <a:t>  "candidate_answer": null,</a:t>
            </a:r>
          </a:p>
          <a:p>
            <a:r>
              <a:t>  "criterion_scores": [],</a:t>
            </a:r>
          </a:p>
          <a:p>
            <a:r>
              <a:t>  "critical_errors_triggered": [],</a:t>
            </a:r>
          </a:p>
          <a:p>
            <a:r>
              <a:t>  "rationale": null,</a:t>
            </a:r>
          </a:p>
          <a:p>
            <a:r>
              <a:t>  "raw_answer_available": false,</a:t>
            </a:r>
          </a:p>
          <a:p>
            <a:r>
              <a:t>  "judge_rationale_available": false</a:t>
            </a:r>
          </a:p>
          <a:p>
            <a:r>
              <a:t>}</a:t>
            </a:r>
          </a:p>
          <a:p/>
          <a:p>
            <a:r>
              <a:t>Evidence:</a:t>
            </a:r>
          </a:p>
          <a:p>
            <a:r>
              <a:t>[</a:t>
            </a:r>
          </a:p>
          <a:p>
            <a:r>
              <a:t>  {</a:t>
            </a:r>
          </a:p>
          <a:p>
            <a:r>
              <a:t>    "page": 14,</a:t>
            </a:r>
          </a:p>
          <a:p>
            <a:r>
              <a:t>    "quote": "Radiographically complete intracapsular resection of the tumor and its extracranial extension was achieved without complications"</a:t>
            </a:r>
          </a:p>
          <a:p>
            <a:r>
              <a:t>  },</a:t>
            </a:r>
          </a:p>
          <a:p>
            <a:r>
              <a:t>  {</a:t>
            </a:r>
          </a:p>
          <a:p>
            <a:r>
              <a:t>    "page": 18,</a:t>
            </a:r>
          </a:p>
          <a:p>
            <a:r>
              <a:t>    "quote": "preservation of accessory nerve function (CN XI) represents a distinct surgical challenge... underscoring the potential tradeoff between achieving adequate tumor resection and avoiding additional CN XI morbidity"</a:t>
            </a:r>
          </a:p>
          <a:p>
            <a:r>
              <a:t>  }</a:t>
            </a:r>
          </a:p>
          <a:p>
            <a:r>
              <a:t>]</a:t>
            </a:r>
          </a:p>
          <a:p/>
          <a:p>
            <a:r>
              <a:t>Source: Futamura et al., Accessory Nerve Schwannomas Presenting with Hypoglossal Nerve Palsy: A Narrative Review with an Illustrative Case. Life (2026). https://doi.org/10.3390/life16040655. CC BY.</a:t>
            </a:r>
          </a:p>
          <a:p>
            <a:r>
              <a:t>Dataset: https://huggingface.co/datasets/Medical-Doctors-Last-Exam/mdle/tree/v1.3.0</a:t>
            </a:r>
          </a:p>
          <a:p>
            <a:r>
              <a:t>Item endpoint: https://34.238.150.88/preview/api/questions/q03-d89bdb28347ec18a</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Independent MDLE public pages verified 5 October 2026. Explorer: https://preview.medlastexam.org/preview/ . Contribution: https://www.medlastexam.org . Dataset: https://huggingface.co/datasets/Medical-Doctors-Last-Exam/mdle . Fresh screenshots were generated from live public pages by CLI. No dataset questions, clinical images, rubrics or historical scores were changed.</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Independent MDLE organization: https://huggingface.co/Medical-Doctors-Last-Exam . Administrator: the MDLE organization. English dataset transferred to https://huggingface.co/datasets/Medical-Doctors-Last-Exam/mdle on 5 October 2026, preserving data and existing version tags. Original questions and project-authored annotations: CC BY 4.0 where the necessary rights are held or granted. Project-owned code: Apache License 2.0. Third-party articles and images: original licenses. This policy does not certify completed source-rights review.</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Timeline updated 5 October 2026. May–September dates summarize the earlier project schedule. The current frozen challenge set has 357 questions and 235 image crops. AWS website and image submission were verified on 4 October; the English dataset was transferred to Medical-Doctors-Last-Exam/mdle on 5 October. October 2026–March 2027 phases are planned targets, conditional on review capacity and access to the stated model panel. No preprint submission is claimed as completed. The timeline is the last slide.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hyperlink" Target="https://huggingface.co/datasets/Medical-Doctors-Last-Exam/mdle/tree/v1.3.0" TargetMode="Externa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hyperlink" Target="https://doi.org/10.7759/cureus.105678" TargetMode="External"/><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hyperlink" Target="https://doi.org/10.7759/cureus.105678" TargetMode="Externa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2.xml"/><Relationship Id="rId6" Type="http://schemas.openxmlformats.org/officeDocument/2006/relationships/hyperlink" Target="https://huggingface.co/datasets/Medical-Doctors-Last-Exam/mdle" TargetMode="External"/><Relationship Id="rId5" Type="http://schemas.openxmlformats.org/officeDocument/2006/relationships/hyperlink" Target="https://preview.medlastexam.org/preview/" TargetMode="Externa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svg"/><Relationship Id="rId7" Type="http://schemas.openxmlformats.org/officeDocument/2006/relationships/image" Target="../media/image16.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 Id="rId3" Type="http://schemas.openxmlformats.org/officeDocument/2006/relationships/image" Target="../media/image12.png"/><Relationship Id="rId21" Type="http://schemas.openxmlformats.org/officeDocument/2006/relationships/slideLayout" Target="../slideLayouts/slideLayout2.xml"/><Relationship Id="rId20" Type="http://schemas.openxmlformats.org/officeDocument/2006/relationships/image" Target="../media/image29.svg"/><Relationship Id="rId2" Type="http://schemas.openxmlformats.org/officeDocument/2006/relationships/image" Target="../media/mdle_us_map_full.png"/><Relationship Id="rId19" Type="http://schemas.openxmlformats.org/officeDocument/2006/relationships/image" Target="../media/image28.png"/><Relationship Id="rId18" Type="http://schemas.openxmlformats.org/officeDocument/2006/relationships/image" Target="../media/image27.svg"/><Relationship Id="rId17" Type="http://schemas.openxmlformats.org/officeDocument/2006/relationships/image" Target="../media/image26.png"/><Relationship Id="rId16" Type="http://schemas.openxmlformats.org/officeDocument/2006/relationships/image" Target="../media/image25.svg"/><Relationship Id="rId15" Type="http://schemas.openxmlformats.org/officeDocument/2006/relationships/image" Target="../media/image24.png"/><Relationship Id="rId14" Type="http://schemas.openxmlformats.org/officeDocument/2006/relationships/image" Target="../media/image23.svg"/><Relationship Id="rId13" Type="http://schemas.openxmlformats.org/officeDocument/2006/relationships/image" Target="../media/image22.png"/><Relationship Id="rId12" Type="http://schemas.openxmlformats.org/officeDocument/2006/relationships/image" Target="../media/image21.svg"/><Relationship Id="rId11" Type="http://schemas.openxmlformats.org/officeDocument/2006/relationships/image" Target="../media/image20.png"/><Relationship Id="rId10" Type="http://schemas.openxmlformats.org/officeDocument/2006/relationships/image" Target="../media/image19.sv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hyperlink" Target="https://huggingface.co/Medical-Doctors-Last-Exam" TargetMode="Externa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pic>
        <p:nvPicPr>
          <p:cNvPr id="12" name="Background — burgundy masthead, ivory paper, and burgundy footer" descr="image.jpeg"/>
          <p:cNvPicPr>
            <a:picLocks noChangeAspect="1"/>
          </p:cNvPicPr>
          <p:nvPr/>
        </p:nvPicPr>
        <p:blipFill>
          <a:blip r:embed="rId1"/>
          <a:stretch>
            <a:fillRect/>
          </a:stretch>
        </p:blipFill>
        <p:spPr>
          <a:xfrm>
            <a:off x="0" y="0"/>
            <a:ext cx="18288000" cy="10287000"/>
          </a:xfrm>
          <a:prstGeom prst="rect">
            <a:avLst/>
          </a:prstGeom>
        </p:spPr>
      </p:pic>
      <p:sp>
        <p:nvSpPr>
          <p:cNvPr id="4" name="Title — Medical Doctor's Last Exam"/>
          <p:cNvSpPr txBox="1"/>
          <p:nvPr/>
        </p:nvSpPr>
        <p:spPr>
          <a:xfrm>
            <a:off x="1321308" y="3394413"/>
            <a:ext cx="15435072" cy="1188720"/>
          </a:xfrm>
          <a:prstGeom prst="rect">
            <a:avLst/>
          </a:prstGeom>
          <a:noFill/>
          <a:effectLst/>
        </p:spPr>
        <p:txBody>
          <a:bodyPr wrap="none" lIns="0" tIns="0" rIns="0" bIns="0" anchor="t">
            <a:spAutoFit/>
          </a:bodyPr>
          <a:lstStyle/>
          <a:p>
            <a:pPr algn="ctr"/>
            <a:r>
              <a:rPr lang="en-US" sz="8915" b="1" dirty="0">
                <a:solidFill>
                  <a:srgbClr val="1A2629"/>
                </a:solidFill>
                <a:latin typeface="UnBatang"/>
              </a:rPr>
              <a:t>Medical Doctor's Last Exam</a:t>
            </a:r>
            <a:endParaRPr lang="en-US" sz="8915" b="1" dirty="0">
              <a:solidFill>
                <a:srgbClr val="1A2629"/>
              </a:solidFill>
              <a:latin typeface="UnBatang"/>
            </a:endParaRPr>
          </a:p>
        </p:txBody>
      </p:sp>
      <p:cxnSp>
        <p:nvCxnSpPr>
          <p:cNvPr id="5" name="Title divider — soft paper rule"/>
          <p:cNvCxnSpPr/>
          <p:nvPr/>
        </p:nvCxnSpPr>
        <p:spPr>
          <a:xfrm>
            <a:off x="3922776" y="6748272"/>
            <a:ext cx="10625328" cy="0"/>
          </a:xfrm>
          <a:prstGeom prst="line">
            <a:avLst/>
          </a:prstGeom>
          <a:ln w="8255">
            <a:solidFill>
              <a:srgbClr val="E8E2D5"/>
            </a:solidFill>
          </a:ln>
          <a:effectLst/>
        </p:spPr>
        <p:style>
          <a:lnRef idx="2">
            <a:schemeClr val="accent1"/>
          </a:lnRef>
          <a:fillRef idx="0">
            <a:schemeClr val="accent1"/>
          </a:fillRef>
          <a:effectRef idx="1">
            <a:schemeClr val="accent1"/>
          </a:effectRef>
          <a:fontRef idx="minor">
            <a:schemeClr val="tx1"/>
          </a:fontRef>
        </p:style>
      </p:cxnSp>
      <p:sp>
        <p:nvSpPr>
          <p:cNvPr id="6" name="Title divider — green accent"/>
          <p:cNvSpPr/>
          <p:nvPr/>
        </p:nvSpPr>
        <p:spPr>
          <a:xfrm>
            <a:off x="8321040" y="6723583"/>
            <a:ext cx="1645920" cy="58521"/>
          </a:xfrm>
          <a:prstGeom prst="roundRect">
            <a:avLst>
              <a:gd name="adj" fmla="val 50000"/>
            </a:avLst>
          </a:prstGeom>
          <a:solidFill>
            <a:srgbClr val="869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title line 1 — living expert-driven benchmark"/>
          <p:cNvSpPr txBox="1"/>
          <p:nvPr/>
        </p:nvSpPr>
        <p:spPr>
          <a:xfrm>
            <a:off x="2002622" y="5630029"/>
            <a:ext cx="14282756" cy="473976"/>
          </a:xfrm>
          <a:prstGeom prst="rect">
            <a:avLst/>
          </a:prstGeom>
          <a:noFill/>
          <a:effectLst/>
        </p:spPr>
        <p:txBody>
          <a:bodyPr wrap="none" lIns="0" tIns="0" rIns="0" bIns="0" anchor="t">
            <a:spAutoFit/>
          </a:bodyPr>
          <a:lstStyle/>
          <a:p>
            <a:pPr algn="ctr"/>
            <a:r>
              <a:rPr lang="en-US" sz="3080" b="0" dirty="0">
                <a:solidFill>
                  <a:srgbClr val="1D2B32"/>
                </a:solidFill>
                <a:latin typeface="P052"/>
              </a:rPr>
              <a:t>A living, expert-driven, self-evolution benchmark for rigorous clinical AI agent evaluation.</a:t>
            </a:r>
            <a:endParaRPr lang="en-US" sz="3080" b="0" dirty="0">
              <a:solidFill>
                <a:srgbClr val="1D2B32"/>
              </a:solidFill>
              <a:latin typeface="P052"/>
            </a:endParaRPr>
          </a:p>
        </p:txBody>
      </p:sp>
      <p:sp>
        <p:nvSpPr>
          <p:cNvPr id="13" name="Medical Doctor's Last Exam wordmark box"/>
          <p:cNvSpPr/>
          <p:nvPr/>
        </p:nvSpPr>
        <p:spPr>
          <a:xfrm>
            <a:off x="15773400" y="310896"/>
            <a:ext cx="1947672" cy="1389888"/>
          </a:xfrm>
          <a:prstGeom prst="rect">
            <a:avLst/>
          </a:prstGeom>
          <a:noFill/>
          <a:ln w="22860">
            <a:solidFill>
              <a:srgbClr val="FFF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edical Doctor's Last Exam wordmark"/>
          <p:cNvSpPr txBox="1"/>
          <p:nvPr/>
        </p:nvSpPr>
        <p:spPr>
          <a:xfrm>
            <a:off x="15956280" y="438912"/>
            <a:ext cx="1600200" cy="1115568"/>
          </a:xfrm>
          <a:prstGeom prst="rect">
            <a:avLst/>
          </a:prstGeom>
          <a:noFill/>
        </p:spPr>
        <p:txBody>
          <a:bodyPr wrap="square" lIns="0" tIns="0" rIns="0" bIns="0" anchor="t">
            <a:spAutoFit/>
          </a:bodyPr>
          <a:lstStyle/>
          <a:p>
            <a:pPr algn="l">
              <a:lnSpc>
                <a:spcPts val="2500"/>
              </a:lnSpc>
            </a:pPr>
            <a:r>
              <a:rPr sz="1950" b="1" i="0">
                <a:solidFill>
                  <a:srgbClr val="FFFDF8"/>
                </a:solidFill>
                <a:latin typeface="Georgia" panose="02040502050405020303"/>
              </a:rPr>
              <a:t>MEDICAL
DOCTOR’S
LAST EXAM</a:t>
            </a:r>
            <a:endParaRPr sz="1950" b="1" i="0">
              <a:solidFill>
                <a:srgbClr val="FFFDF8"/>
              </a:solidFill>
              <a:latin typeface="Georgia" panose="02040502050405020303"/>
            </a:endParaRPr>
          </a:p>
        </p:txBody>
      </p:sp>
      <p:sp>
        <p:nvSpPr>
          <p:cNvPr id="15" name="Footer statement"/>
          <p:cNvSpPr txBox="1"/>
          <p:nvPr/>
        </p:nvSpPr>
        <p:spPr>
          <a:xfrm>
            <a:off x="4389120" y="9729216"/>
            <a:ext cx="9509760" cy="438912"/>
          </a:xfrm>
          <a:prstGeom prst="rect">
            <a:avLst/>
          </a:prstGeom>
          <a:noFill/>
        </p:spPr>
        <p:txBody>
          <a:bodyPr wrap="square" lIns="0" tIns="0" rIns="0" bIns="0" anchor="ctr">
            <a:spAutoFit/>
          </a:bodyPr>
          <a:lstStyle/>
          <a:p>
            <a:pPr algn="ctr"/>
            <a:r>
              <a:rPr sz="2400" b="0" i="1" dirty="0">
                <a:solidFill>
                  <a:srgbClr val="FFFDF8"/>
                </a:solidFill>
                <a:latin typeface="Georgia" panose="02040502050405020303"/>
              </a:rPr>
              <a:t>A living benchmark for next-generation medical AI</a:t>
            </a:r>
            <a:endParaRPr sz="2400" b="0" i="1" dirty="0">
              <a:solidFill>
                <a:srgbClr val="FFFDF8"/>
              </a:solidFill>
              <a:latin typeface="Georgia" panose="02040502050405020303"/>
            </a:endParaRPr>
          </a:p>
        </p:txBody>
      </p:sp>
      <p:cxnSp>
        <p:nvCxnSpPr>
          <p:cNvPr id="16" name="Footer rule left"/>
          <p:cNvCxnSpPr/>
          <p:nvPr/>
        </p:nvCxnSpPr>
        <p:spPr>
          <a:xfrm>
            <a:off x="2302991" y="9963600"/>
            <a:ext cx="2807208" cy="0"/>
          </a:xfrm>
          <a:prstGeom prst="line">
            <a:avLst/>
          </a:prstGeom>
          <a:ln w="9525">
            <a:solidFill>
              <a:srgbClr val="D2B47A"/>
            </a:solidFill>
          </a:ln>
        </p:spPr>
        <p:style>
          <a:lnRef idx="2">
            <a:schemeClr val="accent1"/>
          </a:lnRef>
          <a:fillRef idx="0">
            <a:schemeClr val="accent1"/>
          </a:fillRef>
          <a:effectRef idx="1">
            <a:schemeClr val="accent1"/>
          </a:effectRef>
          <a:fontRef idx="minor">
            <a:schemeClr val="tx1"/>
          </a:fontRef>
        </p:style>
      </p:cxnSp>
      <p:sp>
        <p:nvSpPr>
          <p:cNvPr id="17" name="Footer diamond left"/>
          <p:cNvSpPr/>
          <p:nvPr/>
        </p:nvSpPr>
        <p:spPr>
          <a:xfrm>
            <a:off x="5174207" y="9872160"/>
            <a:ext cx="182880" cy="182880"/>
          </a:xfrm>
          <a:prstGeom prst="diamond">
            <a:avLst/>
          </a:prstGeom>
          <a:solidFill>
            <a:srgbClr val="D2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ooter diamond right"/>
          <p:cNvSpPr/>
          <p:nvPr/>
        </p:nvSpPr>
        <p:spPr>
          <a:xfrm>
            <a:off x="12930915" y="9865742"/>
            <a:ext cx="182880" cy="182880"/>
          </a:xfrm>
          <a:prstGeom prst="diamond">
            <a:avLst/>
          </a:prstGeom>
          <a:solidFill>
            <a:srgbClr val="D2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Footer rule right"/>
          <p:cNvCxnSpPr/>
          <p:nvPr/>
        </p:nvCxnSpPr>
        <p:spPr>
          <a:xfrm>
            <a:off x="13177803" y="9957182"/>
            <a:ext cx="2916936" cy="0"/>
          </a:xfrm>
          <a:prstGeom prst="line">
            <a:avLst/>
          </a:prstGeom>
          <a:ln w="9525">
            <a:solidFill>
              <a:srgbClr val="D2B47A"/>
            </a:solidFill>
          </a:ln>
        </p:spPr>
        <p:style>
          <a:lnRef idx="2">
            <a:schemeClr val="accent1"/>
          </a:lnRef>
          <a:fillRef idx="0">
            <a:schemeClr val="accent1"/>
          </a:fillRef>
          <a:effectRef idx="1">
            <a:schemeClr val="accent1"/>
          </a:effectRef>
          <a:fontRef idx="minor">
            <a:schemeClr val="tx1"/>
          </a:fontRef>
        </p:style>
      </p:cxnSp>
      <p:sp>
        <p:nvSpPr>
          <p:cNvPr id="8" name="Subtitle line 1 — living expert-driven benchmark"/>
          <p:cNvSpPr txBox="1"/>
          <p:nvPr/>
        </p:nvSpPr>
        <p:spPr>
          <a:xfrm>
            <a:off x="7003030" y="7293257"/>
            <a:ext cx="4071627" cy="473976"/>
          </a:xfrm>
          <a:prstGeom prst="rect">
            <a:avLst/>
          </a:prstGeom>
          <a:noFill/>
          <a:effectLst/>
        </p:spPr>
        <p:txBody>
          <a:bodyPr wrap="none" lIns="0" tIns="0" rIns="0" bIns="0" anchor="t">
            <a:spAutoFit/>
          </a:bodyPr>
          <a:lstStyle/>
          <a:p>
            <a:pPr algn="ctr"/>
            <a:r>
              <a:rPr lang="en-US" sz="3080" b="0" dirty="0">
                <a:solidFill>
                  <a:srgbClr val="1D2B32"/>
                </a:solidFill>
                <a:latin typeface="P052"/>
              </a:rPr>
              <a:t>M</a:t>
            </a:r>
            <a:r>
              <a:rPr lang="en-US" sz="3080" dirty="0">
                <a:solidFill>
                  <a:srgbClr val="1D2B32"/>
                </a:solidFill>
                <a:latin typeface="P052"/>
              </a:rPr>
              <a:t>DLE Organization Team</a:t>
            </a:r>
            <a:endParaRPr lang="en-US" sz="3080" b="0" dirty="0">
              <a:solidFill>
                <a:srgbClr val="1D2B32"/>
              </a:solidFill>
              <a:latin typeface="P05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BF8F1"/>
        </a:solidFill>
        <a:effectLst/>
      </p:bgPr>
    </p:bg>
    <p:spTree>
      <p:nvGrpSpPr>
        <p:cNvPr id="1" name=""/>
        <p:cNvGrpSpPr/>
        <p:nvPr/>
      </p:nvGrpSpPr>
      <p:grpSpPr/>
      <p:sp>
        <p:nvSpPr>
          <p:cNvPr id="2" name="Masthead gradient"/>
          <p:cNvSpPr/>
          <p:nvPr/>
        </p:nvSpPr>
        <p:spPr>
          <a:xfrm>
            <a:off x="0" y="0"/>
            <a:ext cx="18288000" cy="1585138"/>
          </a:xfrm>
          <a:prstGeom prst="rect">
            <a:avLst/>
          </a:prstGeom>
          <a:blipFill rotWithShape="1">
            <a:blip r:embed="rId1"/>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ain title"/>
          <p:cNvSpPr txBox="1"/>
          <p:nvPr/>
        </p:nvSpPr>
        <p:spPr>
          <a:xfrm>
            <a:off x="503138" y="163979"/>
            <a:ext cx="14656650" cy="830831"/>
          </a:xfrm>
          <a:prstGeom prst="rect">
            <a:avLst/>
          </a:prstGeom>
          <a:noFill/>
          <a:effectLst/>
        </p:spPr>
        <p:txBody>
          <a:bodyPr wrap="square" lIns="0" tIns="0" rIns="0" bIns="0" anchor="t">
            <a:noAutofit/>
          </a:bodyPr>
          <a:lstStyle/>
          <a:p>
            <a:pPr algn="l">
              <a:lnSpc>
                <a:spcPct val="104000"/>
              </a:lnSpc>
              <a:spcBef>
                <a:spcPts val="0"/>
              </a:spcBef>
              <a:spcAft>
                <a:spcPts val="0"/>
              </a:spcAft>
              <a:defRPr sz="5510" b="1" i="0">
                <a:solidFill>
                  <a:srgbClr val="FFFDFA"/>
                </a:solidFill>
                <a:latin typeface="Times New Roman" panose="02020603050405020304"/>
              </a:defRPr>
            </a:pPr>
            <a:r>
              <a:rPr sz="5510" b="1" i="0">
                <a:solidFill>
                  <a:srgbClr val="FFFDFA"/>
                </a:solidFill>
                <a:latin typeface="Times New Roman" panose="02020603050405020304"/>
              </a:rPr>
              <a:t>Medical Doctor’s Last Exam</a:t>
            </a:r>
            <a:endParaRPr sz="5510" b="1" i="0">
              <a:solidFill>
                <a:srgbClr val="FFFDFA"/>
              </a:solidFill>
              <a:latin typeface="Times New Roman" panose="02020603050405020304"/>
            </a:endParaRPr>
          </a:p>
        </p:txBody>
      </p:sp>
      <p:sp>
        <p:nvSpPr>
          <p:cNvPr id="4" name="Page subtitle"/>
          <p:cNvSpPr txBox="1"/>
          <p:nvPr/>
        </p:nvSpPr>
        <p:spPr>
          <a:xfrm>
            <a:off x="503138" y="951082"/>
            <a:ext cx="14711339" cy="513803"/>
          </a:xfrm>
          <a:prstGeom prst="rect">
            <a:avLst/>
          </a:prstGeom>
          <a:noFill/>
          <a:effectLst/>
        </p:spPr>
        <p:txBody>
          <a:bodyPr wrap="square" lIns="0" tIns="0" rIns="0" bIns="0" anchor="t">
            <a:noAutofit/>
          </a:bodyPr>
          <a:lstStyle/>
          <a:p>
            <a:pPr algn="l">
              <a:lnSpc>
                <a:spcPct val="104000"/>
              </a:lnSpc>
              <a:spcBef>
                <a:spcPts val="0"/>
              </a:spcBef>
              <a:spcAft>
                <a:spcPts val="0"/>
              </a:spcAft>
              <a:defRPr sz="2755" b="0" i="1">
                <a:solidFill>
                  <a:srgbClr val="FFFDFA"/>
                </a:solidFill>
                <a:latin typeface="Times New Roman" panose="02020603050405020304"/>
              </a:defRPr>
            </a:pPr>
            <a:r>
              <a:rPr sz="2755" b="0" i="1">
                <a:solidFill>
                  <a:srgbClr val="FFFDFA"/>
                </a:solidFill>
                <a:latin typeface="Times New Roman" panose="02020603050405020304"/>
              </a:rPr>
              <a:t>MDLE at a glance: clinical evidence, measurable reasoning gaps</a:t>
            </a:r>
            <a:endParaRPr sz="2755" b="0" i="1">
              <a:solidFill>
                <a:srgbClr val="FFFDFA"/>
              </a:solidFill>
              <a:latin typeface="Times New Roman" panose="02020603050405020304"/>
            </a:endParaRPr>
          </a:p>
        </p:txBody>
      </p:sp>
      <p:sp>
        <p:nvSpPr>
          <p:cNvPr id="5" name="MDLE wordmark frame"/>
          <p:cNvSpPr/>
          <p:nvPr/>
        </p:nvSpPr>
        <p:spPr>
          <a:xfrm>
            <a:off x="16023875" y="251435"/>
            <a:ext cx="1782861" cy="1202518"/>
          </a:xfrm>
          <a:prstGeom prst="rect">
            <a:avLst/>
          </a:prstGeom>
          <a:noFill/>
          <a:ln w="10937">
            <a:solidFill>
              <a:srgbClr val="EADA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MDLE wordmark"/>
          <p:cNvSpPr txBox="1"/>
          <p:nvPr/>
        </p:nvSpPr>
        <p:spPr>
          <a:xfrm>
            <a:off x="16144191" y="426347"/>
            <a:ext cx="1542229" cy="863626"/>
          </a:xfrm>
          <a:prstGeom prst="rect">
            <a:avLst/>
          </a:prstGeom>
          <a:noFill/>
          <a:effectLst/>
        </p:spPr>
        <p:txBody>
          <a:bodyPr wrap="square" lIns="0" tIns="0" rIns="0" bIns="0" anchor="t">
            <a:noAutofit/>
          </a:bodyPr>
          <a:lstStyle/>
          <a:p>
            <a:pPr algn="ctr">
              <a:lnSpc>
                <a:spcPct val="104000"/>
              </a:lnSpc>
              <a:spcBef>
                <a:spcPts val="0"/>
              </a:spcBef>
              <a:spcAft>
                <a:spcPts val="0"/>
              </a:spcAft>
              <a:defRPr sz="1895" b="1" i="0">
                <a:solidFill>
                  <a:srgbClr val="FFFDFA"/>
                </a:solidFill>
                <a:latin typeface="Times New Roman" panose="02020603050405020304"/>
              </a:defRPr>
            </a:pPr>
            <a:r>
              <a:rPr sz="1895" b="1" i="0">
                <a:solidFill>
                  <a:srgbClr val="FFFDFA"/>
                </a:solidFill>
                <a:latin typeface="Times New Roman" panose="02020603050405020304"/>
              </a:rPr>
              <a:t>MEDICAL</a:t>
            </a:r>
            <a:endParaRPr sz="1895" b="1" i="0">
              <a:solidFill>
                <a:srgbClr val="FFFDFA"/>
              </a:solidFill>
              <a:latin typeface="Times New Roman" panose="02020603050405020304"/>
            </a:endParaRPr>
          </a:p>
          <a:p>
            <a:pPr algn="ctr">
              <a:lnSpc>
                <a:spcPct val="104000"/>
              </a:lnSpc>
              <a:spcBef>
                <a:spcPts val="0"/>
              </a:spcBef>
              <a:spcAft>
                <a:spcPts val="0"/>
              </a:spcAft>
              <a:defRPr sz="1895" b="1" i="0">
                <a:solidFill>
                  <a:srgbClr val="FFFDFA"/>
                </a:solidFill>
                <a:latin typeface="Times New Roman" panose="02020603050405020304"/>
              </a:defRPr>
            </a:pPr>
            <a:r>
              <a:rPr sz="1895" b="1" i="0">
                <a:solidFill>
                  <a:srgbClr val="FFFDFA"/>
                </a:solidFill>
                <a:latin typeface="Times New Roman" panose="02020603050405020304"/>
              </a:rPr>
              <a:t>DOCTOR’S</a:t>
            </a:r>
            <a:endParaRPr sz="1895" b="1" i="0">
              <a:solidFill>
                <a:srgbClr val="FFFDFA"/>
              </a:solidFill>
              <a:latin typeface="Times New Roman" panose="02020603050405020304"/>
            </a:endParaRPr>
          </a:p>
          <a:p>
            <a:pPr algn="ctr">
              <a:lnSpc>
                <a:spcPct val="104000"/>
              </a:lnSpc>
              <a:spcBef>
                <a:spcPts val="0"/>
              </a:spcBef>
              <a:spcAft>
                <a:spcPts val="0"/>
              </a:spcAft>
              <a:defRPr sz="1895" b="1" i="0">
                <a:solidFill>
                  <a:srgbClr val="FFFDFA"/>
                </a:solidFill>
                <a:latin typeface="Times New Roman" panose="02020603050405020304"/>
              </a:defRPr>
            </a:pPr>
            <a:r>
              <a:rPr sz="1895" b="1" i="0">
                <a:solidFill>
                  <a:srgbClr val="FFFDFA"/>
                </a:solidFill>
                <a:latin typeface="Times New Roman" panose="02020603050405020304"/>
              </a:rPr>
              <a:t>LAST EXAM</a:t>
            </a:r>
            <a:endParaRPr sz="1895" b="1" i="0">
              <a:solidFill>
                <a:srgbClr val="FFFDFA"/>
              </a:solidFill>
              <a:latin typeface="Times New Roman" panose="02020603050405020304"/>
            </a:endParaRPr>
          </a:p>
        </p:txBody>
      </p:sp>
      <p:sp>
        <p:nvSpPr>
          <p:cNvPr id="7" name="Footer gradient"/>
          <p:cNvSpPr/>
          <p:nvPr/>
        </p:nvSpPr>
        <p:spPr>
          <a:xfrm>
            <a:off x="0" y="9663876"/>
            <a:ext cx="18288000" cy="623123"/>
          </a:xfrm>
          <a:prstGeom prst="rect">
            <a:avLst/>
          </a:prstGeom>
          <a:blipFill rotWithShape="1">
            <a:blip r:embed="rId2"/>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Footer left rule"/>
          <p:cNvCxnSpPr/>
          <p:nvPr/>
        </p:nvCxnSpPr>
        <p:spPr>
          <a:xfrm>
            <a:off x="2275062" y="9975438"/>
            <a:ext cx="2811014"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9" name="Footer left diamond"/>
          <p:cNvSpPr/>
          <p:nvPr/>
        </p:nvSpPr>
        <p:spPr>
          <a:xfrm>
            <a:off x="5173578" y="9909846"/>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Footer right rule"/>
          <p:cNvCxnSpPr/>
          <p:nvPr/>
        </p:nvCxnSpPr>
        <p:spPr>
          <a:xfrm>
            <a:off x="13136296" y="9975438"/>
            <a:ext cx="2887579"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 name="Footer right diamond"/>
          <p:cNvSpPr/>
          <p:nvPr/>
        </p:nvSpPr>
        <p:spPr>
          <a:xfrm>
            <a:off x="12928478" y="9909846"/>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ooter tagline"/>
          <p:cNvSpPr txBox="1"/>
          <p:nvPr/>
        </p:nvSpPr>
        <p:spPr>
          <a:xfrm>
            <a:off x="5665779" y="9773196"/>
            <a:ext cx="7109569"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495" b="0" i="1">
                <a:solidFill>
                  <a:srgbClr val="FFFDFA"/>
                </a:solidFill>
                <a:latin typeface="Times New Roman" panose="02020603050405020304"/>
              </a:defRPr>
            </a:pPr>
            <a:r>
              <a:rPr sz="2495" b="0" i="1">
                <a:solidFill>
                  <a:srgbClr val="FFFDFA"/>
                </a:solidFill>
                <a:latin typeface="Times New Roman" panose="02020603050405020304"/>
              </a:rPr>
              <a:t>A living benchmark for next-generation medical AI</a:t>
            </a:r>
            <a:endParaRPr sz="2495" b="0" i="1">
              <a:solidFill>
                <a:srgbClr val="FFFDFA"/>
              </a:solidFill>
              <a:latin typeface="Times New Roman" panose="02020603050405020304"/>
            </a:endParaRPr>
          </a:p>
        </p:txBody>
      </p:sp>
      <p:sp>
        <p:nvSpPr>
          <p:cNvPr id="13" name="Current corpus panel"/>
          <p:cNvSpPr/>
          <p:nvPr/>
        </p:nvSpPr>
        <p:spPr>
          <a:xfrm>
            <a:off x="393760" y="1727253"/>
            <a:ext cx="17500478" cy="1617934"/>
          </a:xfrm>
          <a:prstGeom prst="roundRect">
            <a:avLst>
              <a:gd name="adj" fmla="val 25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orpus heading"/>
          <p:cNvSpPr txBox="1"/>
          <p:nvPr/>
        </p:nvSpPr>
        <p:spPr>
          <a:xfrm>
            <a:off x="5753282" y="1770981"/>
            <a:ext cx="6781435" cy="360755"/>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CURRENT BENCHMARK</a:t>
            </a:r>
            <a:endParaRPr sz="2325" b="1" i="0">
              <a:solidFill>
                <a:srgbClr val="124936"/>
              </a:solidFill>
              <a:latin typeface="Times New Roman" panose="02020603050405020304"/>
            </a:endParaRPr>
          </a:p>
        </p:txBody>
      </p:sp>
      <p:cxnSp>
        <p:nvCxnSpPr>
          <p:cNvPr id="15" name="Corpus heading rule left"/>
          <p:cNvCxnSpPr/>
          <p:nvPr/>
        </p:nvCxnSpPr>
        <p:spPr>
          <a:xfrm>
            <a:off x="612516" y="2120805"/>
            <a:ext cx="8400230"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16" name="Corpus heading rule right"/>
          <p:cNvCxnSpPr/>
          <p:nvPr/>
        </p:nvCxnSpPr>
        <p:spPr>
          <a:xfrm>
            <a:off x="9275253" y="2120805"/>
            <a:ext cx="8400230"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17" name="Corpus heading rule diamond"/>
          <p:cNvSpPr/>
          <p:nvPr/>
        </p:nvSpPr>
        <p:spPr>
          <a:xfrm>
            <a:off x="9083842" y="2060679"/>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linical questions count"/>
          <p:cNvSpPr txBox="1"/>
          <p:nvPr/>
        </p:nvSpPr>
        <p:spPr>
          <a:xfrm>
            <a:off x="1006277" y="2197329"/>
            <a:ext cx="2450066" cy="951082"/>
          </a:xfrm>
          <a:prstGeom prst="rect">
            <a:avLst/>
          </a:prstGeom>
          <a:noFill/>
          <a:effectLst/>
        </p:spPr>
        <p:txBody>
          <a:bodyPr wrap="square" lIns="0" tIns="0" rIns="0" bIns="0" anchor="t">
            <a:noAutofit/>
          </a:bodyPr>
          <a:lstStyle/>
          <a:p>
            <a:pPr algn="ctr">
              <a:lnSpc>
                <a:spcPct val="104000"/>
              </a:lnSpc>
              <a:spcBef>
                <a:spcPts val="0"/>
              </a:spcBef>
              <a:spcAft>
                <a:spcPts val="0"/>
              </a:spcAft>
              <a:defRPr sz="6890" b="1" i="0">
                <a:solidFill>
                  <a:srgbClr val="124936"/>
                </a:solidFill>
                <a:latin typeface="Times New Roman" panose="02020603050405020304"/>
              </a:defRPr>
            </a:pPr>
            <a:r>
              <a:rPr sz="6890" b="1" i="0">
                <a:solidFill>
                  <a:srgbClr val="124936"/>
                </a:solidFill>
                <a:latin typeface="Times New Roman" panose="02020603050405020304"/>
              </a:rPr>
              <a:t>357</a:t>
            </a:r>
            <a:endParaRPr sz="6890" b="1" i="0">
              <a:solidFill>
                <a:srgbClr val="124936"/>
              </a:solidFill>
              <a:latin typeface="Times New Roman" panose="02020603050405020304"/>
            </a:endParaRPr>
          </a:p>
        </p:txBody>
      </p:sp>
      <p:sp>
        <p:nvSpPr>
          <p:cNvPr id="19" name="Clinical questions label"/>
          <p:cNvSpPr txBox="1"/>
          <p:nvPr/>
        </p:nvSpPr>
        <p:spPr>
          <a:xfrm>
            <a:off x="3718851" y="2350377"/>
            <a:ext cx="4965760" cy="491939"/>
          </a:xfrm>
          <a:prstGeom prst="rect">
            <a:avLst/>
          </a:prstGeom>
          <a:noFill/>
          <a:effectLst/>
        </p:spPr>
        <p:txBody>
          <a:bodyPr wrap="square" lIns="0" tIns="0" rIns="0" bIns="0" anchor="t">
            <a:noAutofit/>
          </a:bodyPr>
          <a:lstStyle/>
          <a:p>
            <a:pPr algn="l">
              <a:lnSpc>
                <a:spcPct val="104000"/>
              </a:lnSpc>
              <a:spcBef>
                <a:spcPts val="0"/>
              </a:spcBef>
              <a:spcAft>
                <a:spcPts val="0"/>
              </a:spcAft>
              <a:defRPr sz="3100" b="1" i="0">
                <a:solidFill>
                  <a:srgbClr val="10243C"/>
                </a:solidFill>
                <a:latin typeface="Times New Roman" panose="02020603050405020304"/>
              </a:defRPr>
            </a:pPr>
            <a:r>
              <a:rPr sz="3100" b="1" i="0">
                <a:solidFill>
                  <a:srgbClr val="10243C"/>
                </a:solidFill>
                <a:latin typeface="Times New Roman" panose="02020603050405020304"/>
              </a:rPr>
              <a:t>Clinical questions</a:t>
            </a:r>
            <a:endParaRPr sz="3100" b="1" i="0">
              <a:solidFill>
                <a:srgbClr val="10243C"/>
              </a:solidFill>
              <a:latin typeface="Times New Roman" panose="02020603050405020304"/>
            </a:endParaRPr>
          </a:p>
        </p:txBody>
      </p:sp>
      <p:sp>
        <p:nvSpPr>
          <p:cNvPr id="20" name="Published dataset version"/>
          <p:cNvSpPr txBox="1"/>
          <p:nvPr/>
        </p:nvSpPr>
        <p:spPr>
          <a:xfrm>
            <a:off x="3718851" y="2853248"/>
            <a:ext cx="4965760" cy="360755"/>
          </a:xfrm>
          <a:prstGeom prst="rect">
            <a:avLst/>
          </a:prstGeom>
          <a:noFill/>
          <a:effectLst/>
        </p:spPr>
        <p:txBody>
          <a:bodyPr wrap="square" lIns="0" tIns="0" rIns="0" bIns="0" anchor="t">
            <a:noAutofit/>
          </a:bodyPr>
          <a:lstStyle/>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Published dataset · v1.3.0</a:t>
            </a:r>
            <a:endParaRPr sz="2065" b="0" i="0">
              <a:solidFill>
                <a:srgbClr val="10243C"/>
              </a:solidFill>
              <a:latin typeface="Times New Roman" panose="02020603050405020304"/>
            </a:endParaRPr>
          </a:p>
        </p:txBody>
      </p:sp>
      <p:cxnSp>
        <p:nvCxnSpPr>
          <p:cNvPr id="21" name="Corpus facts divider"/>
          <p:cNvCxnSpPr/>
          <p:nvPr/>
        </p:nvCxnSpPr>
        <p:spPr>
          <a:xfrm>
            <a:off x="8979933" y="2339445"/>
            <a:ext cx="0" cy="830831"/>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22" name="Both zero-score callout"/>
          <p:cNvSpPr/>
          <p:nvPr/>
        </p:nvSpPr>
        <p:spPr>
          <a:xfrm>
            <a:off x="9253377" y="2241057"/>
            <a:ext cx="8334602" cy="951082"/>
          </a:xfrm>
          <a:prstGeom prst="roundRect">
            <a:avLst>
              <a:gd name="adj" fmla="val 4000"/>
            </a:avLst>
          </a:prstGeom>
          <a:solidFill>
            <a:srgbClr val="F6E5E0"/>
          </a:solidFill>
          <a:ln w="10937">
            <a:solidFill>
              <a:srgbClr val="E8C4B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23" name="Zero-score warning"/>
          <p:cNvGrpSpPr/>
          <p:nvPr/>
        </p:nvGrpSpPr>
        <p:grpSpPr>
          <a:xfrm>
            <a:off x="9472133" y="2437833"/>
            <a:ext cx="514076" cy="513803"/>
            <a:chOff x="9472133" y="2437833"/>
            <a:chExt cx="514076" cy="513803"/>
          </a:xfrm>
        </p:grpSpPr>
        <p:sp>
          <p:nvSpPr>
            <p:cNvPr id="24" name="Zero-score warning triangle"/>
            <p:cNvSpPr/>
            <p:nvPr/>
          </p:nvSpPr>
          <p:spPr>
            <a:xfrm>
              <a:off x="9472133" y="2437833"/>
              <a:ext cx="514076" cy="513803"/>
            </a:xfrm>
            <a:prstGeom prst="triangle">
              <a:avLst/>
            </a:prstGeom>
            <a:noFill/>
            <a:ln w="32813">
              <a:solidFill>
                <a:srgbClr val="831C2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Zero-score warning stroke"/>
            <p:cNvCxnSpPr/>
            <p:nvPr/>
          </p:nvCxnSpPr>
          <p:spPr>
            <a:xfrm>
              <a:off x="9729172" y="2602250"/>
              <a:ext cx="0" cy="154141"/>
            </a:xfrm>
            <a:prstGeom prst="line">
              <a:avLst/>
            </a:prstGeom>
            <a:ln w="54688" cap="rnd">
              <a:solidFill>
                <a:srgbClr val="831C20"/>
              </a:solidFill>
            </a:ln>
            <a:effectLst/>
          </p:spPr>
          <p:style>
            <a:lnRef idx="2">
              <a:schemeClr val="accent1"/>
            </a:lnRef>
            <a:fillRef idx="0">
              <a:schemeClr val="accent1"/>
            </a:fillRef>
            <a:effectRef idx="0">
              <a:schemeClr val="accent1"/>
            </a:effectRef>
            <a:fontRef idx="minor">
              <a:schemeClr val="tx1"/>
            </a:fontRef>
          </p:style>
        </p:cxnSp>
        <p:sp>
          <p:nvSpPr>
            <p:cNvPr id="26" name="Zero-score warning dot"/>
            <p:cNvSpPr/>
            <p:nvPr/>
          </p:nvSpPr>
          <p:spPr>
            <a:xfrm>
              <a:off x="9698327" y="2807771"/>
              <a:ext cx="61689" cy="61656"/>
            </a:xfrm>
            <a:prstGeom prst="ellipse">
              <a:avLst/>
            </a:prstGeom>
            <a:solidFill>
              <a:srgbClr val="831C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27" name="Both-zero count"/>
          <p:cNvSpPr txBox="1"/>
          <p:nvPr/>
        </p:nvSpPr>
        <p:spPr>
          <a:xfrm>
            <a:off x="10259655" y="2175465"/>
            <a:ext cx="1312535" cy="940150"/>
          </a:xfrm>
          <a:prstGeom prst="rect">
            <a:avLst/>
          </a:prstGeom>
          <a:noFill/>
          <a:effectLst/>
        </p:spPr>
        <p:txBody>
          <a:bodyPr wrap="square" lIns="0" tIns="0" rIns="0" bIns="0" anchor="t">
            <a:noAutofit/>
          </a:bodyPr>
          <a:lstStyle/>
          <a:p>
            <a:pPr algn="ctr">
              <a:lnSpc>
                <a:spcPct val="104000"/>
              </a:lnSpc>
              <a:spcBef>
                <a:spcPts val="0"/>
              </a:spcBef>
              <a:spcAft>
                <a:spcPts val="0"/>
              </a:spcAft>
              <a:defRPr sz="6715" b="1" i="0">
                <a:solidFill>
                  <a:srgbClr val="831C20"/>
                </a:solidFill>
                <a:latin typeface="Times New Roman" panose="02020603050405020304"/>
              </a:defRPr>
            </a:pPr>
            <a:r>
              <a:rPr sz="6715" b="1" i="0">
                <a:solidFill>
                  <a:srgbClr val="831C20"/>
                </a:solidFill>
                <a:latin typeface="Times New Roman" panose="02020603050405020304"/>
              </a:rPr>
              <a:t>56</a:t>
            </a:r>
            <a:endParaRPr sz="6715" b="1" i="0">
              <a:solidFill>
                <a:srgbClr val="831C20"/>
              </a:solidFill>
              <a:latin typeface="Times New Roman" panose="02020603050405020304"/>
            </a:endParaRPr>
          </a:p>
        </p:txBody>
      </p:sp>
      <p:cxnSp>
        <p:nvCxnSpPr>
          <p:cNvPr id="28" name="Zero-score label divider"/>
          <p:cNvCxnSpPr/>
          <p:nvPr/>
        </p:nvCxnSpPr>
        <p:spPr>
          <a:xfrm>
            <a:off x="11703444" y="2394105"/>
            <a:ext cx="0" cy="655919"/>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29" name="Both-zero meaning"/>
          <p:cNvSpPr txBox="1"/>
          <p:nvPr/>
        </p:nvSpPr>
        <p:spPr>
          <a:xfrm>
            <a:off x="11922200" y="2361309"/>
            <a:ext cx="5359521" cy="404483"/>
          </a:xfrm>
          <a:prstGeom prst="rect">
            <a:avLst/>
          </a:prstGeom>
          <a:noFill/>
          <a:effectLst/>
        </p:spPr>
        <p:txBody>
          <a:bodyPr wrap="square" lIns="0" tIns="0" rIns="0" bIns="0" anchor="t">
            <a:noAutofit/>
          </a:bodyPr>
          <a:lstStyle/>
          <a:p>
            <a:pPr algn="l">
              <a:lnSpc>
                <a:spcPct val="104000"/>
              </a:lnSpc>
              <a:spcBef>
                <a:spcPts val="0"/>
              </a:spcBef>
              <a:spcAft>
                <a:spcPts val="0"/>
              </a:spcAft>
              <a:defRPr sz="2495" b="1" i="0">
                <a:solidFill>
                  <a:srgbClr val="831C20"/>
                </a:solidFill>
                <a:latin typeface="Times New Roman" panose="02020603050405020304"/>
              </a:defRPr>
            </a:pPr>
            <a:r>
              <a:rPr sz="2495" b="1" i="0">
                <a:solidFill>
                  <a:srgbClr val="831C20"/>
                </a:solidFill>
                <a:latin typeface="Times New Roman" panose="02020603050405020304"/>
              </a:rPr>
              <a:t>Both models scored 0/10</a:t>
            </a:r>
            <a:endParaRPr sz="2495" b="1" i="0">
              <a:solidFill>
                <a:srgbClr val="831C20"/>
              </a:solidFill>
              <a:latin typeface="Times New Roman" panose="02020603050405020304"/>
            </a:endParaRPr>
          </a:p>
        </p:txBody>
      </p:sp>
      <p:sp>
        <p:nvSpPr>
          <p:cNvPr id="30" name="Both-zero percentage"/>
          <p:cNvSpPr txBox="1"/>
          <p:nvPr/>
        </p:nvSpPr>
        <p:spPr>
          <a:xfrm>
            <a:off x="11922200" y="2787656"/>
            <a:ext cx="5359521" cy="338891"/>
          </a:xfrm>
          <a:prstGeom prst="rect">
            <a:avLst/>
          </a:prstGeom>
          <a:noFill/>
          <a:effectLst/>
        </p:spPr>
        <p:txBody>
          <a:bodyPr wrap="square" lIns="0" tIns="0" rIns="0" bIns="0" anchor="t">
            <a:noAutofit/>
          </a:bodyPr>
          <a:lstStyle/>
          <a:p>
            <a:pPr algn="l">
              <a:lnSpc>
                <a:spcPct val="104000"/>
              </a:lnSpc>
              <a:spcBef>
                <a:spcPts val="0"/>
              </a:spcBef>
              <a:spcAft>
                <a:spcPts val="0"/>
              </a:spcAft>
              <a:defRPr sz="2155" b="0" i="0">
                <a:solidFill>
                  <a:srgbClr val="831C20"/>
                </a:solidFill>
                <a:latin typeface="Times New Roman" panose="02020603050405020304"/>
              </a:defRPr>
            </a:pPr>
            <a:r>
              <a:rPr sz="2155" b="0" i="0">
                <a:solidFill>
                  <a:srgbClr val="831C20"/>
                </a:solidFill>
                <a:latin typeface="Times New Roman" panose="02020603050405020304"/>
              </a:rPr>
              <a:t>15.7% of the benchmark</a:t>
            </a:r>
            <a:endParaRPr sz="2155" b="0" i="0">
              <a:solidFill>
                <a:srgbClr val="831C20"/>
              </a:solidFill>
              <a:latin typeface="Times New Roman" panose="02020603050405020304"/>
            </a:endParaRPr>
          </a:p>
        </p:txBody>
      </p:sp>
      <p:sp>
        <p:nvSpPr>
          <p:cNvPr id="31" name="Clinical evidence panel"/>
          <p:cNvSpPr/>
          <p:nvPr/>
        </p:nvSpPr>
        <p:spPr>
          <a:xfrm>
            <a:off x="393760" y="3443575"/>
            <a:ext cx="8586172" cy="4733550"/>
          </a:xfrm>
          <a:prstGeom prst="roundRect">
            <a:avLst>
              <a:gd name="adj" fmla="val 22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Clinical evidence heading"/>
          <p:cNvSpPr txBox="1"/>
          <p:nvPr/>
        </p:nvSpPr>
        <p:spPr>
          <a:xfrm>
            <a:off x="700019" y="3531031"/>
            <a:ext cx="8017406" cy="437279"/>
          </a:xfrm>
          <a:prstGeom prst="rect">
            <a:avLst/>
          </a:prstGeom>
          <a:noFill/>
          <a:effectLst/>
        </p:spPr>
        <p:txBody>
          <a:bodyPr wrap="square" lIns="0" tIns="0" rIns="0" bIns="0" anchor="t">
            <a:noAutofit/>
          </a:bodyPr>
          <a:lstStyle/>
          <a:p>
            <a:pPr algn="ctr">
              <a:lnSpc>
                <a:spcPct val="104000"/>
              </a:lnSpc>
              <a:spcBef>
                <a:spcPts val="0"/>
              </a:spcBef>
              <a:spcAft>
                <a:spcPts val="0"/>
              </a:spcAft>
              <a:defRPr sz="2495" b="1" i="0">
                <a:solidFill>
                  <a:srgbClr val="124936"/>
                </a:solidFill>
                <a:latin typeface="Times New Roman" panose="02020603050405020304"/>
              </a:defRPr>
            </a:pPr>
            <a:r>
              <a:rPr sz="2495" b="1" i="0">
                <a:solidFill>
                  <a:srgbClr val="124936"/>
                </a:solidFill>
                <a:latin typeface="Times New Roman" panose="02020603050405020304"/>
              </a:rPr>
              <a:t>GROUNDED IN CLINICAL EVIDENCE</a:t>
            </a:r>
            <a:endParaRPr sz="2495" b="1" i="0">
              <a:solidFill>
                <a:srgbClr val="124936"/>
              </a:solidFill>
              <a:latin typeface="Times New Roman" panose="02020603050405020304"/>
            </a:endParaRPr>
          </a:p>
        </p:txBody>
      </p:sp>
      <p:cxnSp>
        <p:nvCxnSpPr>
          <p:cNvPr id="33" name="Clinical evidence heading rule left"/>
          <p:cNvCxnSpPr/>
          <p:nvPr/>
        </p:nvCxnSpPr>
        <p:spPr>
          <a:xfrm>
            <a:off x="656267" y="3924583"/>
            <a:ext cx="3888388"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34" name="Clinical evidence heading rule right"/>
          <p:cNvCxnSpPr/>
          <p:nvPr/>
        </p:nvCxnSpPr>
        <p:spPr>
          <a:xfrm>
            <a:off x="4807162" y="3924583"/>
            <a:ext cx="3888388"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35" name="Clinical evidence heading rule diamond"/>
          <p:cNvSpPr/>
          <p:nvPr/>
        </p:nvSpPr>
        <p:spPr>
          <a:xfrm>
            <a:off x="4615751" y="3864457"/>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Original coronary dissection ECG backing"/>
          <p:cNvSpPr/>
          <p:nvPr/>
        </p:nvSpPr>
        <p:spPr>
          <a:xfrm>
            <a:off x="1192220" y="4099495"/>
            <a:ext cx="3226650" cy="2547153"/>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7" name="Original coronary dissection ECG" descr="coronary-ecg.png"/>
          <p:cNvPicPr>
            <a:picLocks noChangeAspect="1"/>
          </p:cNvPicPr>
          <p:nvPr/>
        </p:nvPicPr>
        <p:blipFill>
          <a:blip r:embed="rId3"/>
          <a:stretch>
            <a:fillRect/>
          </a:stretch>
        </p:blipFill>
        <p:spPr>
          <a:xfrm>
            <a:off x="1810805" y="4099495"/>
            <a:ext cx="1989479" cy="2547153"/>
          </a:xfrm>
          <a:prstGeom prst="rect">
            <a:avLst/>
          </a:prstGeom>
          <a:effectLst/>
        </p:spPr>
      </p:pic>
      <p:sp>
        <p:nvSpPr>
          <p:cNvPr id="38" name="Original coronal abdominal CT backing"/>
          <p:cNvSpPr/>
          <p:nvPr/>
        </p:nvSpPr>
        <p:spPr>
          <a:xfrm>
            <a:off x="4943885" y="4099495"/>
            <a:ext cx="3248526" cy="2547153"/>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9" name="Original coronal abdominal CT" descr="image.png"/>
          <p:cNvPicPr>
            <a:picLocks noChangeAspect="1"/>
          </p:cNvPicPr>
          <p:nvPr/>
        </p:nvPicPr>
        <p:blipFill>
          <a:blip r:embed="rId4"/>
          <a:stretch>
            <a:fillRect/>
          </a:stretch>
        </p:blipFill>
        <p:spPr>
          <a:xfrm>
            <a:off x="5482262" y="4099495"/>
            <a:ext cx="2171771" cy="2547153"/>
          </a:xfrm>
          <a:prstGeom prst="rect">
            <a:avLst/>
          </a:prstGeom>
          <a:effectLst/>
        </p:spPr>
      </p:pic>
      <p:sp>
        <p:nvSpPr>
          <p:cNvPr id="40" name="ECG frame"/>
          <p:cNvSpPr/>
          <p:nvPr/>
        </p:nvSpPr>
        <p:spPr>
          <a:xfrm>
            <a:off x="1181282" y="4088563"/>
            <a:ext cx="3248526" cy="2569017"/>
          </a:xfrm>
          <a:prstGeom prst="rect">
            <a:avLst/>
          </a:prstGeom>
          <a:no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T frame"/>
          <p:cNvSpPr/>
          <p:nvPr/>
        </p:nvSpPr>
        <p:spPr>
          <a:xfrm>
            <a:off x="4932947" y="4088563"/>
            <a:ext cx="3270401" cy="2569017"/>
          </a:xfrm>
          <a:prstGeom prst="rect">
            <a:avLst/>
          </a:prstGeom>
          <a:no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Published cases icon ring"/>
          <p:cNvSpPr/>
          <p:nvPr/>
        </p:nvSpPr>
        <p:spPr>
          <a:xfrm>
            <a:off x="809397" y="6854356"/>
            <a:ext cx="765645" cy="765239"/>
          </a:xfrm>
          <a:prstGeom prst="ellipse">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43" name="Published cases icon"/>
          <p:cNvGrpSpPr/>
          <p:nvPr/>
        </p:nvGrpSpPr>
        <p:grpSpPr>
          <a:xfrm>
            <a:off x="1087873" y="7051569"/>
            <a:ext cx="226849" cy="327085"/>
            <a:chOff x="1087873" y="7051569"/>
            <a:chExt cx="226849" cy="327085"/>
          </a:xfrm>
        </p:grpSpPr>
        <p:sp>
          <p:nvSpPr>
            <p:cNvPr id="44" name="Published cases icon outline"/>
            <p:cNvSpPr/>
            <p:nvPr/>
          </p:nvSpPr>
          <p:spPr>
            <a:xfrm>
              <a:off x="1087873" y="7051569"/>
              <a:ext cx="226849" cy="327085"/>
            </a:xfrm>
            <a:prstGeom prst="rect">
              <a:avLst/>
            </a:prstGeom>
            <a:noFill/>
            <a:ln w="21875">
              <a:solidFill>
                <a:srgbClr val="1249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Published cases icon stroke"/>
            <p:cNvCxnSpPr/>
            <p:nvPr/>
          </p:nvCxnSpPr>
          <p:spPr>
            <a:xfrm>
              <a:off x="1132499" y="7148207"/>
              <a:ext cx="141317" cy="0"/>
            </a:xfrm>
            <a:prstGeom prst="line">
              <a:avLst/>
            </a:prstGeom>
            <a:ln w="21875">
              <a:solidFill>
                <a:srgbClr val="124936"/>
              </a:solidFill>
            </a:ln>
            <a:effectLst/>
          </p:spPr>
          <p:style>
            <a:lnRef idx="2">
              <a:schemeClr val="accent1"/>
            </a:lnRef>
            <a:fillRef idx="0">
              <a:schemeClr val="accent1"/>
            </a:fillRef>
            <a:effectRef idx="0">
              <a:schemeClr val="accent1"/>
            </a:effectRef>
            <a:fontRef idx="minor">
              <a:schemeClr val="tx1"/>
            </a:fontRef>
          </p:style>
        </p:cxnSp>
        <p:cxnSp>
          <p:nvCxnSpPr>
            <p:cNvPr id="46" name="Published cases icon stroke"/>
            <p:cNvCxnSpPr/>
            <p:nvPr/>
          </p:nvCxnSpPr>
          <p:spPr>
            <a:xfrm>
              <a:off x="1132499" y="7211394"/>
              <a:ext cx="141317" cy="0"/>
            </a:xfrm>
            <a:prstGeom prst="line">
              <a:avLst/>
            </a:prstGeom>
            <a:ln w="21875">
              <a:solidFill>
                <a:srgbClr val="124936"/>
              </a:solidFill>
            </a:ln>
            <a:effectLst/>
          </p:spPr>
          <p:style>
            <a:lnRef idx="2">
              <a:schemeClr val="accent1"/>
            </a:lnRef>
            <a:fillRef idx="0">
              <a:schemeClr val="accent1"/>
            </a:fillRef>
            <a:effectRef idx="0">
              <a:schemeClr val="accent1"/>
            </a:effectRef>
            <a:fontRef idx="minor">
              <a:schemeClr val="tx1"/>
            </a:fontRef>
          </p:style>
        </p:cxnSp>
        <p:cxnSp>
          <p:nvCxnSpPr>
            <p:cNvPr id="47" name="Published cases icon stroke"/>
            <p:cNvCxnSpPr/>
            <p:nvPr/>
          </p:nvCxnSpPr>
          <p:spPr>
            <a:xfrm>
              <a:off x="1132499" y="7274581"/>
              <a:ext cx="141317" cy="0"/>
            </a:xfrm>
            <a:prstGeom prst="line">
              <a:avLst/>
            </a:prstGeom>
            <a:ln w="21875">
              <a:solidFill>
                <a:srgbClr val="124936"/>
              </a:solidFill>
            </a:ln>
            <a:effectLst/>
          </p:spPr>
          <p:style>
            <a:lnRef idx="2">
              <a:schemeClr val="accent1"/>
            </a:lnRef>
            <a:fillRef idx="0">
              <a:schemeClr val="accent1"/>
            </a:fillRef>
            <a:effectRef idx="0">
              <a:schemeClr val="accent1"/>
            </a:effectRef>
            <a:fontRef idx="minor">
              <a:schemeClr val="tx1"/>
            </a:fontRef>
          </p:style>
        </p:cxnSp>
      </p:grpSp>
      <p:sp>
        <p:nvSpPr>
          <p:cNvPr id="48" name="Published cases label"/>
          <p:cNvSpPr txBox="1"/>
          <p:nvPr/>
        </p:nvSpPr>
        <p:spPr>
          <a:xfrm>
            <a:off x="1760985" y="7007403"/>
            <a:ext cx="1389100" cy="623123"/>
          </a:xfrm>
          <a:prstGeom prst="rect">
            <a:avLst/>
          </a:prstGeom>
          <a:noFill/>
          <a:effectLst/>
        </p:spPr>
        <p:txBody>
          <a:bodyPr wrap="square" lIns="0" tIns="0" rIns="0" bIns="0" anchor="t">
            <a:noAutofit/>
          </a:bodyPr>
          <a:lstStyle/>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Published</a:t>
            </a:r>
            <a:endParaRPr sz="2065" b="0" i="0">
              <a:solidFill>
                <a:srgbClr val="10243C"/>
              </a:solidFill>
              <a:latin typeface="Times New Roman" panose="02020603050405020304"/>
            </a:endParaRPr>
          </a:p>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cases</a:t>
            </a:r>
            <a:endParaRPr sz="2065" b="0" i="0">
              <a:solidFill>
                <a:srgbClr val="10243C"/>
              </a:solidFill>
              <a:latin typeface="Times New Roman" panose="02020603050405020304"/>
            </a:endParaRPr>
          </a:p>
        </p:txBody>
      </p:sp>
      <p:sp>
        <p:nvSpPr>
          <p:cNvPr id="49" name="Clinical questions icon ring"/>
          <p:cNvSpPr/>
          <p:nvPr/>
        </p:nvSpPr>
        <p:spPr>
          <a:xfrm>
            <a:off x="3762602" y="6854356"/>
            <a:ext cx="765645" cy="765239"/>
          </a:xfrm>
          <a:prstGeom prst="ellipse">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50" name="Clinical questions icon"/>
          <p:cNvGrpSpPr/>
          <p:nvPr/>
        </p:nvGrpSpPr>
        <p:grpSpPr>
          <a:xfrm>
            <a:off x="4000171" y="7051569"/>
            <a:ext cx="312384" cy="319651"/>
            <a:chOff x="4000171" y="7051569"/>
            <a:chExt cx="312384" cy="319651"/>
          </a:xfrm>
        </p:grpSpPr>
        <p:sp>
          <p:nvSpPr>
            <p:cNvPr id="51" name="Clinical questions icon lens"/>
            <p:cNvSpPr/>
            <p:nvPr/>
          </p:nvSpPr>
          <p:spPr>
            <a:xfrm>
              <a:off x="4000171" y="7051569"/>
              <a:ext cx="223131" cy="223012"/>
            </a:xfrm>
            <a:prstGeom prst="ellipse">
              <a:avLst/>
            </a:prstGeom>
            <a:noFill/>
            <a:ln w="21875">
              <a:solidFill>
                <a:srgbClr val="1249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2" name="Clinical questions icon stroke"/>
            <p:cNvCxnSpPr/>
            <p:nvPr/>
          </p:nvCxnSpPr>
          <p:spPr>
            <a:xfrm>
              <a:off x="4189833" y="7248563"/>
              <a:ext cx="122722" cy="122657"/>
            </a:xfrm>
            <a:prstGeom prst="line">
              <a:avLst/>
            </a:prstGeom>
            <a:ln w="21875">
              <a:solidFill>
                <a:srgbClr val="124936"/>
              </a:solidFill>
            </a:ln>
            <a:effectLst/>
          </p:spPr>
          <p:style>
            <a:lnRef idx="2">
              <a:schemeClr val="accent1"/>
            </a:lnRef>
            <a:fillRef idx="0">
              <a:schemeClr val="accent1"/>
            </a:fillRef>
            <a:effectRef idx="0">
              <a:schemeClr val="accent1"/>
            </a:effectRef>
            <a:fontRef idx="minor">
              <a:schemeClr val="tx1"/>
            </a:fontRef>
          </p:style>
        </p:cxnSp>
      </p:grpSp>
      <p:sp>
        <p:nvSpPr>
          <p:cNvPr id="53" name="Clinical questions label"/>
          <p:cNvSpPr txBox="1"/>
          <p:nvPr/>
        </p:nvSpPr>
        <p:spPr>
          <a:xfrm>
            <a:off x="4703253" y="7007403"/>
            <a:ext cx="1389100" cy="623123"/>
          </a:xfrm>
          <a:prstGeom prst="rect">
            <a:avLst/>
          </a:prstGeom>
          <a:noFill/>
          <a:effectLst/>
        </p:spPr>
        <p:txBody>
          <a:bodyPr wrap="square" lIns="0" tIns="0" rIns="0" bIns="0" anchor="t">
            <a:noAutofit/>
          </a:bodyPr>
          <a:lstStyle/>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Clinical</a:t>
            </a:r>
            <a:endParaRPr sz="2065" b="0" i="0">
              <a:solidFill>
                <a:srgbClr val="10243C"/>
              </a:solidFill>
              <a:latin typeface="Times New Roman" panose="02020603050405020304"/>
            </a:endParaRPr>
          </a:p>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questions</a:t>
            </a:r>
            <a:endParaRPr sz="2065" b="0" i="0">
              <a:solidFill>
                <a:srgbClr val="10243C"/>
              </a:solidFill>
              <a:latin typeface="Times New Roman" panose="02020603050405020304"/>
            </a:endParaRPr>
          </a:p>
        </p:txBody>
      </p:sp>
      <p:sp>
        <p:nvSpPr>
          <p:cNvPr id="54" name="Scoring rubrics icon ring"/>
          <p:cNvSpPr/>
          <p:nvPr/>
        </p:nvSpPr>
        <p:spPr>
          <a:xfrm>
            <a:off x="6606430" y="6854356"/>
            <a:ext cx="765645" cy="765239"/>
          </a:xfrm>
          <a:prstGeom prst="ellipse">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55" name="Scoring rubrics icon"/>
          <p:cNvGrpSpPr/>
          <p:nvPr/>
        </p:nvGrpSpPr>
        <p:grpSpPr>
          <a:xfrm>
            <a:off x="6858875" y="7044135"/>
            <a:ext cx="290070" cy="338235"/>
            <a:chOff x="6858875" y="7044135"/>
            <a:chExt cx="290070" cy="338235"/>
          </a:xfrm>
        </p:grpSpPr>
        <p:sp>
          <p:nvSpPr>
            <p:cNvPr id="56" name="Scoring rubrics icon shield"/>
            <p:cNvSpPr/>
            <p:nvPr/>
          </p:nvSpPr>
          <p:spPr>
            <a:xfrm rot="10800000">
              <a:off x="6858875" y="7044135"/>
              <a:ext cx="290070" cy="338235"/>
            </a:xfrm>
            <a:prstGeom prst="homePlate">
              <a:avLst/>
            </a:prstGeom>
            <a:noFill/>
            <a:ln w="21875">
              <a:solidFill>
                <a:srgbClr val="1249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7" name="Scoring rubrics icon stroke"/>
            <p:cNvCxnSpPr/>
            <p:nvPr/>
          </p:nvCxnSpPr>
          <p:spPr>
            <a:xfrm>
              <a:off x="6922095" y="7203960"/>
              <a:ext cx="59502" cy="63187"/>
            </a:xfrm>
            <a:prstGeom prst="line">
              <a:avLst/>
            </a:prstGeom>
            <a:ln w="21875">
              <a:solidFill>
                <a:srgbClr val="124936"/>
              </a:solidFill>
            </a:ln>
            <a:effectLst/>
          </p:spPr>
          <p:style>
            <a:lnRef idx="2">
              <a:schemeClr val="accent1"/>
            </a:lnRef>
            <a:fillRef idx="0">
              <a:schemeClr val="accent1"/>
            </a:fillRef>
            <a:effectRef idx="0">
              <a:schemeClr val="accent1"/>
            </a:effectRef>
            <a:fontRef idx="minor">
              <a:schemeClr val="tx1"/>
            </a:fontRef>
          </p:style>
        </p:cxnSp>
        <p:cxnSp>
          <p:nvCxnSpPr>
            <p:cNvPr id="58" name="Scoring rubrics icon stroke"/>
            <p:cNvCxnSpPr/>
            <p:nvPr/>
          </p:nvCxnSpPr>
          <p:spPr>
            <a:xfrm flipV="1">
              <a:off x="6981597" y="7155641"/>
              <a:ext cx="100409" cy="111506"/>
            </a:xfrm>
            <a:prstGeom prst="line">
              <a:avLst/>
            </a:prstGeom>
            <a:ln w="21875">
              <a:solidFill>
                <a:srgbClr val="124936"/>
              </a:solidFill>
            </a:ln>
            <a:effectLst/>
          </p:spPr>
          <p:style>
            <a:lnRef idx="2">
              <a:schemeClr val="accent1"/>
            </a:lnRef>
            <a:fillRef idx="0">
              <a:schemeClr val="accent1"/>
            </a:fillRef>
            <a:effectRef idx="0">
              <a:schemeClr val="accent1"/>
            </a:effectRef>
            <a:fontRef idx="minor">
              <a:schemeClr val="tx1"/>
            </a:fontRef>
          </p:style>
        </p:cxnSp>
      </p:grpSp>
      <p:sp>
        <p:nvSpPr>
          <p:cNvPr id="59" name="Scoring rubrics label"/>
          <p:cNvSpPr txBox="1"/>
          <p:nvPr/>
        </p:nvSpPr>
        <p:spPr>
          <a:xfrm>
            <a:off x="7547081" y="7007403"/>
            <a:ext cx="1389100" cy="623123"/>
          </a:xfrm>
          <a:prstGeom prst="rect">
            <a:avLst/>
          </a:prstGeom>
          <a:noFill/>
          <a:effectLst/>
        </p:spPr>
        <p:txBody>
          <a:bodyPr wrap="square" lIns="0" tIns="0" rIns="0" bIns="0" anchor="t">
            <a:noAutofit/>
          </a:bodyPr>
          <a:lstStyle/>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Scoring</a:t>
            </a:r>
            <a:endParaRPr sz="2065" b="0" i="0">
              <a:solidFill>
                <a:srgbClr val="10243C"/>
              </a:solidFill>
              <a:latin typeface="Times New Roman" panose="02020603050405020304"/>
            </a:endParaRPr>
          </a:p>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rubrics</a:t>
            </a:r>
            <a:endParaRPr sz="2065" b="0" i="0">
              <a:solidFill>
                <a:srgbClr val="10243C"/>
              </a:solidFill>
              <a:latin typeface="Times New Roman" panose="02020603050405020304"/>
            </a:endParaRPr>
          </a:p>
        </p:txBody>
      </p:sp>
      <p:cxnSp>
        <p:nvCxnSpPr>
          <p:cNvPr id="60" name="Case to question arrow"/>
          <p:cNvCxnSpPr/>
          <p:nvPr/>
        </p:nvCxnSpPr>
        <p:spPr>
          <a:xfrm>
            <a:off x="2975081" y="7236975"/>
            <a:ext cx="579703" cy="0"/>
          </a:xfrm>
          <a:prstGeom prst="line">
            <a:avLst/>
          </a:prstGeom>
          <a:ln w="21875">
            <a:solidFill>
              <a:srgbClr val="B58F4F"/>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Question to rubric arrow"/>
          <p:cNvCxnSpPr/>
          <p:nvPr/>
        </p:nvCxnSpPr>
        <p:spPr>
          <a:xfrm>
            <a:off x="5818909" y="7236975"/>
            <a:ext cx="590641" cy="0"/>
          </a:xfrm>
          <a:prstGeom prst="line">
            <a:avLst/>
          </a:prstGeom>
          <a:ln w="21875">
            <a:solidFill>
              <a:srgbClr val="B58F4F"/>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2" name="Evidence takeaway separator"/>
          <p:cNvCxnSpPr/>
          <p:nvPr/>
        </p:nvCxnSpPr>
        <p:spPr>
          <a:xfrm>
            <a:off x="656267" y="7739846"/>
            <a:ext cx="8039283"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63" name="Evidence takeaway"/>
          <p:cNvSpPr txBox="1"/>
          <p:nvPr/>
        </p:nvSpPr>
        <p:spPr>
          <a:xfrm>
            <a:off x="776583" y="7827302"/>
            <a:ext cx="7798650" cy="327959"/>
          </a:xfrm>
          <a:prstGeom prst="rect">
            <a:avLst/>
          </a:prstGeom>
          <a:noFill/>
          <a:effectLst/>
        </p:spPr>
        <p:txBody>
          <a:bodyPr wrap="square" lIns="0" tIns="0" rIns="0" bIns="0" anchor="t">
            <a:noAutofit/>
          </a:bodyPr>
          <a:lstStyle/>
          <a:p>
            <a:pPr algn="ctr">
              <a:lnSpc>
                <a:spcPct val="104000"/>
              </a:lnSpc>
              <a:spcBef>
                <a:spcPts val="0"/>
              </a:spcBef>
              <a:spcAft>
                <a:spcPts val="0"/>
              </a:spcAft>
              <a:defRPr sz="2065" b="1" i="0">
                <a:solidFill>
                  <a:srgbClr val="10243C"/>
                </a:solidFill>
                <a:latin typeface="Times New Roman" panose="02020603050405020304"/>
              </a:defRPr>
            </a:pPr>
            <a:r>
              <a:rPr sz="2065" b="1" i="0">
                <a:solidFill>
                  <a:srgbClr val="10243C"/>
                </a:solidFill>
                <a:latin typeface="Times New Roman" panose="02020603050405020304"/>
              </a:rPr>
              <a:t>Traceable evidence for testing clinical reasoning.</a:t>
            </a:r>
            <a:endParaRPr sz="2065" b="1" i="0">
              <a:solidFill>
                <a:srgbClr val="10243C"/>
              </a:solidFill>
              <a:latin typeface="Times New Roman" panose="02020603050405020304"/>
            </a:endParaRPr>
          </a:p>
        </p:txBody>
      </p:sp>
      <p:sp>
        <p:nvSpPr>
          <p:cNvPr id="64" name="Question type distribution panel"/>
          <p:cNvSpPr/>
          <p:nvPr/>
        </p:nvSpPr>
        <p:spPr>
          <a:xfrm>
            <a:off x="9231502" y="3443575"/>
            <a:ext cx="8662736" cy="4733550"/>
          </a:xfrm>
          <a:prstGeom prst="roundRect">
            <a:avLst>
              <a:gd name="adj" fmla="val 22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Question type distribution heading"/>
          <p:cNvSpPr txBox="1"/>
          <p:nvPr/>
        </p:nvSpPr>
        <p:spPr>
          <a:xfrm>
            <a:off x="9504947" y="3531031"/>
            <a:ext cx="8115846" cy="437279"/>
          </a:xfrm>
          <a:prstGeom prst="rect">
            <a:avLst/>
          </a:prstGeom>
          <a:noFill/>
          <a:effectLst/>
        </p:spPr>
        <p:txBody>
          <a:bodyPr wrap="square" lIns="0" tIns="0" rIns="0" bIns="0" anchor="t">
            <a:noAutofit/>
          </a:bodyPr>
          <a:lstStyle/>
          <a:p>
            <a:pPr algn="ctr">
              <a:lnSpc>
                <a:spcPct val="104000"/>
              </a:lnSpc>
              <a:spcBef>
                <a:spcPts val="0"/>
              </a:spcBef>
              <a:spcAft>
                <a:spcPts val="0"/>
              </a:spcAft>
              <a:defRPr sz="2585" b="1" i="0">
                <a:solidFill>
                  <a:srgbClr val="124936"/>
                </a:solidFill>
                <a:latin typeface="Times New Roman" panose="02020603050405020304"/>
              </a:defRPr>
            </a:pPr>
            <a:r>
              <a:rPr sz="2585" b="1" i="0">
                <a:solidFill>
                  <a:srgbClr val="124936"/>
                </a:solidFill>
                <a:latin typeface="Times New Roman" panose="02020603050405020304"/>
              </a:rPr>
              <a:t>WHAT THE QUESTIONS TEST</a:t>
            </a:r>
            <a:endParaRPr sz="2585" b="1" i="0">
              <a:solidFill>
                <a:srgbClr val="124936"/>
              </a:solidFill>
              <a:latin typeface="Times New Roman" panose="02020603050405020304"/>
            </a:endParaRPr>
          </a:p>
        </p:txBody>
      </p:sp>
      <p:cxnSp>
        <p:nvCxnSpPr>
          <p:cNvPr id="66" name="Question type heading rule left"/>
          <p:cNvCxnSpPr/>
          <p:nvPr/>
        </p:nvCxnSpPr>
        <p:spPr>
          <a:xfrm>
            <a:off x="9526822" y="3924583"/>
            <a:ext cx="3921201"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67" name="Question type heading rule right"/>
          <p:cNvCxnSpPr/>
          <p:nvPr/>
        </p:nvCxnSpPr>
        <p:spPr>
          <a:xfrm>
            <a:off x="13710531" y="3924583"/>
            <a:ext cx="3921201"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68" name="Question type heading rule diamond"/>
          <p:cNvSpPr/>
          <p:nvPr/>
        </p:nvSpPr>
        <p:spPr>
          <a:xfrm>
            <a:off x="13519119" y="3864457"/>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Question type column heading"/>
          <p:cNvSpPr txBox="1"/>
          <p:nvPr/>
        </p:nvSpPr>
        <p:spPr>
          <a:xfrm>
            <a:off x="9559636" y="4022971"/>
            <a:ext cx="3281339" cy="306095"/>
          </a:xfrm>
          <a:prstGeom prst="rect">
            <a:avLst/>
          </a:prstGeom>
          <a:noFill/>
          <a:effectLst/>
        </p:spPr>
        <p:txBody>
          <a:bodyPr wrap="square" lIns="0" tIns="0" rIns="0" bIns="0" anchor="t">
            <a:noAutofit/>
          </a:bodyPr>
          <a:lstStyle/>
          <a:p>
            <a:pPr algn="l">
              <a:lnSpc>
                <a:spcPct val="104000"/>
              </a:lnSpc>
              <a:spcBef>
                <a:spcPts val="0"/>
              </a:spcBef>
              <a:spcAft>
                <a:spcPts val="0"/>
              </a:spcAft>
              <a:defRPr sz="1720" b="0" i="0">
                <a:solidFill>
                  <a:srgbClr val="5D5B55"/>
                </a:solidFill>
                <a:latin typeface="Times New Roman" panose="02020603050405020304"/>
              </a:defRPr>
            </a:pPr>
            <a:r>
              <a:rPr sz="1720" b="0" i="0">
                <a:solidFill>
                  <a:srgbClr val="5D5B55"/>
                </a:solidFill>
                <a:latin typeface="Times New Roman" panose="02020603050405020304"/>
              </a:rPr>
              <a:t>Question type</a:t>
            </a:r>
            <a:endParaRPr sz="1720" b="0" i="0">
              <a:solidFill>
                <a:srgbClr val="5D5B55"/>
              </a:solidFill>
              <a:latin typeface="Times New Roman" panose="02020603050405020304"/>
            </a:endParaRPr>
          </a:p>
        </p:txBody>
      </p:sp>
      <p:sp>
        <p:nvSpPr>
          <p:cNvPr id="70" name="Question count and share heading"/>
          <p:cNvSpPr txBox="1"/>
          <p:nvPr/>
        </p:nvSpPr>
        <p:spPr>
          <a:xfrm>
            <a:off x="15859808" y="4022971"/>
            <a:ext cx="1706296" cy="306095"/>
          </a:xfrm>
          <a:prstGeom prst="rect">
            <a:avLst/>
          </a:prstGeom>
          <a:noFill/>
          <a:effectLst/>
        </p:spPr>
        <p:txBody>
          <a:bodyPr wrap="square" lIns="0" tIns="0" rIns="0" bIns="0" anchor="t">
            <a:noAutofit/>
          </a:bodyPr>
          <a:lstStyle/>
          <a:p>
            <a:pPr algn="r">
              <a:lnSpc>
                <a:spcPct val="104000"/>
              </a:lnSpc>
              <a:spcBef>
                <a:spcPts val="0"/>
              </a:spcBef>
              <a:spcAft>
                <a:spcPts val="0"/>
              </a:spcAft>
              <a:defRPr sz="1635" b="0" i="0">
                <a:solidFill>
                  <a:srgbClr val="5D5B55"/>
                </a:solidFill>
                <a:latin typeface="Times New Roman" panose="02020603050405020304"/>
              </a:defRPr>
            </a:pPr>
            <a:r>
              <a:rPr sz="1635" b="0" i="0">
                <a:solidFill>
                  <a:srgbClr val="5D5B55"/>
                </a:solidFill>
                <a:latin typeface="Times New Roman" panose="02020603050405020304"/>
              </a:rPr>
              <a:t>Questions · Share</a:t>
            </a:r>
            <a:endParaRPr sz="1635" b="0" i="0">
              <a:solidFill>
                <a:srgbClr val="5D5B55"/>
              </a:solidFill>
              <a:latin typeface="Times New Roman" panose="02020603050405020304"/>
            </a:endParaRPr>
          </a:p>
        </p:txBody>
      </p:sp>
      <p:sp>
        <p:nvSpPr>
          <p:cNvPr id="71" name="Investigation Interpretation type label"/>
          <p:cNvSpPr txBox="1"/>
          <p:nvPr/>
        </p:nvSpPr>
        <p:spPr>
          <a:xfrm>
            <a:off x="9559636" y="4394658"/>
            <a:ext cx="3237588" cy="327959"/>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Investigation Interpretation</a:t>
            </a:r>
            <a:endParaRPr sz="1895" b="0" i="0">
              <a:solidFill>
                <a:srgbClr val="10243C"/>
              </a:solidFill>
              <a:latin typeface="Times New Roman" panose="02020603050405020304"/>
            </a:endParaRPr>
          </a:p>
        </p:txBody>
      </p:sp>
      <p:sp>
        <p:nvSpPr>
          <p:cNvPr id="72" name="Investigation Interpretation bar track"/>
          <p:cNvSpPr/>
          <p:nvPr/>
        </p:nvSpPr>
        <p:spPr>
          <a:xfrm>
            <a:off x="12906602" y="4471182"/>
            <a:ext cx="3171961" cy="163979"/>
          </a:xfrm>
          <a:prstGeom prst="rect">
            <a:avLst/>
          </a:prstGeom>
          <a:solidFill>
            <a:srgbClr val="ECE6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Investigation Interpretation count bar"/>
          <p:cNvSpPr/>
          <p:nvPr/>
        </p:nvSpPr>
        <p:spPr>
          <a:xfrm>
            <a:off x="12906602" y="4471182"/>
            <a:ext cx="3171961" cy="16397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Investigation Interpretation count and percentage"/>
          <p:cNvSpPr txBox="1"/>
          <p:nvPr/>
        </p:nvSpPr>
        <p:spPr>
          <a:xfrm>
            <a:off x="16187942" y="4383726"/>
            <a:ext cx="1389100" cy="338891"/>
          </a:xfrm>
          <a:prstGeom prst="rect">
            <a:avLst/>
          </a:prstGeom>
          <a:noFill/>
          <a:effectLst/>
        </p:spPr>
        <p:txBody>
          <a:bodyPr wrap="square" lIns="0" tIns="0" rIns="0" bIns="0" anchor="t">
            <a:noAutofit/>
          </a:bodyPr>
          <a:lstStyle/>
          <a:p>
            <a:pPr algn="r">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127 · 35.6%</a:t>
            </a:r>
            <a:endParaRPr sz="1895" b="0" i="0">
              <a:solidFill>
                <a:srgbClr val="10243C"/>
              </a:solidFill>
              <a:latin typeface="Times New Roman" panose="02020603050405020304"/>
            </a:endParaRPr>
          </a:p>
        </p:txBody>
      </p:sp>
      <p:sp>
        <p:nvSpPr>
          <p:cNvPr id="75" name="Mechanism type label"/>
          <p:cNvSpPr txBox="1"/>
          <p:nvPr/>
        </p:nvSpPr>
        <p:spPr>
          <a:xfrm>
            <a:off x="9559636" y="4766346"/>
            <a:ext cx="3237588" cy="327959"/>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Mechanism</a:t>
            </a:r>
            <a:endParaRPr sz="1895" b="0" i="0">
              <a:solidFill>
                <a:srgbClr val="10243C"/>
              </a:solidFill>
              <a:latin typeface="Times New Roman" panose="02020603050405020304"/>
            </a:endParaRPr>
          </a:p>
        </p:txBody>
      </p:sp>
      <p:sp>
        <p:nvSpPr>
          <p:cNvPr id="76" name="Mechanism bar track"/>
          <p:cNvSpPr/>
          <p:nvPr/>
        </p:nvSpPr>
        <p:spPr>
          <a:xfrm>
            <a:off x="12906602" y="4842870"/>
            <a:ext cx="3171961" cy="163979"/>
          </a:xfrm>
          <a:prstGeom prst="rect">
            <a:avLst/>
          </a:prstGeom>
          <a:solidFill>
            <a:srgbClr val="ECE6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Mechanism count bar"/>
          <p:cNvSpPr/>
          <p:nvPr/>
        </p:nvSpPr>
        <p:spPr>
          <a:xfrm>
            <a:off x="12906602" y="4842870"/>
            <a:ext cx="1898181" cy="16397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Mechanism count and percentage"/>
          <p:cNvSpPr txBox="1"/>
          <p:nvPr/>
        </p:nvSpPr>
        <p:spPr>
          <a:xfrm>
            <a:off x="16187942" y="4755414"/>
            <a:ext cx="1389100" cy="338891"/>
          </a:xfrm>
          <a:prstGeom prst="rect">
            <a:avLst/>
          </a:prstGeom>
          <a:noFill/>
          <a:effectLst/>
        </p:spPr>
        <p:txBody>
          <a:bodyPr wrap="square" lIns="0" tIns="0" rIns="0" bIns="0" anchor="t">
            <a:noAutofit/>
          </a:bodyPr>
          <a:lstStyle/>
          <a:p>
            <a:pPr algn="r">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76 · 21.3%</a:t>
            </a:r>
            <a:endParaRPr sz="1895" b="0" i="0">
              <a:solidFill>
                <a:srgbClr val="10243C"/>
              </a:solidFill>
              <a:latin typeface="Times New Roman" panose="02020603050405020304"/>
            </a:endParaRPr>
          </a:p>
        </p:txBody>
      </p:sp>
      <p:sp>
        <p:nvSpPr>
          <p:cNvPr id="79" name="Diagnosis type label"/>
          <p:cNvSpPr txBox="1"/>
          <p:nvPr/>
        </p:nvSpPr>
        <p:spPr>
          <a:xfrm>
            <a:off x="9559636" y="5138034"/>
            <a:ext cx="3237588" cy="327959"/>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Diagnosis</a:t>
            </a:r>
            <a:endParaRPr sz="1895" b="0" i="0">
              <a:solidFill>
                <a:srgbClr val="10243C"/>
              </a:solidFill>
              <a:latin typeface="Times New Roman" panose="02020603050405020304"/>
            </a:endParaRPr>
          </a:p>
        </p:txBody>
      </p:sp>
      <p:sp>
        <p:nvSpPr>
          <p:cNvPr id="80" name="Diagnosis bar track"/>
          <p:cNvSpPr/>
          <p:nvPr/>
        </p:nvSpPr>
        <p:spPr>
          <a:xfrm>
            <a:off x="12906602" y="5214557"/>
            <a:ext cx="3171961" cy="163979"/>
          </a:xfrm>
          <a:prstGeom prst="rect">
            <a:avLst/>
          </a:prstGeom>
          <a:solidFill>
            <a:srgbClr val="ECE6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Diagnosis count bar"/>
          <p:cNvSpPr/>
          <p:nvPr/>
        </p:nvSpPr>
        <p:spPr>
          <a:xfrm>
            <a:off x="12906602" y="5214557"/>
            <a:ext cx="1423636" cy="16397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Diagnosis count and percentage"/>
          <p:cNvSpPr txBox="1"/>
          <p:nvPr/>
        </p:nvSpPr>
        <p:spPr>
          <a:xfrm>
            <a:off x="16187942" y="5127102"/>
            <a:ext cx="1389100" cy="338891"/>
          </a:xfrm>
          <a:prstGeom prst="rect">
            <a:avLst/>
          </a:prstGeom>
          <a:noFill/>
          <a:effectLst/>
        </p:spPr>
        <p:txBody>
          <a:bodyPr wrap="square" lIns="0" tIns="0" rIns="0" bIns="0" anchor="t">
            <a:noAutofit/>
          </a:bodyPr>
          <a:lstStyle/>
          <a:p>
            <a:pPr algn="r">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57 · 16.0%</a:t>
            </a:r>
            <a:endParaRPr sz="1895" b="0" i="0">
              <a:solidFill>
                <a:srgbClr val="10243C"/>
              </a:solidFill>
              <a:latin typeface="Times New Roman" panose="02020603050405020304"/>
            </a:endParaRPr>
          </a:p>
        </p:txBody>
      </p:sp>
      <p:sp>
        <p:nvSpPr>
          <p:cNvPr id="83" name="Treatment type label"/>
          <p:cNvSpPr txBox="1"/>
          <p:nvPr/>
        </p:nvSpPr>
        <p:spPr>
          <a:xfrm>
            <a:off x="9559636" y="5509721"/>
            <a:ext cx="3237588" cy="327959"/>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Treatment</a:t>
            </a:r>
            <a:endParaRPr sz="1895" b="0" i="0">
              <a:solidFill>
                <a:srgbClr val="10243C"/>
              </a:solidFill>
              <a:latin typeface="Times New Roman" panose="02020603050405020304"/>
            </a:endParaRPr>
          </a:p>
        </p:txBody>
      </p:sp>
      <p:sp>
        <p:nvSpPr>
          <p:cNvPr id="84" name="Treatment bar track"/>
          <p:cNvSpPr/>
          <p:nvPr/>
        </p:nvSpPr>
        <p:spPr>
          <a:xfrm>
            <a:off x="12906602" y="5586245"/>
            <a:ext cx="3171961" cy="163979"/>
          </a:xfrm>
          <a:prstGeom prst="rect">
            <a:avLst/>
          </a:prstGeom>
          <a:solidFill>
            <a:srgbClr val="ECE6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reatment count bar"/>
          <p:cNvSpPr/>
          <p:nvPr/>
        </p:nvSpPr>
        <p:spPr>
          <a:xfrm>
            <a:off x="12906602" y="5586245"/>
            <a:ext cx="924114" cy="16397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reatment count and percentage"/>
          <p:cNvSpPr txBox="1"/>
          <p:nvPr/>
        </p:nvSpPr>
        <p:spPr>
          <a:xfrm>
            <a:off x="16187942" y="5498789"/>
            <a:ext cx="1389100" cy="338891"/>
          </a:xfrm>
          <a:prstGeom prst="rect">
            <a:avLst/>
          </a:prstGeom>
          <a:noFill/>
          <a:effectLst/>
        </p:spPr>
        <p:txBody>
          <a:bodyPr wrap="square" lIns="0" tIns="0" rIns="0" bIns="0" anchor="t">
            <a:noAutofit/>
          </a:bodyPr>
          <a:lstStyle/>
          <a:p>
            <a:pPr algn="r">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37 · 10.4%</a:t>
            </a:r>
            <a:endParaRPr sz="1895" b="0" i="0">
              <a:solidFill>
                <a:srgbClr val="10243C"/>
              </a:solidFill>
              <a:latin typeface="Times New Roman" panose="02020603050405020304"/>
            </a:endParaRPr>
          </a:p>
        </p:txBody>
      </p:sp>
      <p:sp>
        <p:nvSpPr>
          <p:cNvPr id="87" name="Complication type label"/>
          <p:cNvSpPr txBox="1"/>
          <p:nvPr/>
        </p:nvSpPr>
        <p:spPr>
          <a:xfrm>
            <a:off x="9559636" y="5881409"/>
            <a:ext cx="3237588" cy="327959"/>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Complication</a:t>
            </a:r>
            <a:endParaRPr sz="1895" b="0" i="0">
              <a:solidFill>
                <a:srgbClr val="10243C"/>
              </a:solidFill>
              <a:latin typeface="Times New Roman" panose="02020603050405020304"/>
            </a:endParaRPr>
          </a:p>
        </p:txBody>
      </p:sp>
      <p:sp>
        <p:nvSpPr>
          <p:cNvPr id="88" name="Complication bar track"/>
          <p:cNvSpPr/>
          <p:nvPr/>
        </p:nvSpPr>
        <p:spPr>
          <a:xfrm>
            <a:off x="12906602" y="5957933"/>
            <a:ext cx="3171961" cy="163979"/>
          </a:xfrm>
          <a:prstGeom prst="rect">
            <a:avLst/>
          </a:prstGeom>
          <a:solidFill>
            <a:srgbClr val="ECE6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Complication count bar"/>
          <p:cNvSpPr/>
          <p:nvPr/>
        </p:nvSpPr>
        <p:spPr>
          <a:xfrm>
            <a:off x="12906602" y="5957933"/>
            <a:ext cx="624401" cy="16397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Complication count and percentage"/>
          <p:cNvSpPr txBox="1"/>
          <p:nvPr/>
        </p:nvSpPr>
        <p:spPr>
          <a:xfrm>
            <a:off x="16187942" y="5870477"/>
            <a:ext cx="1389100" cy="338891"/>
          </a:xfrm>
          <a:prstGeom prst="rect">
            <a:avLst/>
          </a:prstGeom>
          <a:noFill/>
          <a:effectLst/>
        </p:spPr>
        <p:txBody>
          <a:bodyPr wrap="square" lIns="0" tIns="0" rIns="0" bIns="0" anchor="t">
            <a:noAutofit/>
          </a:bodyPr>
          <a:lstStyle/>
          <a:p>
            <a:pPr algn="r">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25 · 7.0%</a:t>
            </a:r>
            <a:endParaRPr sz="1895" b="0" i="0">
              <a:solidFill>
                <a:srgbClr val="10243C"/>
              </a:solidFill>
              <a:latin typeface="Times New Roman" panose="02020603050405020304"/>
            </a:endParaRPr>
          </a:p>
        </p:txBody>
      </p:sp>
      <p:sp>
        <p:nvSpPr>
          <p:cNvPr id="91" name="Treatment Response type label"/>
          <p:cNvSpPr txBox="1"/>
          <p:nvPr/>
        </p:nvSpPr>
        <p:spPr>
          <a:xfrm>
            <a:off x="9559636" y="6253096"/>
            <a:ext cx="3237588" cy="327959"/>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Treatment Response</a:t>
            </a:r>
            <a:endParaRPr sz="1895" b="0" i="0">
              <a:solidFill>
                <a:srgbClr val="10243C"/>
              </a:solidFill>
              <a:latin typeface="Times New Roman" panose="02020603050405020304"/>
            </a:endParaRPr>
          </a:p>
        </p:txBody>
      </p:sp>
      <p:sp>
        <p:nvSpPr>
          <p:cNvPr id="92" name="Treatment Response bar track"/>
          <p:cNvSpPr/>
          <p:nvPr/>
        </p:nvSpPr>
        <p:spPr>
          <a:xfrm>
            <a:off x="12906602" y="6329620"/>
            <a:ext cx="3171961" cy="163979"/>
          </a:xfrm>
          <a:prstGeom prst="rect">
            <a:avLst/>
          </a:prstGeom>
          <a:solidFill>
            <a:srgbClr val="ECE6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reatment Response count bar"/>
          <p:cNvSpPr/>
          <p:nvPr/>
        </p:nvSpPr>
        <p:spPr>
          <a:xfrm>
            <a:off x="12906602" y="6329620"/>
            <a:ext cx="399617" cy="16397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Treatment Response count and percentage"/>
          <p:cNvSpPr txBox="1"/>
          <p:nvPr/>
        </p:nvSpPr>
        <p:spPr>
          <a:xfrm>
            <a:off x="16187942" y="6242164"/>
            <a:ext cx="1389100" cy="338891"/>
          </a:xfrm>
          <a:prstGeom prst="rect">
            <a:avLst/>
          </a:prstGeom>
          <a:noFill/>
          <a:effectLst/>
        </p:spPr>
        <p:txBody>
          <a:bodyPr wrap="square" lIns="0" tIns="0" rIns="0" bIns="0" anchor="t">
            <a:noAutofit/>
          </a:bodyPr>
          <a:lstStyle/>
          <a:p>
            <a:pPr algn="r">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16 · 4.5%</a:t>
            </a:r>
            <a:endParaRPr sz="1895" b="0" i="0">
              <a:solidFill>
                <a:srgbClr val="10243C"/>
              </a:solidFill>
              <a:latin typeface="Times New Roman" panose="02020603050405020304"/>
            </a:endParaRPr>
          </a:p>
        </p:txBody>
      </p:sp>
      <p:sp>
        <p:nvSpPr>
          <p:cNvPr id="95" name="Prognosis type label"/>
          <p:cNvSpPr txBox="1"/>
          <p:nvPr/>
        </p:nvSpPr>
        <p:spPr>
          <a:xfrm>
            <a:off x="9559636" y="6624784"/>
            <a:ext cx="3237588" cy="327959"/>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Prognosis</a:t>
            </a:r>
            <a:endParaRPr sz="1895" b="0" i="0">
              <a:solidFill>
                <a:srgbClr val="10243C"/>
              </a:solidFill>
              <a:latin typeface="Times New Roman" panose="02020603050405020304"/>
            </a:endParaRPr>
          </a:p>
        </p:txBody>
      </p:sp>
      <p:sp>
        <p:nvSpPr>
          <p:cNvPr id="96" name="Prognosis bar track"/>
          <p:cNvSpPr/>
          <p:nvPr/>
        </p:nvSpPr>
        <p:spPr>
          <a:xfrm>
            <a:off x="12906602" y="6701308"/>
            <a:ext cx="3171961" cy="163979"/>
          </a:xfrm>
          <a:prstGeom prst="rect">
            <a:avLst/>
          </a:prstGeom>
          <a:solidFill>
            <a:srgbClr val="ECE6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Prognosis count bar"/>
          <p:cNvSpPr/>
          <p:nvPr/>
        </p:nvSpPr>
        <p:spPr>
          <a:xfrm>
            <a:off x="12906602" y="6701308"/>
            <a:ext cx="274736" cy="16397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Prognosis count and percentage"/>
          <p:cNvSpPr txBox="1"/>
          <p:nvPr/>
        </p:nvSpPr>
        <p:spPr>
          <a:xfrm>
            <a:off x="16187942" y="6613852"/>
            <a:ext cx="1389100" cy="338891"/>
          </a:xfrm>
          <a:prstGeom prst="rect">
            <a:avLst/>
          </a:prstGeom>
          <a:noFill/>
          <a:effectLst/>
        </p:spPr>
        <p:txBody>
          <a:bodyPr wrap="square" lIns="0" tIns="0" rIns="0" bIns="0" anchor="t">
            <a:noAutofit/>
          </a:bodyPr>
          <a:lstStyle/>
          <a:p>
            <a:pPr algn="r">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11 · 3.1%</a:t>
            </a:r>
            <a:endParaRPr sz="1895" b="0" i="0">
              <a:solidFill>
                <a:srgbClr val="10243C"/>
              </a:solidFill>
              <a:latin typeface="Times New Roman" panose="02020603050405020304"/>
            </a:endParaRPr>
          </a:p>
        </p:txBody>
      </p:sp>
      <p:sp>
        <p:nvSpPr>
          <p:cNvPr id="99" name="Genetics type label"/>
          <p:cNvSpPr txBox="1"/>
          <p:nvPr/>
        </p:nvSpPr>
        <p:spPr>
          <a:xfrm>
            <a:off x="9559636" y="6996471"/>
            <a:ext cx="3237588" cy="327959"/>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Genetics</a:t>
            </a:r>
            <a:endParaRPr sz="1895" b="0" i="0">
              <a:solidFill>
                <a:srgbClr val="10243C"/>
              </a:solidFill>
              <a:latin typeface="Times New Roman" panose="02020603050405020304"/>
            </a:endParaRPr>
          </a:p>
        </p:txBody>
      </p:sp>
      <p:sp>
        <p:nvSpPr>
          <p:cNvPr id="100" name="Genetics bar track"/>
          <p:cNvSpPr/>
          <p:nvPr/>
        </p:nvSpPr>
        <p:spPr>
          <a:xfrm>
            <a:off x="12906602" y="7072995"/>
            <a:ext cx="3171961" cy="163979"/>
          </a:xfrm>
          <a:prstGeom prst="rect">
            <a:avLst/>
          </a:prstGeom>
          <a:solidFill>
            <a:srgbClr val="ECE6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Genetics count bar"/>
          <p:cNvSpPr/>
          <p:nvPr/>
        </p:nvSpPr>
        <p:spPr>
          <a:xfrm>
            <a:off x="12906602" y="7072995"/>
            <a:ext cx="174832" cy="16397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Genetics count and percentage"/>
          <p:cNvSpPr txBox="1"/>
          <p:nvPr/>
        </p:nvSpPr>
        <p:spPr>
          <a:xfrm>
            <a:off x="16187942" y="6985539"/>
            <a:ext cx="1389100" cy="338891"/>
          </a:xfrm>
          <a:prstGeom prst="rect">
            <a:avLst/>
          </a:prstGeom>
          <a:noFill/>
          <a:effectLst/>
        </p:spPr>
        <p:txBody>
          <a:bodyPr wrap="square" lIns="0" tIns="0" rIns="0" bIns="0" anchor="t">
            <a:noAutofit/>
          </a:bodyPr>
          <a:lstStyle/>
          <a:p>
            <a:pPr algn="r">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7 · 2.0%</a:t>
            </a:r>
            <a:endParaRPr sz="1895" b="0" i="0">
              <a:solidFill>
                <a:srgbClr val="10243C"/>
              </a:solidFill>
              <a:latin typeface="Times New Roman" panose="02020603050405020304"/>
            </a:endParaRPr>
          </a:p>
        </p:txBody>
      </p:sp>
      <p:sp>
        <p:nvSpPr>
          <p:cNvPr id="103" name="Other type label"/>
          <p:cNvSpPr txBox="1"/>
          <p:nvPr/>
        </p:nvSpPr>
        <p:spPr>
          <a:xfrm>
            <a:off x="9559636" y="7368159"/>
            <a:ext cx="3237588" cy="327959"/>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Other</a:t>
            </a:r>
            <a:endParaRPr sz="1895" b="0" i="0">
              <a:solidFill>
                <a:srgbClr val="10243C"/>
              </a:solidFill>
              <a:latin typeface="Times New Roman" panose="02020603050405020304"/>
            </a:endParaRPr>
          </a:p>
        </p:txBody>
      </p:sp>
      <p:sp>
        <p:nvSpPr>
          <p:cNvPr id="104" name="Other bar track"/>
          <p:cNvSpPr/>
          <p:nvPr/>
        </p:nvSpPr>
        <p:spPr>
          <a:xfrm>
            <a:off x="12906602" y="7444683"/>
            <a:ext cx="3171961" cy="163979"/>
          </a:xfrm>
          <a:prstGeom prst="rect">
            <a:avLst/>
          </a:prstGeom>
          <a:solidFill>
            <a:srgbClr val="ECE6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Other count bar"/>
          <p:cNvSpPr/>
          <p:nvPr/>
        </p:nvSpPr>
        <p:spPr>
          <a:xfrm>
            <a:off x="12906602" y="7444683"/>
            <a:ext cx="24976" cy="16397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Other count and percentage"/>
          <p:cNvSpPr txBox="1"/>
          <p:nvPr/>
        </p:nvSpPr>
        <p:spPr>
          <a:xfrm>
            <a:off x="16187942" y="7357227"/>
            <a:ext cx="1389100" cy="338891"/>
          </a:xfrm>
          <a:prstGeom prst="rect">
            <a:avLst/>
          </a:prstGeom>
          <a:noFill/>
          <a:effectLst/>
        </p:spPr>
        <p:txBody>
          <a:bodyPr wrap="square" lIns="0" tIns="0" rIns="0" bIns="0" anchor="t">
            <a:noAutofit/>
          </a:bodyPr>
          <a:lstStyle/>
          <a:p>
            <a:pPr algn="r">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1 · 0.3%</a:t>
            </a:r>
            <a:endParaRPr sz="1895" b="0" i="0">
              <a:solidFill>
                <a:srgbClr val="10243C"/>
              </a:solidFill>
              <a:latin typeface="Times New Roman" panose="02020603050405020304"/>
            </a:endParaRPr>
          </a:p>
        </p:txBody>
      </p:sp>
      <p:sp>
        <p:nvSpPr>
          <p:cNvPr id="107" name="Distribution rounding note"/>
          <p:cNvSpPr txBox="1"/>
          <p:nvPr/>
        </p:nvSpPr>
        <p:spPr>
          <a:xfrm>
            <a:off x="9559636" y="7805438"/>
            <a:ext cx="8006468" cy="306095"/>
          </a:xfrm>
          <a:prstGeom prst="rect">
            <a:avLst/>
          </a:prstGeom>
          <a:noFill/>
          <a:effectLst/>
        </p:spPr>
        <p:txBody>
          <a:bodyPr wrap="square" lIns="0" tIns="0" rIns="0" bIns="0" anchor="t">
            <a:noAutofit/>
          </a:bodyPr>
          <a:lstStyle/>
          <a:p>
            <a:pPr algn="l">
              <a:lnSpc>
                <a:spcPct val="104000"/>
              </a:lnSpc>
              <a:spcBef>
                <a:spcPts val="0"/>
              </a:spcBef>
              <a:spcAft>
                <a:spcPts val="0"/>
              </a:spcAft>
              <a:defRPr sz="1635" b="0" i="0">
                <a:solidFill>
                  <a:srgbClr val="5D5B55"/>
                </a:solidFill>
                <a:latin typeface="Times New Roman" panose="02020603050405020304"/>
              </a:defRPr>
            </a:pPr>
            <a:r>
              <a:rPr sz="1635" b="0" i="0">
                <a:solidFill>
                  <a:srgbClr val="5D5B55"/>
                </a:solidFill>
                <a:latin typeface="Times New Roman" panose="02020603050405020304"/>
              </a:rPr>
              <a:t>One type per question. Percentages are rounded.</a:t>
            </a:r>
            <a:endParaRPr sz="1635" b="0" i="0">
              <a:solidFill>
                <a:srgbClr val="5D5B55"/>
              </a:solidFill>
              <a:latin typeface="Times New Roman" panose="02020603050405020304"/>
            </a:endParaRPr>
          </a:p>
        </p:txBody>
      </p:sp>
      <p:sp>
        <p:nvSpPr>
          <p:cNvPr id="108" name="Strict selection rule band"/>
          <p:cNvSpPr/>
          <p:nvPr/>
        </p:nvSpPr>
        <p:spPr>
          <a:xfrm>
            <a:off x="393760" y="8275514"/>
            <a:ext cx="17500478" cy="787103"/>
          </a:xfrm>
          <a:prstGeom prst="roundRect">
            <a:avLst>
              <a:gd name="adj" fmla="val 3500"/>
            </a:avLst>
          </a:prstGeom>
          <a:solidFill>
            <a:srgbClr val="F0F3E9"/>
          </a:solidFill>
          <a:ln w="10937">
            <a:solidFill>
              <a:srgbClr val="A6B8A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109" name="Strict selection icon"/>
          <p:cNvGrpSpPr/>
          <p:nvPr/>
        </p:nvGrpSpPr>
        <p:grpSpPr>
          <a:xfrm>
            <a:off x="924900" y="8522139"/>
            <a:ext cx="303414" cy="365566"/>
            <a:chOff x="924900" y="8522139"/>
            <a:chExt cx="303414" cy="365566"/>
          </a:xfrm>
        </p:grpSpPr>
        <p:sp>
          <p:nvSpPr>
            <p:cNvPr id="110" name="Strict selection icon bar"/>
            <p:cNvSpPr/>
            <p:nvPr/>
          </p:nvSpPr>
          <p:spPr>
            <a:xfrm>
              <a:off x="924900" y="8738156"/>
              <a:ext cx="70658" cy="14954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Strict selection icon bar"/>
            <p:cNvSpPr/>
            <p:nvPr/>
          </p:nvSpPr>
          <p:spPr>
            <a:xfrm>
              <a:off x="1041278" y="8630148"/>
              <a:ext cx="70658" cy="257557"/>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Strict selection icon bar"/>
            <p:cNvSpPr/>
            <p:nvPr/>
          </p:nvSpPr>
          <p:spPr>
            <a:xfrm>
              <a:off x="1157656" y="8522139"/>
              <a:ext cx="70658" cy="365565"/>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cxnSp>
        <p:nvCxnSpPr>
          <p:cNvPr id="113" name="Selection icon divider"/>
          <p:cNvCxnSpPr/>
          <p:nvPr/>
        </p:nvCxnSpPr>
        <p:spPr>
          <a:xfrm>
            <a:off x="1564105" y="8406698"/>
            <a:ext cx="0" cy="535667"/>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4" name="Strict selection rule"/>
          <p:cNvSpPr txBox="1"/>
          <p:nvPr/>
        </p:nvSpPr>
        <p:spPr>
          <a:xfrm>
            <a:off x="1881301" y="8373902"/>
            <a:ext cx="15542612" cy="404483"/>
          </a:xfrm>
          <a:prstGeom prst="rect">
            <a:avLst/>
          </a:prstGeom>
          <a:noFill/>
          <a:effectLst/>
        </p:spPr>
        <p:txBody>
          <a:bodyPr wrap="square" lIns="0" tIns="0" rIns="0" bIns="0" anchor="t">
            <a:noAutofit/>
          </a:bodyPr>
          <a:lstStyle/>
          <a:p>
            <a:pPr algn="ctr">
              <a:lnSpc>
                <a:spcPct val="104000"/>
              </a:lnSpc>
              <a:spcBef>
                <a:spcPts val="0"/>
              </a:spcBef>
              <a:spcAft>
                <a:spcPts val="0"/>
              </a:spcAft>
              <a:defRPr sz="2585" b="1" i="0">
                <a:solidFill>
                  <a:srgbClr val="124936"/>
                </a:solidFill>
                <a:latin typeface="Times New Roman" panose="02020603050405020304"/>
              </a:defRPr>
            </a:pPr>
            <a:r>
              <a:rPr sz="2585" b="1" i="0">
                <a:solidFill>
                  <a:srgbClr val="124936"/>
                </a:solidFill>
                <a:latin typeface="Times New Roman" panose="02020603050405020304"/>
              </a:rPr>
              <a:t>Gemini 3.1 Pro Preview &lt; 6 AND Claude Opus 5 &lt; 6</a:t>
            </a:r>
            <a:endParaRPr sz="2585" b="1" i="0">
              <a:solidFill>
                <a:srgbClr val="124936"/>
              </a:solidFill>
              <a:latin typeface="Times New Roman" panose="02020603050405020304"/>
            </a:endParaRPr>
          </a:p>
        </p:txBody>
      </p:sp>
      <p:sp>
        <p:nvSpPr>
          <p:cNvPr id="115" name="Strict selection explanation"/>
          <p:cNvSpPr txBox="1"/>
          <p:nvPr/>
        </p:nvSpPr>
        <p:spPr>
          <a:xfrm>
            <a:off x="1881301" y="8778385"/>
            <a:ext cx="15542612" cy="284231"/>
          </a:xfrm>
          <a:prstGeom prst="rect">
            <a:avLst/>
          </a:prstGeom>
          <a:noFill/>
          <a:effectLst/>
        </p:spPr>
        <p:txBody>
          <a:bodyPr wrap="square" lIns="0" tIns="0" rIns="0" bIns="0" anchor="t">
            <a:noAutofit/>
          </a:bodyPr>
          <a:lstStyle/>
          <a:p>
            <a:pPr algn="ctr">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Scores out of 10 · A score of 6 is excluded · No linked-question exceptions</a:t>
            </a:r>
            <a:endParaRPr sz="1895" b="0" i="0">
              <a:solidFill>
                <a:srgbClr val="10243C"/>
              </a:solidFill>
              <a:latin typeface="Times New Roman" panose="02020603050405020304"/>
            </a:endParaRPr>
          </a:p>
        </p:txBody>
      </p:sp>
      <p:sp>
        <p:nvSpPr>
          <p:cNvPr id="116" name="Dataset and evaluation version footnote"/>
          <p:cNvSpPr txBox="1"/>
          <p:nvPr/>
        </p:nvSpPr>
        <p:spPr>
          <a:xfrm>
            <a:off x="415636" y="9150073"/>
            <a:ext cx="10904985" cy="251435"/>
          </a:xfrm>
          <a:prstGeom prst="rect">
            <a:avLst/>
          </a:prstGeom>
          <a:noFill/>
          <a:effectLst/>
        </p:spPr>
        <p:txBody>
          <a:bodyPr wrap="square" lIns="0" tIns="0" rIns="0" bIns="0" anchor="t">
            <a:noAutofit/>
          </a:bodyPr>
          <a:lstStyle/>
          <a:p>
            <a:pPr algn="l">
              <a:lnSpc>
                <a:spcPct val="104000"/>
              </a:lnSpc>
              <a:spcBef>
                <a:spcPts val="0"/>
              </a:spcBef>
              <a:spcAft>
                <a:spcPts val="0"/>
              </a:spcAft>
              <a:defRPr sz="1465" b="0" i="0">
                <a:solidFill>
                  <a:srgbClr val="10243C"/>
                </a:solidFill>
                <a:latin typeface="Times New Roman" panose="02020603050405020304"/>
              </a:defRPr>
            </a:pPr>
            <a:r>
              <a:rPr sz="1465" b="0" i="0">
                <a:solidFill>
                  <a:srgbClr val="10243C"/>
                </a:solidFill>
                <a:latin typeface="Times New Roman" panose="02020603050405020304"/>
              </a:rPr>
              <a:t>Dataset v1.3.0 · Question text/rubrics v1.2.1 · Historical model scores v1.1.0.</a:t>
            </a:r>
            <a:endParaRPr sz="1465" b="0" i="0">
              <a:solidFill>
                <a:srgbClr val="10243C"/>
              </a:solidFill>
              <a:latin typeface="Times New Roman" panose="02020603050405020304"/>
            </a:endParaRPr>
          </a:p>
        </p:txBody>
      </p:sp>
      <p:sp>
        <p:nvSpPr>
          <p:cNvPr id="117" name="Historical evaluation footnote"/>
          <p:cNvSpPr txBox="1"/>
          <p:nvPr/>
        </p:nvSpPr>
        <p:spPr>
          <a:xfrm>
            <a:off x="415636" y="9379645"/>
            <a:ext cx="10904985" cy="262367"/>
          </a:xfrm>
          <a:prstGeom prst="rect">
            <a:avLst/>
          </a:prstGeom>
          <a:noFill/>
          <a:effectLst/>
        </p:spPr>
        <p:txBody>
          <a:bodyPr wrap="square" lIns="0" tIns="0" rIns="0" bIns="0" anchor="t">
            <a:noAutofit/>
          </a:bodyPr>
          <a:lstStyle/>
          <a:p>
            <a:pPr algn="l">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Selected challenge set; revised questions have not been rerun. Not a general model ranking.</a:t>
            </a:r>
            <a:endParaRPr sz="1375" b="0" i="0">
              <a:solidFill>
                <a:srgbClr val="10243C"/>
              </a:solidFill>
              <a:latin typeface="Times New Roman" panose="02020603050405020304"/>
            </a:endParaRPr>
          </a:p>
        </p:txBody>
      </p:sp>
      <p:sp>
        <p:nvSpPr>
          <p:cNvPr id="118" name="Data source"/>
          <p:cNvSpPr txBox="1"/>
          <p:nvPr/>
        </p:nvSpPr>
        <p:spPr>
          <a:xfrm>
            <a:off x="11375311" y="9150073"/>
            <a:ext cx="6201732" cy="251435"/>
          </a:xfrm>
          <a:prstGeom prst="rect">
            <a:avLst/>
          </a:prstGeom>
          <a:noFill/>
          <a:effectLst/>
        </p:spPr>
        <p:txBody>
          <a:bodyPr wrap="square" lIns="0" tIns="0" rIns="0" bIns="0" anchor="t">
            <a:noAutofit/>
          </a:bodyPr>
          <a:lstStyle/>
          <a:p>
            <a:pPr algn="r">
              <a:lnSpc>
                <a:spcPct val="104000"/>
              </a:lnSpc>
              <a:spcBef>
                <a:spcPts val="0"/>
              </a:spcBef>
              <a:spcAft>
                <a:spcPts val="0"/>
              </a:spcAft>
              <a:defRPr sz="1290" b="0" i="0">
                <a:solidFill>
                  <a:srgbClr val="10243C"/>
                </a:solidFill>
                <a:latin typeface="Times New Roman" panose="02020603050405020304"/>
              </a:defRPr>
            </a:pPr>
            <a:r>
              <a:rPr sz="1130" b="0" i="0">
                <a:solidFill>
                  <a:srgbClr val="10243C"/>
                </a:solidFill>
                <a:latin typeface="Times New Roman" panose="02020603050405020304"/>
                <a:hlinkClick r:id="rId5"/>
              </a:rPr>
              <a:t>Source: Hugging Face · Medical-Doctors-Last-Exam/mdle</a:t>
            </a:r>
            <a:endParaRPr sz="1290" b="0" i="0">
              <a:solidFill>
                <a:srgbClr val="10243C"/>
              </a:solidFill>
              <a:latin typeface="Times New Roman" panose="02020603050405020304"/>
              <a:hlinkClick r:id="rId5"/>
            </a:endParaRPr>
          </a:p>
        </p:txBody>
      </p:sp>
      <p:sp>
        <p:nvSpPr>
          <p:cNvPr id="119" name="Clinical image credits"/>
          <p:cNvSpPr txBox="1"/>
          <p:nvPr/>
        </p:nvSpPr>
        <p:spPr>
          <a:xfrm>
            <a:off x="11375311" y="9379645"/>
            <a:ext cx="6201732" cy="240503"/>
          </a:xfrm>
          <a:prstGeom prst="rect">
            <a:avLst/>
          </a:prstGeom>
          <a:noFill/>
          <a:effectLst/>
        </p:spPr>
        <p:txBody>
          <a:bodyPr wrap="square" lIns="0" tIns="0" rIns="0" bIns="0" anchor="t">
            <a:noAutofit/>
          </a:bodyPr>
          <a:lstStyle/>
          <a:p>
            <a:pPr algn="r">
              <a:lnSpc>
                <a:spcPct val="104000"/>
              </a:lnSpc>
              <a:spcBef>
                <a:spcPts val="0"/>
              </a:spcBef>
              <a:spcAft>
                <a:spcPts val="0"/>
              </a:spcAft>
              <a:defRPr sz="1290" b="0" i="0">
                <a:solidFill>
                  <a:srgbClr val="10243C"/>
                </a:solidFill>
                <a:latin typeface="Times New Roman" panose="02020603050405020304"/>
              </a:defRPr>
            </a:pPr>
            <a:r>
              <a:rPr sz="1290" b="0" i="0">
                <a:solidFill>
                  <a:srgbClr val="10243C"/>
                </a:solidFill>
                <a:latin typeface="Times New Roman" panose="02020603050405020304"/>
              </a:rPr>
              <a:t>Images: Recio Ibarz et al.; Alabdouli et al. (2026) · CC BY</a:t>
            </a:r>
            <a:endParaRPr sz="1290" b="0" i="0">
              <a:solidFill>
                <a:srgbClr val="10243C"/>
              </a:solidFill>
              <a:latin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BF8F1"/>
        </a:solidFill>
        <a:effectLst/>
      </p:bgPr>
    </p:bg>
    <p:spTree>
      <p:nvGrpSpPr>
        <p:cNvPr id="1" name=""/>
        <p:cNvGrpSpPr/>
        <p:nvPr/>
      </p:nvGrpSpPr>
      <p:grpSpPr/>
      <p:sp>
        <p:nvSpPr>
          <p:cNvPr id="2" name="Masthead gradient"/>
          <p:cNvSpPr/>
          <p:nvPr/>
        </p:nvSpPr>
        <p:spPr>
          <a:xfrm>
            <a:off x="0" y="0"/>
            <a:ext cx="18288000" cy="1530478"/>
          </a:xfrm>
          <a:prstGeom prst="rect">
            <a:avLst/>
          </a:prstGeom>
          <a:blipFill rotWithShape="1">
            <a:blip r:embed="rId1"/>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ain title"/>
          <p:cNvSpPr txBox="1"/>
          <p:nvPr/>
        </p:nvSpPr>
        <p:spPr>
          <a:xfrm>
            <a:off x="503138" y="163979"/>
            <a:ext cx="14656650" cy="830831"/>
          </a:xfrm>
          <a:prstGeom prst="rect">
            <a:avLst/>
          </a:prstGeom>
          <a:noFill/>
          <a:effectLst/>
        </p:spPr>
        <p:txBody>
          <a:bodyPr wrap="square" lIns="0" tIns="0" rIns="0" bIns="0" anchor="t">
            <a:noAutofit/>
          </a:bodyPr>
          <a:lstStyle/>
          <a:p>
            <a:pPr algn="l">
              <a:lnSpc>
                <a:spcPct val="104000"/>
              </a:lnSpc>
              <a:spcBef>
                <a:spcPts val="0"/>
              </a:spcBef>
              <a:spcAft>
                <a:spcPts val="0"/>
              </a:spcAft>
              <a:defRPr sz="5340" b="1" i="0">
                <a:solidFill>
                  <a:srgbClr val="FFFDFA"/>
                </a:solidFill>
                <a:latin typeface="Times New Roman" panose="02020603050405020304"/>
              </a:defRPr>
            </a:pPr>
            <a:r>
              <a:rPr sz="5340" b="1" i="0">
                <a:solidFill>
                  <a:srgbClr val="FFFDFA"/>
                </a:solidFill>
                <a:latin typeface="Times New Roman" panose="02020603050405020304"/>
              </a:rPr>
              <a:t>Medical Doctor’s Last Exam</a:t>
            </a:r>
            <a:endParaRPr sz="5340" b="1" i="0">
              <a:solidFill>
                <a:srgbClr val="FFFDFA"/>
              </a:solidFill>
              <a:latin typeface="Times New Roman" panose="02020603050405020304"/>
            </a:endParaRPr>
          </a:p>
        </p:txBody>
      </p:sp>
      <p:sp>
        <p:nvSpPr>
          <p:cNvPr id="4" name="Page subtitle"/>
          <p:cNvSpPr txBox="1"/>
          <p:nvPr/>
        </p:nvSpPr>
        <p:spPr>
          <a:xfrm>
            <a:off x="503138" y="951082"/>
            <a:ext cx="14711339" cy="513803"/>
          </a:xfrm>
          <a:prstGeom prst="rect">
            <a:avLst/>
          </a:prstGeom>
          <a:noFill/>
          <a:effectLst/>
        </p:spPr>
        <p:txBody>
          <a:bodyPr wrap="square" lIns="0" tIns="0" rIns="0" bIns="0" anchor="t">
            <a:noAutofit/>
          </a:bodyPr>
          <a:lstStyle/>
          <a:p>
            <a:pPr algn="l">
              <a:lnSpc>
                <a:spcPct val="104000"/>
              </a:lnSpc>
              <a:spcBef>
                <a:spcPts val="0"/>
              </a:spcBef>
              <a:spcAft>
                <a:spcPts val="0"/>
              </a:spcAft>
              <a:defRPr sz="2755" b="0" i="1">
                <a:solidFill>
                  <a:srgbClr val="FFFDFA"/>
                </a:solidFill>
                <a:latin typeface="Times New Roman" panose="02020603050405020304"/>
              </a:defRPr>
            </a:pPr>
            <a:r>
              <a:rPr sz="2755" b="0" i="1">
                <a:solidFill>
                  <a:srgbClr val="FFFDFA"/>
                </a:solidFill>
                <a:latin typeface="Times New Roman" panose="02020603050405020304"/>
              </a:rPr>
              <a:t>One clinical question: which MRI clue matters?</a:t>
            </a:r>
            <a:endParaRPr sz="2755" b="0" i="1">
              <a:solidFill>
                <a:srgbClr val="FFFDFA"/>
              </a:solidFill>
              <a:latin typeface="Times New Roman" panose="02020603050405020304"/>
            </a:endParaRPr>
          </a:p>
        </p:txBody>
      </p:sp>
      <p:sp>
        <p:nvSpPr>
          <p:cNvPr id="5" name="MDLE wordmark frame"/>
          <p:cNvSpPr/>
          <p:nvPr/>
        </p:nvSpPr>
        <p:spPr>
          <a:xfrm>
            <a:off x="16023875" y="242765"/>
            <a:ext cx="1782861" cy="1161052"/>
          </a:xfrm>
          <a:prstGeom prst="rect">
            <a:avLst/>
          </a:prstGeom>
          <a:noFill/>
          <a:ln w="10937">
            <a:solidFill>
              <a:srgbClr val="EADA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MDLE wordmark"/>
          <p:cNvSpPr txBox="1"/>
          <p:nvPr/>
        </p:nvSpPr>
        <p:spPr>
          <a:xfrm>
            <a:off x="16144191" y="411645"/>
            <a:ext cx="1542229" cy="833846"/>
          </a:xfrm>
          <a:prstGeom prst="rect">
            <a:avLst/>
          </a:prstGeom>
          <a:noFill/>
          <a:effectLst/>
        </p:spPr>
        <p:txBody>
          <a:bodyPr wrap="square" lIns="0" tIns="0" rIns="0" bIns="0" anchor="t">
            <a:noAutofit/>
          </a:bodyPr>
          <a:lstStyle/>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MEDICAL</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DOCTOR’S</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LAST EXAM</a:t>
            </a:r>
            <a:endParaRPr sz="1830" b="1" i="0">
              <a:solidFill>
                <a:srgbClr val="FFFDFA"/>
              </a:solidFill>
              <a:latin typeface="Times New Roman" panose="02020603050405020304"/>
            </a:endParaRPr>
          </a:p>
        </p:txBody>
      </p:sp>
      <p:sp>
        <p:nvSpPr>
          <p:cNvPr id="7" name="Footer gradient"/>
          <p:cNvSpPr/>
          <p:nvPr/>
        </p:nvSpPr>
        <p:spPr>
          <a:xfrm>
            <a:off x="0" y="9642012"/>
            <a:ext cx="18288000" cy="644987"/>
          </a:xfrm>
          <a:prstGeom prst="rect">
            <a:avLst/>
          </a:prstGeom>
          <a:blipFill rotWithShape="1">
            <a:blip r:embed="rId2"/>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Footer left rule"/>
          <p:cNvCxnSpPr/>
          <p:nvPr/>
        </p:nvCxnSpPr>
        <p:spPr>
          <a:xfrm>
            <a:off x="2275062" y="9964506"/>
            <a:ext cx="2811014"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9" name="Footer left diamond"/>
          <p:cNvSpPr/>
          <p:nvPr/>
        </p:nvSpPr>
        <p:spPr>
          <a:xfrm>
            <a:off x="5173578" y="9898914"/>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Footer right rule"/>
          <p:cNvCxnSpPr/>
          <p:nvPr/>
        </p:nvCxnSpPr>
        <p:spPr>
          <a:xfrm>
            <a:off x="13136296" y="9964506"/>
            <a:ext cx="2887579"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 name="Footer right diamond"/>
          <p:cNvSpPr/>
          <p:nvPr/>
        </p:nvSpPr>
        <p:spPr>
          <a:xfrm>
            <a:off x="12928478" y="9898914"/>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ooter tagline"/>
          <p:cNvSpPr txBox="1"/>
          <p:nvPr/>
        </p:nvSpPr>
        <p:spPr>
          <a:xfrm>
            <a:off x="5665779" y="9751332"/>
            <a:ext cx="7109569"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495" b="0" i="1">
                <a:solidFill>
                  <a:srgbClr val="FFFDFA"/>
                </a:solidFill>
                <a:latin typeface="Times New Roman" panose="02020603050405020304"/>
              </a:defRPr>
            </a:pPr>
            <a:r>
              <a:rPr sz="2495" b="0" i="1">
                <a:solidFill>
                  <a:srgbClr val="FFFDFA"/>
                </a:solidFill>
                <a:latin typeface="Times New Roman" panose="02020603050405020304"/>
              </a:rPr>
              <a:t>A living benchmark for next-generation medical AI</a:t>
            </a:r>
            <a:endParaRPr sz="2495" b="0" i="1">
              <a:solidFill>
                <a:srgbClr val="FFFDFA"/>
              </a:solidFill>
              <a:latin typeface="Times New Roman" panose="02020603050405020304"/>
            </a:endParaRPr>
          </a:p>
        </p:txBody>
      </p:sp>
      <p:sp>
        <p:nvSpPr>
          <p:cNvPr id="13" name="Case vignette outline"/>
          <p:cNvSpPr/>
          <p:nvPr/>
        </p:nvSpPr>
        <p:spPr>
          <a:xfrm>
            <a:off x="404698" y="1639798"/>
            <a:ext cx="17478602" cy="1158790"/>
          </a:xfrm>
          <a:prstGeom prst="roundRect">
            <a:avLst>
              <a:gd name="adj" fmla="val 7500"/>
            </a:avLst>
          </a:prstGeom>
          <a:noFill/>
          <a:ln w="10937">
            <a:solidFill>
              <a:srgbClr val="BCA6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se vignette heading"/>
          <p:cNvSpPr txBox="1"/>
          <p:nvPr/>
        </p:nvSpPr>
        <p:spPr>
          <a:xfrm>
            <a:off x="415636" y="1672594"/>
            <a:ext cx="17456727"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CASE IN BRIEF</a:t>
            </a:r>
            <a:endParaRPr sz="2325" b="1" i="0">
              <a:solidFill>
                <a:srgbClr val="124936"/>
              </a:solidFill>
              <a:latin typeface="Times New Roman" panose="02020603050405020304"/>
            </a:endParaRPr>
          </a:p>
        </p:txBody>
      </p:sp>
      <p:cxnSp>
        <p:nvCxnSpPr>
          <p:cNvPr id="15" name="Case vignette left divider"/>
          <p:cNvCxnSpPr/>
          <p:nvPr/>
        </p:nvCxnSpPr>
        <p:spPr>
          <a:xfrm>
            <a:off x="656267" y="2033349"/>
            <a:ext cx="8345541"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cxnSp>
        <p:nvCxnSpPr>
          <p:cNvPr id="16" name="Case vignette right divider"/>
          <p:cNvCxnSpPr/>
          <p:nvPr/>
        </p:nvCxnSpPr>
        <p:spPr>
          <a:xfrm>
            <a:off x="9286191" y="2033349"/>
            <a:ext cx="8345541"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sp>
        <p:nvSpPr>
          <p:cNvPr id="17" name="Case vignette diamond"/>
          <p:cNvSpPr/>
          <p:nvPr/>
        </p:nvSpPr>
        <p:spPr>
          <a:xfrm>
            <a:off x="9072904" y="1962291"/>
            <a:ext cx="142191" cy="142115"/>
          </a:xfrm>
          <a:prstGeom prst="diamond">
            <a:avLst/>
          </a:prstGeom>
          <a:solidFill>
            <a:srgbClr val="B9A0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ase vignette text"/>
          <p:cNvSpPr txBox="1"/>
          <p:nvPr/>
        </p:nvSpPr>
        <p:spPr>
          <a:xfrm>
            <a:off x="656267" y="2142669"/>
            <a:ext cx="16997339" cy="623123"/>
          </a:xfrm>
          <a:prstGeom prst="rect">
            <a:avLst/>
          </a:prstGeom>
          <a:noFill/>
          <a:effectLst/>
        </p:spPr>
        <p:txBody>
          <a:bodyPr wrap="square" lIns="0" tIns="0" rIns="0" bIns="0" anchor="t">
            <a:noAutofit/>
          </a:bodyPr>
          <a:lstStyle/>
          <a:p>
            <a:pPr algn="ctr">
              <a:lnSpc>
                <a:spcPct val="104000"/>
              </a:lnSpc>
              <a:spcBef>
                <a:spcPts val="0"/>
              </a:spcBef>
              <a:spcAft>
                <a:spcPts val="0"/>
              </a:spcAft>
              <a:defRPr sz="2110" b="0" i="0">
                <a:solidFill>
                  <a:srgbClr val="10243C"/>
                </a:solidFill>
                <a:latin typeface="Times New Roman" panose="02020603050405020304"/>
              </a:defRPr>
            </a:pPr>
            <a:r>
              <a:rPr sz="2110" b="0" i="0">
                <a:solidFill>
                  <a:srgbClr val="10243C"/>
                </a:solidFill>
                <a:latin typeface="Times New Roman" panose="02020603050405020304"/>
              </a:rPr>
              <a:t>A neonate had a solid left neck mass. MRI suggested a well-defined border and laterally displaced carotid arteries. Surgery revealed no discrete capsule</a:t>
            </a:r>
            <a:endParaRPr sz="2110" b="0" i="0">
              <a:solidFill>
                <a:srgbClr val="10243C"/>
              </a:solidFill>
              <a:latin typeface="Times New Roman" panose="02020603050405020304"/>
            </a:endParaRPr>
          </a:p>
          <a:p>
            <a:pPr algn="ctr">
              <a:lnSpc>
                <a:spcPct val="104000"/>
              </a:lnSpc>
              <a:spcBef>
                <a:spcPts val="0"/>
              </a:spcBef>
              <a:spcAft>
                <a:spcPts val="0"/>
              </a:spcAft>
              <a:defRPr sz="2110" b="0" i="0">
                <a:solidFill>
                  <a:srgbClr val="10243C"/>
                </a:solidFill>
                <a:latin typeface="Times New Roman" panose="02020603050405020304"/>
              </a:defRPr>
            </a:pPr>
            <a:r>
              <a:rPr sz="2110" b="0" i="0">
                <a:solidFill>
                  <a:srgbClr val="10243C"/>
                </a:solidFill>
                <a:latin typeface="Times New Roman" panose="02020603050405020304"/>
              </a:rPr>
              <a:t>and encasement of both carotid arteries.</a:t>
            </a:r>
            <a:endParaRPr sz="2110" b="0" i="0">
              <a:solidFill>
                <a:srgbClr val="10243C"/>
              </a:solidFill>
              <a:latin typeface="Times New Roman" panose="02020603050405020304"/>
            </a:endParaRPr>
          </a:p>
        </p:txBody>
      </p:sp>
      <p:sp>
        <p:nvSpPr>
          <p:cNvPr id="19" name="Clinical evidence panel"/>
          <p:cNvSpPr/>
          <p:nvPr/>
        </p:nvSpPr>
        <p:spPr>
          <a:xfrm>
            <a:off x="404698" y="2918840"/>
            <a:ext cx="8826803" cy="5662769"/>
          </a:xfrm>
          <a:prstGeom prst="roundRect">
            <a:avLst>
              <a:gd name="adj" fmla="val 2400"/>
            </a:avLst>
          </a:prstGeom>
          <a:noFill/>
          <a:ln w="10937">
            <a:solidFill>
              <a:srgbClr val="BCA6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Clinical evidence heading"/>
          <p:cNvSpPr txBox="1"/>
          <p:nvPr/>
        </p:nvSpPr>
        <p:spPr>
          <a:xfrm>
            <a:off x="415636" y="2962568"/>
            <a:ext cx="8804928"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READ THE CLINICAL EVIDENCE</a:t>
            </a:r>
            <a:endParaRPr sz="2325" b="1" i="0">
              <a:solidFill>
                <a:srgbClr val="124936"/>
              </a:solidFill>
              <a:latin typeface="Times New Roman" panose="02020603050405020304"/>
            </a:endParaRPr>
          </a:p>
        </p:txBody>
      </p:sp>
      <p:cxnSp>
        <p:nvCxnSpPr>
          <p:cNvPr id="21" name="Clinical evidence left divider"/>
          <p:cNvCxnSpPr/>
          <p:nvPr/>
        </p:nvCxnSpPr>
        <p:spPr>
          <a:xfrm>
            <a:off x="656267" y="3323324"/>
            <a:ext cx="4019642"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cxnSp>
        <p:nvCxnSpPr>
          <p:cNvPr id="22" name="Clinical evidence right divider"/>
          <p:cNvCxnSpPr/>
          <p:nvPr/>
        </p:nvCxnSpPr>
        <p:spPr>
          <a:xfrm>
            <a:off x="4960291" y="3323324"/>
            <a:ext cx="4019642"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sp>
        <p:nvSpPr>
          <p:cNvPr id="23" name="Clinical evidence diamond"/>
          <p:cNvSpPr/>
          <p:nvPr/>
        </p:nvSpPr>
        <p:spPr>
          <a:xfrm>
            <a:off x="4747004" y="3252266"/>
            <a:ext cx="142191" cy="142115"/>
          </a:xfrm>
          <a:prstGeom prst="diamond">
            <a:avLst/>
          </a:prstGeom>
          <a:solidFill>
            <a:srgbClr val="B9A0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Axial MRI original clinical image backing"/>
          <p:cNvSpPr/>
          <p:nvPr/>
        </p:nvSpPr>
        <p:spPr>
          <a:xfrm>
            <a:off x="1181282" y="3487303"/>
            <a:ext cx="3379779" cy="3203072"/>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Axial MRI original clinical image" descr="image.png"/>
          <p:cNvPicPr>
            <a:picLocks noChangeAspect="1"/>
          </p:cNvPicPr>
          <p:nvPr/>
        </p:nvPicPr>
        <p:blipFill>
          <a:blip r:embed="rId3"/>
          <a:stretch>
            <a:fillRect/>
          </a:stretch>
        </p:blipFill>
        <p:spPr>
          <a:xfrm>
            <a:off x="1535205" y="3487303"/>
            <a:ext cx="2671932" cy="3203072"/>
          </a:xfrm>
          <a:prstGeom prst="rect">
            <a:avLst/>
          </a:prstGeom>
          <a:effectLst/>
        </p:spPr>
      </p:pic>
      <p:sp>
        <p:nvSpPr>
          <p:cNvPr id="26" name="Axial MRI gold frame"/>
          <p:cNvSpPr/>
          <p:nvPr/>
        </p:nvSpPr>
        <p:spPr>
          <a:xfrm>
            <a:off x="1181282" y="3487303"/>
            <a:ext cx="3379779" cy="3203072"/>
          </a:xfrm>
          <a:prstGeom prst="rect">
            <a:avLst/>
          </a:prstGeom>
          <a:noFill/>
          <a:ln w="14219">
            <a:solidFill>
              <a:srgbClr val="BBA57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Axial MRI caption"/>
          <p:cNvSpPr txBox="1"/>
          <p:nvPr/>
        </p:nvSpPr>
        <p:spPr>
          <a:xfrm>
            <a:off x="1181282" y="6755968"/>
            <a:ext cx="3379779" cy="338891"/>
          </a:xfrm>
          <a:prstGeom prst="rect">
            <a:avLst/>
          </a:prstGeom>
          <a:noFill/>
          <a:effectLst/>
        </p:spPr>
        <p:txBody>
          <a:bodyPr wrap="square" lIns="0" tIns="0" rIns="0" bIns="0" anchor="t">
            <a:noAutofit/>
          </a:bodyPr>
          <a:lstStyle/>
          <a:p>
            <a:pPr algn="ctr">
              <a:lnSpc>
                <a:spcPct val="104000"/>
              </a:lnSpc>
              <a:spcBef>
                <a:spcPts val="0"/>
              </a:spcBef>
              <a:spcAft>
                <a:spcPts val="0"/>
              </a:spcAft>
              <a:defRPr sz="1895" b="1" i="0">
                <a:solidFill>
                  <a:srgbClr val="10243C"/>
                </a:solidFill>
                <a:latin typeface="Times New Roman" panose="02020603050405020304"/>
              </a:defRPr>
            </a:pPr>
            <a:r>
              <a:rPr sz="1895" b="1" i="0">
                <a:solidFill>
                  <a:srgbClr val="10243C"/>
                </a:solidFill>
                <a:latin typeface="Times New Roman" panose="02020603050405020304"/>
              </a:rPr>
              <a:t>Axial MRI</a:t>
            </a:r>
            <a:endParaRPr sz="1895" b="1" i="0">
              <a:solidFill>
                <a:srgbClr val="10243C"/>
              </a:solidFill>
              <a:latin typeface="Times New Roman" panose="02020603050405020304"/>
            </a:endParaRPr>
          </a:p>
        </p:txBody>
      </p:sp>
      <p:sp>
        <p:nvSpPr>
          <p:cNvPr id="28" name="Sagittal MRI original clinical image backing"/>
          <p:cNvSpPr/>
          <p:nvPr/>
        </p:nvSpPr>
        <p:spPr>
          <a:xfrm>
            <a:off x="5228267" y="3487303"/>
            <a:ext cx="3336028" cy="3203072"/>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9" name="Sagittal MRI original clinical image" descr="image.png"/>
          <p:cNvPicPr>
            <a:picLocks noChangeAspect="1"/>
          </p:cNvPicPr>
          <p:nvPr/>
        </p:nvPicPr>
        <p:blipFill>
          <a:blip r:embed="rId4"/>
          <a:srcRect b="4096"/>
          <a:stretch>
            <a:fillRect/>
          </a:stretch>
        </p:blipFill>
        <p:spPr>
          <a:xfrm>
            <a:off x="5503251" y="3487303"/>
            <a:ext cx="2786060" cy="3203072"/>
          </a:xfrm>
          <a:prstGeom prst="rect">
            <a:avLst/>
          </a:prstGeom>
          <a:effectLst/>
        </p:spPr>
      </p:pic>
      <p:sp>
        <p:nvSpPr>
          <p:cNvPr id="30" name="Sagittal MRI gold frame"/>
          <p:cNvSpPr/>
          <p:nvPr/>
        </p:nvSpPr>
        <p:spPr>
          <a:xfrm>
            <a:off x="5228267" y="3487303"/>
            <a:ext cx="3336028" cy="3203072"/>
          </a:xfrm>
          <a:prstGeom prst="rect">
            <a:avLst/>
          </a:prstGeom>
          <a:noFill/>
          <a:ln w="14219">
            <a:solidFill>
              <a:srgbClr val="BBA57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Sagittal MRI caption"/>
          <p:cNvSpPr txBox="1"/>
          <p:nvPr/>
        </p:nvSpPr>
        <p:spPr>
          <a:xfrm>
            <a:off x="5228267" y="6755968"/>
            <a:ext cx="3336028" cy="338891"/>
          </a:xfrm>
          <a:prstGeom prst="rect">
            <a:avLst/>
          </a:prstGeom>
          <a:noFill/>
          <a:effectLst/>
        </p:spPr>
        <p:txBody>
          <a:bodyPr wrap="square" lIns="0" tIns="0" rIns="0" bIns="0" anchor="t">
            <a:noAutofit/>
          </a:bodyPr>
          <a:lstStyle/>
          <a:p>
            <a:pPr algn="ctr">
              <a:lnSpc>
                <a:spcPct val="104000"/>
              </a:lnSpc>
              <a:spcBef>
                <a:spcPts val="0"/>
              </a:spcBef>
              <a:spcAft>
                <a:spcPts val="0"/>
              </a:spcAft>
              <a:defRPr sz="1895" b="1" i="0">
                <a:solidFill>
                  <a:srgbClr val="10243C"/>
                </a:solidFill>
                <a:latin typeface="Times New Roman" panose="02020603050405020304"/>
              </a:defRPr>
            </a:pPr>
            <a:r>
              <a:rPr sz="1895" b="1" i="0">
                <a:solidFill>
                  <a:srgbClr val="10243C"/>
                </a:solidFill>
                <a:latin typeface="Times New Roman" panose="02020603050405020304"/>
              </a:rPr>
              <a:t>Sagittal MRI</a:t>
            </a:r>
            <a:endParaRPr sz="1895" b="1" i="0">
              <a:solidFill>
                <a:srgbClr val="10243C"/>
              </a:solidFill>
              <a:latin typeface="Times New Roman" panose="02020603050405020304"/>
            </a:endParaRPr>
          </a:p>
        </p:txBody>
      </p:sp>
      <p:sp>
        <p:nvSpPr>
          <p:cNvPr id="32" name="Current question card"/>
          <p:cNvSpPr/>
          <p:nvPr/>
        </p:nvSpPr>
        <p:spPr>
          <a:xfrm>
            <a:off x="667205" y="7171383"/>
            <a:ext cx="8290851" cy="1268110"/>
          </a:xfrm>
          <a:prstGeom prst="roundRect">
            <a:avLst>
              <a:gd name="adj" fmla="val 6000"/>
            </a:avLst>
          </a:prstGeom>
          <a:solidFill>
            <a:srgbClr val="F7F5EF"/>
          </a:solidFill>
          <a:ln w="10937">
            <a:solidFill>
              <a:srgbClr val="CCC0A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Question icon disc"/>
          <p:cNvSpPr/>
          <p:nvPr/>
        </p:nvSpPr>
        <p:spPr>
          <a:xfrm>
            <a:off x="875023" y="7433751"/>
            <a:ext cx="667205" cy="666851"/>
          </a:xfrm>
          <a:prstGeom prst="ellipse">
            <a:avLst/>
          </a:prstGeom>
          <a:solidFill>
            <a:srgbClr val="0052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Question mark"/>
          <p:cNvSpPr txBox="1"/>
          <p:nvPr/>
        </p:nvSpPr>
        <p:spPr>
          <a:xfrm>
            <a:off x="940650" y="7422819"/>
            <a:ext cx="535952" cy="677783"/>
          </a:xfrm>
          <a:prstGeom prst="rect">
            <a:avLst/>
          </a:prstGeom>
          <a:noFill/>
          <a:effectLst/>
        </p:spPr>
        <p:txBody>
          <a:bodyPr wrap="square" lIns="0" tIns="0" rIns="0" bIns="0" anchor="t">
            <a:noAutofit/>
          </a:bodyPr>
          <a:lstStyle/>
          <a:p>
            <a:pPr algn="ctr">
              <a:lnSpc>
                <a:spcPct val="104000"/>
              </a:lnSpc>
              <a:spcBef>
                <a:spcPts val="0"/>
              </a:spcBef>
              <a:spcAft>
                <a:spcPts val="0"/>
              </a:spcAft>
              <a:defRPr sz="4565" b="1" i="0">
                <a:solidFill>
                  <a:srgbClr val="FFFDFA"/>
                </a:solidFill>
                <a:latin typeface="Times New Roman" panose="02020603050405020304"/>
              </a:defRPr>
            </a:pPr>
            <a:r>
              <a:rPr sz="4565" b="1" i="0">
                <a:solidFill>
                  <a:srgbClr val="FFFDFA"/>
                </a:solidFill>
                <a:latin typeface="Times New Roman" panose="02020603050405020304"/>
              </a:rPr>
              <a:t>?</a:t>
            </a:r>
            <a:endParaRPr sz="4565" b="1" i="0">
              <a:solidFill>
                <a:srgbClr val="FFFDFA"/>
              </a:solidFill>
              <a:latin typeface="Times New Roman" panose="02020603050405020304"/>
            </a:endParaRPr>
          </a:p>
        </p:txBody>
      </p:sp>
      <p:sp>
        <p:nvSpPr>
          <p:cNvPr id="35" name="Question card heading"/>
          <p:cNvSpPr txBox="1"/>
          <p:nvPr/>
        </p:nvSpPr>
        <p:spPr>
          <a:xfrm>
            <a:off x="1892239" y="7280703"/>
            <a:ext cx="6890813" cy="349823"/>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CURRENT BENCHMARK QUESTION</a:t>
            </a:r>
            <a:endParaRPr sz="1980" b="1" i="0">
              <a:solidFill>
                <a:srgbClr val="124936"/>
              </a:solidFill>
              <a:latin typeface="Times New Roman" panose="02020603050405020304"/>
            </a:endParaRPr>
          </a:p>
        </p:txBody>
      </p:sp>
      <p:sp>
        <p:nvSpPr>
          <p:cNvPr id="36" name="Benchmark question text"/>
          <p:cNvSpPr txBox="1"/>
          <p:nvPr/>
        </p:nvSpPr>
        <p:spPr>
          <a:xfrm>
            <a:off x="1892239" y="7652391"/>
            <a:ext cx="6923626" cy="776171"/>
          </a:xfrm>
          <a:prstGeom prst="rect">
            <a:avLst/>
          </a:prstGeom>
          <a:noFill/>
          <a:effectLst/>
        </p:spPr>
        <p:txBody>
          <a:bodyPr wrap="square" lIns="0" tIns="0" rIns="0" bIns="0" anchor="t">
            <a:noAutofit/>
          </a:bodyPr>
          <a:lstStyle/>
          <a:p>
            <a:pPr algn="l">
              <a:lnSpc>
                <a:spcPct val="104000"/>
              </a:lnSpc>
              <a:spcBef>
                <a:spcPts val="0"/>
              </a:spcBef>
              <a:spcAft>
                <a:spcPts val="0"/>
              </a:spcAft>
              <a:defRPr sz="2585" b="0" i="0">
                <a:solidFill>
                  <a:srgbClr val="10243C"/>
                </a:solidFill>
                <a:latin typeface="Times New Roman" panose="02020603050405020304"/>
              </a:defRPr>
            </a:pPr>
            <a:r>
              <a:rPr sz="2585" b="0" i="0">
                <a:solidFill>
                  <a:srgbClr val="10243C"/>
                </a:solidFill>
                <a:latin typeface="Times New Roman" panose="02020603050405020304"/>
              </a:rPr>
              <a:t>Which image feature best predicted the</a:t>
            </a:r>
            <a:endParaRPr sz="2585" b="0" i="0">
              <a:solidFill>
                <a:srgbClr val="10243C"/>
              </a:solidFill>
              <a:latin typeface="Times New Roman" panose="02020603050405020304"/>
            </a:endParaRPr>
          </a:p>
          <a:p>
            <a:pPr algn="l">
              <a:lnSpc>
                <a:spcPct val="104000"/>
              </a:lnSpc>
              <a:spcBef>
                <a:spcPts val="0"/>
              </a:spcBef>
              <a:spcAft>
                <a:spcPts val="0"/>
              </a:spcAft>
              <a:defRPr sz="2585" b="0" i="0">
                <a:solidFill>
                  <a:srgbClr val="10243C"/>
                </a:solidFill>
                <a:latin typeface="Times New Roman" panose="02020603050405020304"/>
              </a:defRPr>
            </a:pPr>
            <a:r>
              <a:rPr sz="2585" b="0" i="0">
                <a:solidFill>
                  <a:srgbClr val="10243C"/>
                </a:solidFill>
                <a:latin typeface="Times New Roman" panose="02020603050405020304"/>
              </a:rPr>
              <a:t>non-encapsulated, vessel-encasing surgical finding?</a:t>
            </a:r>
            <a:endParaRPr sz="2585" b="0" i="0">
              <a:solidFill>
                <a:srgbClr val="10243C"/>
              </a:solidFill>
              <a:latin typeface="Times New Roman" panose="02020603050405020304"/>
            </a:endParaRPr>
          </a:p>
        </p:txBody>
      </p:sp>
      <p:sp>
        <p:nvSpPr>
          <p:cNvPr id="37" name="Benchmark reference panel"/>
          <p:cNvSpPr/>
          <p:nvPr/>
        </p:nvSpPr>
        <p:spPr>
          <a:xfrm>
            <a:off x="9406507" y="2918840"/>
            <a:ext cx="8476794" cy="5662769"/>
          </a:xfrm>
          <a:prstGeom prst="roundRect">
            <a:avLst>
              <a:gd name="adj" fmla="val 2400"/>
            </a:avLst>
          </a:prstGeom>
          <a:noFill/>
          <a:ln w="10937">
            <a:solidFill>
              <a:srgbClr val="BCA6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Benchmark reference heading"/>
          <p:cNvSpPr txBox="1"/>
          <p:nvPr/>
        </p:nvSpPr>
        <p:spPr>
          <a:xfrm>
            <a:off x="9406507" y="2962568"/>
            <a:ext cx="8476794"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BENCHMARK REFERENCE</a:t>
            </a:r>
            <a:endParaRPr sz="2325" b="1" i="0">
              <a:solidFill>
                <a:srgbClr val="124936"/>
              </a:solidFill>
              <a:latin typeface="Times New Roman" panose="02020603050405020304"/>
            </a:endParaRPr>
          </a:p>
        </p:txBody>
      </p:sp>
      <p:cxnSp>
        <p:nvCxnSpPr>
          <p:cNvPr id="39" name="Benchmark reference left divider"/>
          <p:cNvCxnSpPr/>
          <p:nvPr/>
        </p:nvCxnSpPr>
        <p:spPr>
          <a:xfrm>
            <a:off x="9647138" y="3323324"/>
            <a:ext cx="3855574"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cxnSp>
        <p:nvCxnSpPr>
          <p:cNvPr id="40" name="Benchmark reference right divider"/>
          <p:cNvCxnSpPr/>
          <p:nvPr/>
        </p:nvCxnSpPr>
        <p:spPr>
          <a:xfrm>
            <a:off x="13787095" y="3323324"/>
            <a:ext cx="3855574"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sp>
        <p:nvSpPr>
          <p:cNvPr id="41" name="Benchmark reference diamond"/>
          <p:cNvSpPr/>
          <p:nvPr/>
        </p:nvSpPr>
        <p:spPr>
          <a:xfrm>
            <a:off x="13573808" y="3252266"/>
            <a:ext cx="142191" cy="142115"/>
          </a:xfrm>
          <a:prstGeom prst="diamond">
            <a:avLst/>
          </a:prstGeom>
          <a:solidFill>
            <a:srgbClr val="B9A0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Benchmark reference answer"/>
          <p:cNvSpPr txBox="1"/>
          <p:nvPr/>
        </p:nvSpPr>
        <p:spPr>
          <a:xfrm>
            <a:off x="9647138" y="3443575"/>
            <a:ext cx="7973655" cy="710579"/>
          </a:xfrm>
          <a:prstGeom prst="rect">
            <a:avLst/>
          </a:prstGeom>
          <a:noFill/>
          <a:effectLst/>
        </p:spPr>
        <p:txBody>
          <a:bodyPr wrap="square" lIns="0" tIns="0" rIns="0" bIns="0" anchor="t">
            <a:noAutofit/>
          </a:bodyPr>
          <a:lstStyle/>
          <a:p>
            <a:pPr algn="ctr">
              <a:lnSpc>
                <a:spcPct val="104000"/>
              </a:lnSpc>
              <a:spcBef>
                <a:spcPts val="0"/>
              </a:spcBef>
              <a:spcAft>
                <a:spcPts val="0"/>
              </a:spcAft>
              <a:defRPr sz="2240" b="0" i="0">
                <a:solidFill>
                  <a:srgbClr val="10243C"/>
                </a:solidFill>
                <a:latin typeface="Times New Roman" panose="02020603050405020304"/>
              </a:defRPr>
            </a:pPr>
            <a:r>
              <a:rPr sz="2240" b="0" i="0">
                <a:solidFill>
                  <a:srgbClr val="10243C"/>
                </a:solidFill>
                <a:latin typeface="Times New Roman" panose="02020603050405020304"/>
              </a:rPr>
              <a:t>The sagittal image shows an indistinct superior boundary between</a:t>
            </a:r>
            <a:endParaRPr sz="2240" b="0" i="0">
              <a:solidFill>
                <a:srgbClr val="10243C"/>
              </a:solidFill>
              <a:latin typeface="Times New Roman" panose="02020603050405020304"/>
            </a:endParaRPr>
          </a:p>
          <a:p>
            <a:pPr algn="ctr">
              <a:lnSpc>
                <a:spcPct val="104000"/>
              </a:lnSpc>
              <a:spcBef>
                <a:spcPts val="0"/>
              </a:spcBef>
              <a:spcAft>
                <a:spcPts val="0"/>
              </a:spcAft>
              <a:defRPr sz="2240" b="0" i="0">
                <a:solidFill>
                  <a:srgbClr val="10243C"/>
                </a:solidFill>
                <a:latin typeface="Times New Roman" panose="02020603050405020304"/>
              </a:defRPr>
            </a:pPr>
            <a:r>
              <a:rPr sz="2240" b="0" i="0">
                <a:solidFill>
                  <a:srgbClr val="10243C"/>
                </a:solidFill>
                <a:latin typeface="Times New Roman" panose="02020603050405020304"/>
              </a:rPr>
              <a:t>the tumor and skull-base tissues.</a:t>
            </a:r>
            <a:endParaRPr sz="2240" b="0" i="0">
              <a:solidFill>
                <a:srgbClr val="10243C"/>
              </a:solidFill>
              <a:latin typeface="Times New Roman" panose="02020603050405020304"/>
            </a:endParaRPr>
          </a:p>
        </p:txBody>
      </p:sp>
      <p:sp>
        <p:nvSpPr>
          <p:cNvPr id="43" name="Rubric table outline"/>
          <p:cNvSpPr/>
          <p:nvPr/>
        </p:nvSpPr>
        <p:spPr>
          <a:xfrm>
            <a:off x="9647138" y="4197883"/>
            <a:ext cx="7973655" cy="1617934"/>
          </a:xfrm>
          <a:prstGeom prst="roundRect">
            <a:avLst>
              <a:gd name="adj" fmla="val 3000"/>
            </a:avLst>
          </a:prstGeom>
          <a:solidFill>
            <a:srgbClr val="F6F4EE"/>
          </a:solidFill>
          <a:ln w="10937">
            <a:solidFill>
              <a:srgbClr val="C9BD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4" name="Rubric header rule"/>
          <p:cNvCxnSpPr/>
          <p:nvPr/>
        </p:nvCxnSpPr>
        <p:spPr>
          <a:xfrm>
            <a:off x="9647138" y="4635162"/>
            <a:ext cx="7973656" cy="0"/>
          </a:xfrm>
          <a:prstGeom prst="line">
            <a:avLst/>
          </a:prstGeom>
          <a:ln w="10937">
            <a:solidFill>
              <a:srgbClr val="C9BDAD"/>
            </a:solidFill>
          </a:ln>
          <a:effectLst/>
        </p:spPr>
        <p:style>
          <a:lnRef idx="2">
            <a:schemeClr val="accent1"/>
          </a:lnRef>
          <a:fillRef idx="0">
            <a:schemeClr val="accent1"/>
          </a:fillRef>
          <a:effectRef idx="0">
            <a:schemeClr val="accent1"/>
          </a:effectRef>
          <a:fontRef idx="minor">
            <a:schemeClr val="tx1"/>
          </a:fontRef>
        </p:style>
      </p:cxnSp>
      <p:cxnSp>
        <p:nvCxnSpPr>
          <p:cNvPr id="45" name="Rubric row rule"/>
          <p:cNvCxnSpPr/>
          <p:nvPr/>
        </p:nvCxnSpPr>
        <p:spPr>
          <a:xfrm>
            <a:off x="9647138" y="5105238"/>
            <a:ext cx="7973656" cy="0"/>
          </a:xfrm>
          <a:prstGeom prst="line">
            <a:avLst/>
          </a:prstGeom>
          <a:ln w="10937">
            <a:solidFill>
              <a:srgbClr val="C9BDAD"/>
            </a:solidFill>
          </a:ln>
          <a:effectLst/>
        </p:spPr>
        <p:style>
          <a:lnRef idx="2">
            <a:schemeClr val="accent1"/>
          </a:lnRef>
          <a:fillRef idx="0">
            <a:schemeClr val="accent1"/>
          </a:fillRef>
          <a:effectRef idx="0">
            <a:schemeClr val="accent1"/>
          </a:effectRef>
          <a:fontRef idx="minor">
            <a:schemeClr val="tx1"/>
          </a:fontRef>
        </p:style>
      </p:cxnSp>
      <p:cxnSp>
        <p:nvCxnSpPr>
          <p:cNvPr id="46" name="Rubric score column rule"/>
          <p:cNvCxnSpPr/>
          <p:nvPr/>
        </p:nvCxnSpPr>
        <p:spPr>
          <a:xfrm>
            <a:off x="16362947" y="4635162"/>
            <a:ext cx="0" cy="1180655"/>
          </a:xfrm>
          <a:prstGeom prst="line">
            <a:avLst/>
          </a:prstGeom>
          <a:ln w="10937">
            <a:solidFill>
              <a:srgbClr val="C9BDAD"/>
            </a:solidFill>
          </a:ln>
          <a:effectLst/>
        </p:spPr>
        <p:style>
          <a:lnRef idx="2">
            <a:schemeClr val="accent1"/>
          </a:lnRef>
          <a:fillRef idx="0">
            <a:schemeClr val="accent1"/>
          </a:fillRef>
          <a:effectRef idx="0">
            <a:schemeClr val="accent1"/>
          </a:effectRef>
          <a:fontRef idx="minor">
            <a:schemeClr val="tx1"/>
          </a:fontRef>
        </p:style>
      </p:cxnSp>
      <p:sp>
        <p:nvSpPr>
          <p:cNvPr id="47" name="Rubric table heading"/>
          <p:cNvSpPr txBox="1"/>
          <p:nvPr/>
        </p:nvSpPr>
        <p:spPr>
          <a:xfrm>
            <a:off x="9909645" y="4274407"/>
            <a:ext cx="6726746" cy="317027"/>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RUBRIC SUMMARY</a:t>
            </a:r>
            <a:endParaRPr sz="1980" b="1" i="0">
              <a:solidFill>
                <a:srgbClr val="124936"/>
              </a:solidFill>
              <a:latin typeface="Times New Roman" panose="02020603050405020304"/>
            </a:endParaRPr>
          </a:p>
        </p:txBody>
      </p:sp>
      <p:sp>
        <p:nvSpPr>
          <p:cNvPr id="48" name="Rubric criterion 1"/>
          <p:cNvSpPr txBox="1"/>
          <p:nvPr/>
        </p:nvSpPr>
        <p:spPr>
          <a:xfrm>
            <a:off x="9920583" y="4722618"/>
            <a:ext cx="6278296" cy="327959"/>
          </a:xfrm>
          <a:prstGeom prst="rect">
            <a:avLst/>
          </a:prstGeom>
          <a:noFill/>
          <a:effectLst/>
        </p:spPr>
        <p:txBody>
          <a:bodyPr wrap="square" lIns="0" tIns="0" rIns="0" bIns="0" anchor="t">
            <a:noAutofit/>
          </a:bodyPr>
          <a:lstStyle/>
          <a:p>
            <a:pPr algn="l">
              <a:lnSpc>
                <a:spcPct val="104000"/>
              </a:lnSpc>
              <a:spcBef>
                <a:spcPts val="0"/>
              </a:spcBef>
              <a:spcAft>
                <a:spcPts val="0"/>
              </a:spcAft>
              <a:defRPr sz="2005" b="0" i="0">
                <a:solidFill>
                  <a:srgbClr val="10243C"/>
                </a:solidFill>
                <a:latin typeface="Times New Roman" panose="02020603050405020304"/>
              </a:defRPr>
            </a:pPr>
            <a:r>
              <a:rPr sz="2005" b="0" i="0">
                <a:solidFill>
                  <a:srgbClr val="10243C"/>
                </a:solidFill>
                <a:latin typeface="Times New Roman" panose="02020603050405020304"/>
              </a:rPr>
              <a:t>Identify the sagittal image</a:t>
            </a:r>
            <a:endParaRPr sz="2005" b="0" i="0">
              <a:solidFill>
                <a:srgbClr val="10243C"/>
              </a:solidFill>
              <a:latin typeface="Times New Roman" panose="02020603050405020304"/>
            </a:endParaRPr>
          </a:p>
        </p:txBody>
      </p:sp>
      <p:sp>
        <p:nvSpPr>
          <p:cNvPr id="49" name="Rubric criterion 1 score"/>
          <p:cNvSpPr txBox="1"/>
          <p:nvPr/>
        </p:nvSpPr>
        <p:spPr>
          <a:xfrm>
            <a:off x="16406698" y="4722618"/>
            <a:ext cx="1170344" cy="338891"/>
          </a:xfrm>
          <a:prstGeom prst="rect">
            <a:avLst/>
          </a:prstGeom>
          <a:noFill/>
          <a:effectLst/>
        </p:spPr>
        <p:txBody>
          <a:bodyPr wrap="square" lIns="0" tIns="0" rIns="0" bIns="0" anchor="t">
            <a:noAutofit/>
          </a:bodyPr>
          <a:lstStyle/>
          <a:p>
            <a:pPr algn="ctr">
              <a:lnSpc>
                <a:spcPct val="104000"/>
              </a:lnSpc>
              <a:spcBef>
                <a:spcPts val="0"/>
              </a:spcBef>
              <a:spcAft>
                <a:spcPts val="0"/>
              </a:spcAft>
              <a:defRPr sz="2065" b="1" i="0">
                <a:solidFill>
                  <a:srgbClr val="10243C"/>
                </a:solidFill>
                <a:latin typeface="Times New Roman" panose="02020603050405020304"/>
              </a:defRPr>
            </a:pPr>
            <a:r>
              <a:rPr sz="2065" b="1" i="0">
                <a:solidFill>
                  <a:srgbClr val="10243C"/>
                </a:solidFill>
                <a:latin typeface="Times New Roman" panose="02020603050405020304"/>
              </a:rPr>
              <a:t>6 pts</a:t>
            </a:r>
            <a:endParaRPr sz="2065" b="1" i="0">
              <a:solidFill>
                <a:srgbClr val="10243C"/>
              </a:solidFill>
              <a:latin typeface="Times New Roman" panose="02020603050405020304"/>
            </a:endParaRPr>
          </a:p>
        </p:txBody>
      </p:sp>
      <p:sp>
        <p:nvSpPr>
          <p:cNvPr id="50" name="Rubric criterion 2"/>
          <p:cNvSpPr txBox="1"/>
          <p:nvPr/>
        </p:nvSpPr>
        <p:spPr>
          <a:xfrm>
            <a:off x="9920583" y="5170829"/>
            <a:ext cx="6354861" cy="634055"/>
          </a:xfrm>
          <a:prstGeom prst="rect">
            <a:avLst/>
          </a:prstGeom>
          <a:noFill/>
          <a:effectLst/>
        </p:spPr>
        <p:txBody>
          <a:bodyPr wrap="square" lIns="0" tIns="0" rIns="0" bIns="0" anchor="t">
            <a:noAutofit/>
          </a:bodyPr>
          <a:lstStyle/>
          <a:p>
            <a:pPr algn="l">
              <a:lnSpc>
                <a:spcPct val="104000"/>
              </a:lnSpc>
              <a:spcBef>
                <a:spcPts val="0"/>
              </a:spcBef>
              <a:spcAft>
                <a:spcPts val="0"/>
              </a:spcAft>
              <a:defRPr sz="1905" b="0" i="0">
                <a:solidFill>
                  <a:srgbClr val="10243C"/>
                </a:solidFill>
                <a:latin typeface="Times New Roman" panose="02020603050405020304"/>
              </a:defRPr>
            </a:pPr>
            <a:r>
              <a:rPr sz="1905" b="0" i="0">
                <a:solidFill>
                  <a:srgbClr val="10243C"/>
                </a:solidFill>
                <a:latin typeface="Times New Roman" panose="02020603050405020304"/>
              </a:rPr>
              <a:t>Describe the indistinct superior boundary and its infiltrative</a:t>
            </a:r>
            <a:endParaRPr sz="1905" b="0" i="0">
              <a:solidFill>
                <a:srgbClr val="10243C"/>
              </a:solidFill>
              <a:latin typeface="Times New Roman" panose="02020603050405020304"/>
            </a:endParaRPr>
          </a:p>
          <a:p>
            <a:pPr algn="l">
              <a:lnSpc>
                <a:spcPct val="104000"/>
              </a:lnSpc>
              <a:spcBef>
                <a:spcPts val="0"/>
              </a:spcBef>
              <a:spcAft>
                <a:spcPts val="0"/>
              </a:spcAft>
              <a:defRPr sz="1905" b="0" i="0">
                <a:solidFill>
                  <a:srgbClr val="10243C"/>
                </a:solidFill>
                <a:latin typeface="Times New Roman" panose="02020603050405020304"/>
              </a:defRPr>
            </a:pPr>
            <a:r>
              <a:rPr sz="1905" b="0" i="0">
                <a:solidFill>
                  <a:srgbClr val="10243C"/>
                </a:solidFill>
                <a:latin typeface="Times New Roman" panose="02020603050405020304"/>
              </a:rPr>
              <a:t>implication</a:t>
            </a:r>
            <a:endParaRPr sz="1905" b="0" i="0">
              <a:solidFill>
                <a:srgbClr val="10243C"/>
              </a:solidFill>
              <a:latin typeface="Times New Roman" panose="02020603050405020304"/>
            </a:endParaRPr>
          </a:p>
        </p:txBody>
      </p:sp>
      <p:sp>
        <p:nvSpPr>
          <p:cNvPr id="51" name="Rubric criterion 2 score"/>
          <p:cNvSpPr txBox="1"/>
          <p:nvPr/>
        </p:nvSpPr>
        <p:spPr>
          <a:xfrm>
            <a:off x="16406698" y="5334809"/>
            <a:ext cx="1170344" cy="338891"/>
          </a:xfrm>
          <a:prstGeom prst="rect">
            <a:avLst/>
          </a:prstGeom>
          <a:noFill/>
          <a:effectLst/>
        </p:spPr>
        <p:txBody>
          <a:bodyPr wrap="square" lIns="0" tIns="0" rIns="0" bIns="0" anchor="t">
            <a:noAutofit/>
          </a:bodyPr>
          <a:lstStyle/>
          <a:p>
            <a:pPr algn="ctr">
              <a:lnSpc>
                <a:spcPct val="104000"/>
              </a:lnSpc>
              <a:spcBef>
                <a:spcPts val="0"/>
              </a:spcBef>
              <a:spcAft>
                <a:spcPts val="0"/>
              </a:spcAft>
              <a:defRPr sz="2065" b="1" i="0">
                <a:solidFill>
                  <a:srgbClr val="10243C"/>
                </a:solidFill>
                <a:latin typeface="Times New Roman" panose="02020603050405020304"/>
              </a:defRPr>
            </a:pPr>
            <a:r>
              <a:rPr sz="2065" b="1" i="0">
                <a:solidFill>
                  <a:srgbClr val="10243C"/>
                </a:solidFill>
                <a:latin typeface="Times New Roman" panose="02020603050405020304"/>
              </a:rPr>
              <a:t>4 pts</a:t>
            </a:r>
            <a:endParaRPr sz="2065" b="1" i="0">
              <a:solidFill>
                <a:srgbClr val="10243C"/>
              </a:solidFill>
              <a:latin typeface="Times New Roman" panose="02020603050405020304"/>
            </a:endParaRPr>
          </a:p>
        </p:txBody>
      </p:sp>
      <p:cxnSp>
        <p:nvCxnSpPr>
          <p:cNvPr id="52" name="Reference to model response separator"/>
          <p:cNvCxnSpPr/>
          <p:nvPr/>
        </p:nvCxnSpPr>
        <p:spPr>
          <a:xfrm>
            <a:off x="9614325" y="5979797"/>
            <a:ext cx="8039282" cy="0"/>
          </a:xfrm>
          <a:prstGeom prst="line">
            <a:avLst/>
          </a:prstGeom>
          <a:ln w="18594">
            <a:solidFill>
              <a:srgbClr val="A89570"/>
            </a:solidFill>
          </a:ln>
          <a:effectLst/>
        </p:spPr>
        <p:style>
          <a:lnRef idx="2">
            <a:schemeClr val="accent1"/>
          </a:lnRef>
          <a:fillRef idx="0">
            <a:schemeClr val="accent1"/>
          </a:fillRef>
          <a:effectRef idx="0">
            <a:schemeClr val="accent1"/>
          </a:effectRef>
          <a:fontRef idx="minor">
            <a:schemeClr val="tx1"/>
          </a:fontRef>
        </p:style>
      </p:cxnSp>
      <p:sp>
        <p:nvSpPr>
          <p:cNvPr id="53" name="Historical model response heading"/>
          <p:cNvSpPr txBox="1"/>
          <p:nvPr/>
        </p:nvSpPr>
        <p:spPr>
          <a:xfrm>
            <a:off x="9406507" y="6023524"/>
            <a:ext cx="8476794"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910825"/>
                </a:solidFill>
                <a:latin typeface="Times New Roman" panose="02020603050405020304"/>
              </a:defRPr>
            </a:pPr>
            <a:r>
              <a:rPr sz="2325" b="1" i="0">
                <a:solidFill>
                  <a:srgbClr val="910825"/>
                </a:solidFill>
                <a:latin typeface="Times New Roman" panose="02020603050405020304"/>
              </a:rPr>
              <a:t>HISTORICAL MODEL RESPONSE</a:t>
            </a:r>
            <a:endParaRPr sz="2325" b="1" i="0">
              <a:solidFill>
                <a:srgbClr val="910825"/>
              </a:solidFill>
              <a:latin typeface="Times New Roman" panose="02020603050405020304"/>
            </a:endParaRPr>
          </a:p>
        </p:txBody>
      </p:sp>
      <p:cxnSp>
        <p:nvCxnSpPr>
          <p:cNvPr id="54" name="Historical model response left divider"/>
          <p:cNvCxnSpPr/>
          <p:nvPr/>
        </p:nvCxnSpPr>
        <p:spPr>
          <a:xfrm>
            <a:off x="9647138" y="6384280"/>
            <a:ext cx="3855574"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cxnSp>
        <p:nvCxnSpPr>
          <p:cNvPr id="55" name="Historical model response right divider"/>
          <p:cNvCxnSpPr/>
          <p:nvPr/>
        </p:nvCxnSpPr>
        <p:spPr>
          <a:xfrm>
            <a:off x="13787095" y="6384280"/>
            <a:ext cx="3855574"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sp>
        <p:nvSpPr>
          <p:cNvPr id="56" name="Historical model response diamond"/>
          <p:cNvSpPr/>
          <p:nvPr/>
        </p:nvSpPr>
        <p:spPr>
          <a:xfrm>
            <a:off x="13573808" y="6313222"/>
            <a:ext cx="142191" cy="142115"/>
          </a:xfrm>
          <a:prstGeom prst="diamond">
            <a:avLst/>
          </a:prstGeom>
          <a:solidFill>
            <a:srgbClr val="B9A0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Historical response quote card"/>
          <p:cNvSpPr/>
          <p:nvPr/>
        </p:nvSpPr>
        <p:spPr>
          <a:xfrm>
            <a:off x="9647138" y="6460804"/>
            <a:ext cx="7973655" cy="841763"/>
          </a:xfrm>
          <a:prstGeom prst="roundRect">
            <a:avLst>
              <a:gd name="adj" fmla="val 4500"/>
            </a:avLst>
          </a:prstGeom>
          <a:solidFill>
            <a:srgbClr val="FBE8E3"/>
          </a:solidFill>
          <a:ln w="10937">
            <a:solidFill>
              <a:srgbClr val="EFB9B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Historical Claude response quote"/>
          <p:cNvSpPr txBox="1"/>
          <p:nvPr/>
        </p:nvSpPr>
        <p:spPr>
          <a:xfrm>
            <a:off x="9822143" y="6548260"/>
            <a:ext cx="7623645" cy="371687"/>
          </a:xfrm>
          <a:prstGeom prst="rect">
            <a:avLst/>
          </a:prstGeom>
          <a:noFill/>
          <a:effectLst/>
        </p:spPr>
        <p:txBody>
          <a:bodyPr wrap="square" lIns="0" tIns="0" rIns="0" bIns="0" anchor="t">
            <a:noAutofit/>
          </a:bodyPr>
          <a:lstStyle/>
          <a:p>
            <a:pPr algn="ctr">
              <a:lnSpc>
                <a:spcPct val="104000"/>
              </a:lnSpc>
              <a:spcBef>
                <a:spcPts val="0"/>
              </a:spcBef>
              <a:spcAft>
                <a:spcPts val="0"/>
              </a:spcAft>
              <a:defRPr sz="2240" b="1" i="0">
                <a:solidFill>
                  <a:srgbClr val="62051A"/>
                </a:solidFill>
                <a:latin typeface="Times New Roman" panose="02020603050405020304"/>
              </a:defRPr>
            </a:pPr>
            <a:r>
              <a:rPr sz="2240" b="1" i="0">
                <a:solidFill>
                  <a:srgbClr val="62051A"/>
                </a:solidFill>
                <a:latin typeface="Times New Roman" panose="02020603050405020304"/>
              </a:rPr>
              <a:t>“The axial (left) image is the more reliable clue.”</a:t>
            </a:r>
            <a:endParaRPr sz="2240" b="1" i="0">
              <a:solidFill>
                <a:srgbClr val="62051A"/>
              </a:solidFill>
              <a:latin typeface="Times New Roman" panose="02020603050405020304"/>
            </a:endParaRPr>
          </a:p>
        </p:txBody>
      </p:sp>
      <p:sp>
        <p:nvSpPr>
          <p:cNvPr id="59" name="Historical Claude response attribution"/>
          <p:cNvSpPr txBox="1"/>
          <p:nvPr/>
        </p:nvSpPr>
        <p:spPr>
          <a:xfrm>
            <a:off x="9833081" y="6898083"/>
            <a:ext cx="7601770" cy="317027"/>
          </a:xfrm>
          <a:prstGeom prst="rect">
            <a:avLst/>
          </a:prstGeom>
          <a:noFill/>
          <a:effectLst/>
        </p:spPr>
        <p:txBody>
          <a:bodyPr wrap="square" lIns="0" tIns="0" rIns="0" bIns="0" anchor="t">
            <a:noAutofit/>
          </a:bodyPr>
          <a:lstStyle/>
          <a:p>
            <a:pPr algn="ctr">
              <a:lnSpc>
                <a:spcPct val="104000"/>
              </a:lnSpc>
              <a:spcBef>
                <a:spcPts val="0"/>
              </a:spcBef>
              <a:spcAft>
                <a:spcPts val="0"/>
              </a:spcAft>
              <a:defRPr sz="1895" b="0" i="0">
                <a:solidFill>
                  <a:srgbClr val="51231F"/>
                </a:solidFill>
                <a:latin typeface="Times New Roman" panose="02020603050405020304"/>
              </a:defRPr>
            </a:pPr>
            <a:r>
              <a:rPr sz="1895" b="0" i="0">
                <a:solidFill>
                  <a:srgbClr val="51231F"/>
                </a:solidFill>
                <a:latin typeface="Times New Roman" panose="02020603050405020304"/>
              </a:rPr>
              <a:t>Claude Opus 5 · original-prompt response</a:t>
            </a:r>
            <a:endParaRPr sz="1895" b="0" i="0">
              <a:solidFill>
                <a:srgbClr val="51231F"/>
              </a:solidFill>
              <a:latin typeface="Times New Roman" panose="02020603050405020304"/>
            </a:endParaRPr>
          </a:p>
        </p:txBody>
      </p:sp>
      <p:sp>
        <p:nvSpPr>
          <p:cNvPr id="60" name="Historical score table outline"/>
          <p:cNvSpPr/>
          <p:nvPr/>
        </p:nvSpPr>
        <p:spPr>
          <a:xfrm>
            <a:off x="9647138" y="7400955"/>
            <a:ext cx="7973655" cy="1027606"/>
          </a:xfrm>
          <a:prstGeom prst="roundRect">
            <a:avLst>
              <a:gd name="adj" fmla="val 5000"/>
            </a:avLst>
          </a:prstGeom>
          <a:solidFill>
            <a:srgbClr val="F6F4EE"/>
          </a:solidFill>
          <a:ln w="10937">
            <a:solidFill>
              <a:srgbClr val="C9BD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1" name="Historical score row rule"/>
          <p:cNvCxnSpPr/>
          <p:nvPr/>
        </p:nvCxnSpPr>
        <p:spPr>
          <a:xfrm>
            <a:off x="9647138" y="7914758"/>
            <a:ext cx="7973656" cy="0"/>
          </a:xfrm>
          <a:prstGeom prst="line">
            <a:avLst/>
          </a:prstGeom>
          <a:ln w="10937">
            <a:solidFill>
              <a:srgbClr val="C9BDAD"/>
            </a:solidFill>
          </a:ln>
          <a:effectLst/>
        </p:spPr>
        <p:style>
          <a:lnRef idx="2">
            <a:schemeClr val="accent1"/>
          </a:lnRef>
          <a:fillRef idx="0">
            <a:schemeClr val="accent1"/>
          </a:fillRef>
          <a:effectRef idx="0">
            <a:schemeClr val="accent1"/>
          </a:effectRef>
          <a:fontRef idx="minor">
            <a:schemeClr val="tx1"/>
          </a:fontRef>
        </p:style>
      </p:cxnSp>
      <p:cxnSp>
        <p:nvCxnSpPr>
          <p:cNvPr id="62" name="Historical score column rule"/>
          <p:cNvCxnSpPr/>
          <p:nvPr/>
        </p:nvCxnSpPr>
        <p:spPr>
          <a:xfrm>
            <a:off x="15980124" y="7400955"/>
            <a:ext cx="0" cy="1027607"/>
          </a:xfrm>
          <a:prstGeom prst="line">
            <a:avLst/>
          </a:prstGeom>
          <a:ln w="10937">
            <a:solidFill>
              <a:srgbClr val="C9BDAD"/>
            </a:solidFill>
          </a:ln>
          <a:effectLst/>
        </p:spPr>
        <p:style>
          <a:lnRef idx="2">
            <a:schemeClr val="accent1"/>
          </a:lnRef>
          <a:fillRef idx="0">
            <a:schemeClr val="accent1"/>
          </a:fillRef>
          <a:effectRef idx="0">
            <a:schemeClr val="accent1"/>
          </a:effectRef>
          <a:fontRef idx="minor">
            <a:schemeClr val="tx1"/>
          </a:fontRef>
        </p:style>
      </p:cxnSp>
      <p:sp>
        <p:nvSpPr>
          <p:cNvPr id="63" name="Gemini 3.1 Pro Preview historical model label"/>
          <p:cNvSpPr txBox="1"/>
          <p:nvPr/>
        </p:nvSpPr>
        <p:spPr>
          <a:xfrm>
            <a:off x="9833081" y="7488411"/>
            <a:ext cx="5993913" cy="371687"/>
          </a:xfrm>
          <a:prstGeom prst="rect">
            <a:avLst/>
          </a:prstGeom>
          <a:noFill/>
          <a:effectLst/>
        </p:spPr>
        <p:txBody>
          <a:bodyPr wrap="square" lIns="0" tIns="0" rIns="0" bIns="0" anchor="t">
            <a:noAutofit/>
          </a:bodyPr>
          <a:lstStyle/>
          <a:p>
            <a:pPr algn="l">
              <a:lnSpc>
                <a:spcPct val="104000"/>
              </a:lnSpc>
              <a:spcBef>
                <a:spcPts val="0"/>
              </a:spcBef>
              <a:spcAft>
                <a:spcPts val="0"/>
              </a:spcAft>
              <a:defRPr sz="2155" b="1" i="0">
                <a:solidFill>
                  <a:srgbClr val="10243C"/>
                </a:solidFill>
                <a:latin typeface="Times New Roman" panose="02020603050405020304"/>
              </a:defRPr>
            </a:pPr>
            <a:r>
              <a:rPr sz="2155" b="1" i="0">
                <a:solidFill>
                  <a:srgbClr val="10243C"/>
                </a:solidFill>
                <a:latin typeface="Times New Roman" panose="02020603050405020304"/>
              </a:rPr>
              <a:t>Gemini 3.1 Pro Preview</a:t>
            </a:r>
            <a:endParaRPr sz="2155" b="1" i="0">
              <a:solidFill>
                <a:srgbClr val="10243C"/>
              </a:solidFill>
              <a:latin typeface="Times New Roman" panose="02020603050405020304"/>
            </a:endParaRPr>
          </a:p>
        </p:txBody>
      </p:sp>
      <p:sp>
        <p:nvSpPr>
          <p:cNvPr id="64" name="Gemini 3.1 Pro Preview historical score"/>
          <p:cNvSpPr txBox="1"/>
          <p:nvPr/>
        </p:nvSpPr>
        <p:spPr>
          <a:xfrm>
            <a:off x="16078564" y="7477479"/>
            <a:ext cx="1432851" cy="404483"/>
          </a:xfrm>
          <a:prstGeom prst="rect">
            <a:avLst/>
          </a:prstGeom>
          <a:noFill/>
          <a:effectLst/>
        </p:spPr>
        <p:txBody>
          <a:bodyPr wrap="square" lIns="0" tIns="0" rIns="0" bIns="0" anchor="t">
            <a:noAutofit/>
          </a:bodyPr>
          <a:lstStyle/>
          <a:p>
            <a:pPr algn="ctr">
              <a:lnSpc>
                <a:spcPct val="104000"/>
              </a:lnSpc>
              <a:spcBef>
                <a:spcPts val="0"/>
              </a:spcBef>
              <a:spcAft>
                <a:spcPts val="0"/>
              </a:spcAft>
              <a:defRPr sz="2585" b="1" i="0">
                <a:solidFill>
                  <a:srgbClr val="97041D"/>
                </a:solidFill>
                <a:latin typeface="Times New Roman" panose="02020603050405020304"/>
              </a:defRPr>
            </a:pPr>
            <a:r>
              <a:rPr sz="2585" b="1" i="0">
                <a:solidFill>
                  <a:srgbClr val="97041D"/>
                </a:solidFill>
                <a:latin typeface="Times New Roman" panose="02020603050405020304"/>
              </a:rPr>
              <a:t>0 / 10</a:t>
            </a:r>
            <a:endParaRPr sz="2585" b="1" i="0">
              <a:solidFill>
                <a:srgbClr val="97041D"/>
              </a:solidFill>
              <a:latin typeface="Times New Roman" panose="02020603050405020304"/>
            </a:endParaRPr>
          </a:p>
        </p:txBody>
      </p:sp>
      <p:sp>
        <p:nvSpPr>
          <p:cNvPr id="65" name="Claude Opus 5 historical model label"/>
          <p:cNvSpPr txBox="1"/>
          <p:nvPr/>
        </p:nvSpPr>
        <p:spPr>
          <a:xfrm>
            <a:off x="9833081" y="8002214"/>
            <a:ext cx="5993913" cy="371687"/>
          </a:xfrm>
          <a:prstGeom prst="rect">
            <a:avLst/>
          </a:prstGeom>
          <a:noFill/>
          <a:effectLst/>
        </p:spPr>
        <p:txBody>
          <a:bodyPr wrap="square" lIns="0" tIns="0" rIns="0" bIns="0" anchor="t">
            <a:noAutofit/>
          </a:bodyPr>
          <a:lstStyle/>
          <a:p>
            <a:pPr algn="l">
              <a:lnSpc>
                <a:spcPct val="104000"/>
              </a:lnSpc>
              <a:spcBef>
                <a:spcPts val="0"/>
              </a:spcBef>
              <a:spcAft>
                <a:spcPts val="0"/>
              </a:spcAft>
              <a:defRPr sz="2155" b="1" i="0">
                <a:solidFill>
                  <a:srgbClr val="10243C"/>
                </a:solidFill>
                <a:latin typeface="Times New Roman" panose="02020603050405020304"/>
              </a:defRPr>
            </a:pPr>
            <a:r>
              <a:rPr sz="2155" b="1" i="0">
                <a:solidFill>
                  <a:srgbClr val="10243C"/>
                </a:solidFill>
                <a:latin typeface="Times New Roman" panose="02020603050405020304"/>
              </a:rPr>
              <a:t>Claude Opus 5</a:t>
            </a:r>
            <a:endParaRPr sz="2155" b="1" i="0">
              <a:solidFill>
                <a:srgbClr val="10243C"/>
              </a:solidFill>
              <a:latin typeface="Times New Roman" panose="02020603050405020304"/>
            </a:endParaRPr>
          </a:p>
        </p:txBody>
      </p:sp>
      <p:sp>
        <p:nvSpPr>
          <p:cNvPr id="66" name="Claude Opus 5 historical score"/>
          <p:cNvSpPr txBox="1"/>
          <p:nvPr/>
        </p:nvSpPr>
        <p:spPr>
          <a:xfrm>
            <a:off x="16078564" y="7991282"/>
            <a:ext cx="1432851" cy="404483"/>
          </a:xfrm>
          <a:prstGeom prst="rect">
            <a:avLst/>
          </a:prstGeom>
          <a:noFill/>
          <a:effectLst/>
        </p:spPr>
        <p:txBody>
          <a:bodyPr wrap="square" lIns="0" tIns="0" rIns="0" bIns="0" anchor="t">
            <a:noAutofit/>
          </a:bodyPr>
          <a:lstStyle/>
          <a:p>
            <a:pPr algn="ctr">
              <a:lnSpc>
                <a:spcPct val="104000"/>
              </a:lnSpc>
              <a:spcBef>
                <a:spcPts val="0"/>
              </a:spcBef>
              <a:spcAft>
                <a:spcPts val="0"/>
              </a:spcAft>
              <a:defRPr sz="2585" b="1" i="0">
                <a:solidFill>
                  <a:srgbClr val="97041D"/>
                </a:solidFill>
                <a:latin typeface="Times New Roman" panose="02020603050405020304"/>
              </a:defRPr>
            </a:pPr>
            <a:r>
              <a:rPr sz="2585" b="1" i="0">
                <a:solidFill>
                  <a:srgbClr val="97041D"/>
                </a:solidFill>
                <a:latin typeface="Times New Roman" panose="02020603050405020304"/>
              </a:rPr>
              <a:t>0 / 10</a:t>
            </a:r>
            <a:endParaRPr sz="2585" b="1" i="0">
              <a:solidFill>
                <a:srgbClr val="97041D"/>
              </a:solidFill>
              <a:latin typeface="Times New Roman" panose="02020603050405020304"/>
            </a:endParaRPr>
          </a:p>
        </p:txBody>
      </p:sp>
      <p:sp>
        <p:nvSpPr>
          <p:cNvPr id="67" name="Clinical reasoning takeaway banner"/>
          <p:cNvSpPr/>
          <p:nvPr/>
        </p:nvSpPr>
        <p:spPr>
          <a:xfrm>
            <a:off x="404698" y="8690929"/>
            <a:ext cx="17478602" cy="623123"/>
          </a:xfrm>
          <a:prstGeom prst="roundRect">
            <a:avLst>
              <a:gd name="adj" fmla="val 13000"/>
            </a:avLst>
          </a:prstGeom>
          <a:solidFill>
            <a:srgbClr val="EDF1E9"/>
          </a:solidFill>
          <a:ln w="10937">
            <a:solidFill>
              <a:srgbClr val="96B3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68" name="Clinical reasoning bars icon"/>
          <p:cNvGrpSpPr/>
          <p:nvPr/>
        </p:nvGrpSpPr>
        <p:grpSpPr>
          <a:xfrm>
            <a:off x="4446871" y="8861031"/>
            <a:ext cx="303414" cy="365565"/>
            <a:chOff x="4446871" y="8861031"/>
            <a:chExt cx="303414" cy="365565"/>
          </a:xfrm>
        </p:grpSpPr>
        <p:sp>
          <p:nvSpPr>
            <p:cNvPr id="69" name="Clinical reasoning bars icon bar"/>
            <p:cNvSpPr/>
            <p:nvPr/>
          </p:nvSpPr>
          <p:spPr>
            <a:xfrm>
              <a:off x="4446871" y="9077047"/>
              <a:ext cx="70658" cy="149549"/>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Clinical reasoning bars icon bar"/>
            <p:cNvSpPr/>
            <p:nvPr/>
          </p:nvSpPr>
          <p:spPr>
            <a:xfrm>
              <a:off x="4563249" y="8969039"/>
              <a:ext cx="70658" cy="257557"/>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Clinical reasoning bars icon bar"/>
            <p:cNvSpPr/>
            <p:nvPr/>
          </p:nvSpPr>
          <p:spPr>
            <a:xfrm>
              <a:off x="4679627" y="8861031"/>
              <a:ext cx="70658" cy="365565"/>
            </a:xfrm>
            <a:prstGeom prst="rect">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cxnSp>
        <p:nvCxnSpPr>
          <p:cNvPr id="72" name="Takeaway icon separator"/>
          <p:cNvCxnSpPr/>
          <p:nvPr/>
        </p:nvCxnSpPr>
        <p:spPr>
          <a:xfrm>
            <a:off x="5140765" y="8778385"/>
            <a:ext cx="0" cy="459144"/>
          </a:xfrm>
          <a:prstGeom prst="line">
            <a:avLst/>
          </a:prstGeom>
          <a:ln w="10937">
            <a:solidFill>
              <a:srgbClr val="B0986D"/>
            </a:solidFill>
          </a:ln>
          <a:effectLst/>
        </p:spPr>
        <p:style>
          <a:lnRef idx="2">
            <a:schemeClr val="accent1"/>
          </a:lnRef>
          <a:fillRef idx="0">
            <a:schemeClr val="accent1"/>
          </a:fillRef>
          <a:effectRef idx="0">
            <a:schemeClr val="accent1"/>
          </a:effectRef>
          <a:fontRef idx="minor">
            <a:schemeClr val="tx1"/>
          </a:fontRef>
        </p:style>
      </p:cxnSp>
      <p:sp>
        <p:nvSpPr>
          <p:cNvPr id="73" name="Clinical reasoning takeaway"/>
          <p:cNvSpPr txBox="1"/>
          <p:nvPr/>
        </p:nvSpPr>
        <p:spPr>
          <a:xfrm>
            <a:off x="5447023" y="8833045"/>
            <a:ext cx="12086267" cy="415415"/>
          </a:xfrm>
          <a:prstGeom prst="rect">
            <a:avLst/>
          </a:prstGeom>
          <a:noFill/>
          <a:effectLst/>
        </p:spPr>
        <p:txBody>
          <a:bodyPr wrap="square" lIns="0" tIns="0" rIns="0" bIns="0" anchor="t">
            <a:noAutofit/>
          </a:bodyPr>
          <a:lstStyle/>
          <a:p>
            <a:pPr algn="l">
              <a:lnSpc>
                <a:spcPct val="104000"/>
              </a:lnSpc>
              <a:spcBef>
                <a:spcPts val="0"/>
              </a:spcBef>
              <a:spcAft>
                <a:spcPts val="0"/>
              </a:spcAft>
              <a:defRPr sz="2280" b="1" i="0">
                <a:solidFill>
                  <a:srgbClr val="124936"/>
                </a:solidFill>
                <a:latin typeface="Times New Roman" panose="02020603050405020304"/>
              </a:defRPr>
            </a:pPr>
            <a:r>
              <a:rPr sz="2280" b="1" i="0">
                <a:solidFill>
                  <a:srgbClr val="124936"/>
                </a:solidFill>
                <a:latin typeface="Times New Roman" panose="02020603050405020304"/>
              </a:rPr>
              <a:t>Clinical reasoning requires selecting the relevant visual evidence.</a:t>
            </a:r>
            <a:endParaRPr sz="2280" b="1" i="0">
              <a:solidFill>
                <a:srgbClr val="124936"/>
              </a:solidFill>
              <a:latin typeface="Times New Roman" panose="02020603050405020304"/>
            </a:endParaRPr>
          </a:p>
        </p:txBody>
      </p:sp>
      <p:sp>
        <p:nvSpPr>
          <p:cNvPr id="74" name="Question and score version note"/>
          <p:cNvSpPr txBox="1"/>
          <p:nvPr/>
        </p:nvSpPr>
        <p:spPr>
          <a:xfrm>
            <a:off x="426574" y="9357781"/>
            <a:ext cx="8728363" cy="262367"/>
          </a:xfrm>
          <a:prstGeom prst="rect">
            <a:avLst/>
          </a:prstGeom>
          <a:noFill/>
          <a:effectLst/>
        </p:spPr>
        <p:txBody>
          <a:bodyPr wrap="square" lIns="0" tIns="0" rIns="0" bIns="0" anchor="t">
            <a:noAutofit/>
          </a:bodyPr>
          <a:lstStyle/>
          <a:p>
            <a:pPr algn="l">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Dataset v1.3.0 · Question v1.2.1 · Scores v1.1.0; revised question not rerun.</a:t>
            </a:r>
            <a:endParaRPr sz="1375" b="0" i="0">
              <a:solidFill>
                <a:srgbClr val="10243C"/>
              </a:solidFill>
              <a:latin typeface="Times New Roman" panose="02020603050405020304"/>
            </a:endParaRPr>
          </a:p>
        </p:txBody>
      </p:sp>
      <p:sp>
        <p:nvSpPr>
          <p:cNvPr id="75" name="Clinical source credit"/>
          <p:cNvSpPr txBox="1"/>
          <p:nvPr/>
        </p:nvSpPr>
        <p:spPr>
          <a:xfrm>
            <a:off x="9187751" y="9357781"/>
            <a:ext cx="8433043" cy="262367"/>
          </a:xfrm>
          <a:prstGeom prst="rect">
            <a:avLst/>
          </a:prstGeom>
          <a:noFill/>
          <a:effectLst/>
        </p:spPr>
        <p:txBody>
          <a:bodyPr wrap="square" lIns="0" tIns="0" rIns="0" bIns="0" anchor="t">
            <a:noAutofit/>
          </a:bodyPr>
          <a:lstStyle/>
          <a:p>
            <a:pPr algn="r">
              <a:lnSpc>
                <a:spcPct val="104000"/>
              </a:lnSpc>
              <a:spcBef>
                <a:spcPts val="0"/>
              </a:spcBef>
              <a:spcAft>
                <a:spcPts val="0"/>
              </a:spcAft>
              <a:defRPr sz="1325" b="0" i="0">
                <a:solidFill>
                  <a:srgbClr val="10243C"/>
                </a:solidFill>
                <a:latin typeface="Times New Roman" panose="02020603050405020304"/>
              </a:defRPr>
            </a:pPr>
            <a:r>
              <a:rPr sz="1325" b="0" i="0">
                <a:solidFill>
                  <a:srgbClr val="10243C"/>
                </a:solidFill>
                <a:latin typeface="Times New Roman" panose="02020603050405020304"/>
              </a:rPr>
              <a:t>Item: q01-04cfddb40624b468 · MRI: Zhao et al., Front Oncol. 2026 · doi:10.3389/fonc.2026.1776760 · CC BY</a:t>
            </a:r>
            <a:endParaRPr sz="1325" b="0" i="0">
              <a:solidFill>
                <a:srgbClr val="10243C"/>
              </a:solidFill>
              <a:latin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BF8F1"/>
        </a:solidFill>
        <a:effectLst/>
      </p:bgPr>
    </p:bg>
    <p:spTree>
      <p:nvGrpSpPr>
        <p:cNvPr id="1" name=""/>
        <p:cNvGrpSpPr/>
        <p:nvPr/>
      </p:nvGrpSpPr>
      <p:grpSpPr/>
      <p:sp>
        <p:nvSpPr>
          <p:cNvPr id="2" name="Masthead gradient"/>
          <p:cNvSpPr/>
          <p:nvPr/>
        </p:nvSpPr>
        <p:spPr>
          <a:xfrm>
            <a:off x="0" y="0"/>
            <a:ext cx="18288000" cy="1497682"/>
          </a:xfrm>
          <a:prstGeom prst="rect">
            <a:avLst/>
          </a:prstGeom>
          <a:blipFill rotWithShape="1">
            <a:blip r:embed="rId1"/>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latin typeface="Times New Roman" panose="02020603050405020304"/>
              </a:defRPr>
            </a:pPr>
          </a:p>
        </p:txBody>
      </p:sp>
      <p:sp>
        <p:nvSpPr>
          <p:cNvPr id="3" name="Main title"/>
          <p:cNvSpPr txBox="1"/>
          <p:nvPr/>
        </p:nvSpPr>
        <p:spPr>
          <a:xfrm>
            <a:off x="503138" y="163979"/>
            <a:ext cx="14656650" cy="830831"/>
          </a:xfrm>
          <a:prstGeom prst="rect">
            <a:avLst/>
          </a:prstGeom>
          <a:noFill/>
          <a:effectLst/>
        </p:spPr>
        <p:txBody>
          <a:bodyPr wrap="square" lIns="0" tIns="0" rIns="0" bIns="0" anchor="t">
            <a:noAutofit/>
          </a:bodyPr>
          <a:lstStyle/>
          <a:p>
            <a:pPr algn="l">
              <a:lnSpc>
                <a:spcPct val="104000"/>
              </a:lnSpc>
              <a:spcBef>
                <a:spcPts val="0"/>
              </a:spcBef>
              <a:spcAft>
                <a:spcPts val="0"/>
              </a:spcAft>
              <a:defRPr sz="5510" b="1" i="0">
                <a:solidFill>
                  <a:srgbClr val="FFFDFA"/>
                </a:solidFill>
                <a:latin typeface="Times New Roman" panose="02020603050405020304"/>
              </a:defRPr>
            </a:pPr>
            <a:r>
              <a:rPr sz="5510" b="1" i="0">
                <a:solidFill>
                  <a:srgbClr val="FFFDFA"/>
                </a:solidFill>
                <a:latin typeface="Times New Roman" panose="02020603050405020304"/>
              </a:rPr>
              <a:t>Medical Doctor’s Last Exam</a:t>
            </a:r>
            <a:endParaRPr sz="5510" b="1" i="0">
              <a:solidFill>
                <a:srgbClr val="FFFDFA"/>
              </a:solidFill>
              <a:latin typeface="Times New Roman" panose="02020603050405020304"/>
            </a:endParaRPr>
          </a:p>
        </p:txBody>
      </p:sp>
      <p:sp>
        <p:nvSpPr>
          <p:cNvPr id="4" name="Page subtitle"/>
          <p:cNvSpPr txBox="1"/>
          <p:nvPr/>
        </p:nvSpPr>
        <p:spPr>
          <a:xfrm>
            <a:off x="503138" y="951082"/>
            <a:ext cx="14711339" cy="513803"/>
          </a:xfrm>
          <a:prstGeom prst="rect">
            <a:avLst/>
          </a:prstGeom>
          <a:noFill/>
          <a:effectLst/>
        </p:spPr>
        <p:txBody>
          <a:bodyPr wrap="square" lIns="0" tIns="0" rIns="0" bIns="0" anchor="t">
            <a:noAutofit/>
          </a:bodyPr>
          <a:lstStyle/>
          <a:p>
            <a:pPr algn="l">
              <a:lnSpc>
                <a:spcPct val="104000"/>
              </a:lnSpc>
              <a:spcBef>
                <a:spcPts val="0"/>
              </a:spcBef>
              <a:spcAft>
                <a:spcPts val="0"/>
              </a:spcAft>
              <a:defRPr sz="2755" b="0" i="1">
                <a:solidFill>
                  <a:srgbClr val="FFFDFA"/>
                </a:solidFill>
                <a:latin typeface="Times New Roman" panose="02020603050405020304"/>
              </a:defRPr>
            </a:pPr>
            <a:r>
              <a:rPr sz="2755" b="0" i="1">
                <a:solidFill>
                  <a:srgbClr val="FFFDFA"/>
                </a:solidFill>
                <a:latin typeface="Times New Roman" panose="02020603050405020304"/>
              </a:rPr>
              <a:t>A reference-standard item</a:t>
            </a:r>
            <a:endParaRPr sz="2755" b="0" i="1">
              <a:solidFill>
                <a:srgbClr val="FFFDFA"/>
              </a:solidFill>
              <a:latin typeface="Times New Roman" panose="02020603050405020304"/>
            </a:endParaRPr>
          </a:p>
        </p:txBody>
      </p:sp>
      <p:sp>
        <p:nvSpPr>
          <p:cNvPr id="5" name="MDLE wordmark frame"/>
          <p:cNvSpPr/>
          <p:nvPr/>
        </p:nvSpPr>
        <p:spPr>
          <a:xfrm>
            <a:off x="16023875" y="237563"/>
            <a:ext cx="1782861" cy="1136172"/>
          </a:xfrm>
          <a:prstGeom prst="rect">
            <a:avLst/>
          </a:prstGeom>
          <a:noFill/>
          <a:ln w="10937">
            <a:solidFill>
              <a:srgbClr val="EADA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latin typeface="Times New Roman" panose="02020603050405020304"/>
              </a:defRPr>
            </a:pPr>
          </a:p>
        </p:txBody>
      </p:sp>
      <p:sp>
        <p:nvSpPr>
          <p:cNvPr id="6" name="MDLE wordmark"/>
          <p:cNvSpPr txBox="1"/>
          <p:nvPr/>
        </p:nvSpPr>
        <p:spPr>
          <a:xfrm>
            <a:off x="16144191" y="402824"/>
            <a:ext cx="1542229" cy="815978"/>
          </a:xfrm>
          <a:prstGeom prst="rect">
            <a:avLst/>
          </a:prstGeom>
          <a:noFill/>
          <a:effectLst/>
        </p:spPr>
        <p:txBody>
          <a:bodyPr wrap="square" lIns="0" tIns="0" rIns="0" bIns="0" anchor="t">
            <a:noAutofit/>
          </a:bodyPr>
          <a:lstStyle/>
          <a:p>
            <a:pPr algn="ctr">
              <a:lnSpc>
                <a:spcPct val="104000"/>
              </a:lnSpc>
              <a:spcBef>
                <a:spcPts val="0"/>
              </a:spcBef>
              <a:spcAft>
                <a:spcPts val="0"/>
              </a:spcAft>
              <a:defRPr sz="1790" b="1" i="0">
                <a:solidFill>
                  <a:srgbClr val="FFFDFA"/>
                </a:solidFill>
                <a:latin typeface="Times New Roman" panose="02020603050405020304"/>
              </a:defRPr>
            </a:pPr>
            <a:r>
              <a:rPr sz="1790" b="1" i="0">
                <a:solidFill>
                  <a:srgbClr val="FFFDFA"/>
                </a:solidFill>
                <a:latin typeface="Times New Roman" panose="02020603050405020304"/>
              </a:rPr>
              <a:t>MEDICAL</a:t>
            </a:r>
            <a:endParaRPr sz="1790" b="1" i="0">
              <a:solidFill>
                <a:srgbClr val="FFFDFA"/>
              </a:solidFill>
              <a:latin typeface="Times New Roman" panose="02020603050405020304"/>
            </a:endParaRPr>
          </a:p>
          <a:p>
            <a:pPr algn="ctr">
              <a:lnSpc>
                <a:spcPct val="104000"/>
              </a:lnSpc>
              <a:spcBef>
                <a:spcPts val="0"/>
              </a:spcBef>
              <a:spcAft>
                <a:spcPts val="0"/>
              </a:spcAft>
              <a:defRPr sz="1790" b="1" i="0">
                <a:solidFill>
                  <a:srgbClr val="FFFDFA"/>
                </a:solidFill>
                <a:latin typeface="Times New Roman" panose="02020603050405020304"/>
              </a:defRPr>
            </a:pPr>
            <a:r>
              <a:rPr sz="1790" b="1" i="0">
                <a:solidFill>
                  <a:srgbClr val="FFFDFA"/>
                </a:solidFill>
                <a:latin typeface="Times New Roman" panose="02020603050405020304"/>
              </a:rPr>
              <a:t>DOCTOR’S</a:t>
            </a:r>
            <a:endParaRPr sz="1790" b="1" i="0">
              <a:solidFill>
                <a:srgbClr val="FFFDFA"/>
              </a:solidFill>
              <a:latin typeface="Times New Roman" panose="02020603050405020304"/>
            </a:endParaRPr>
          </a:p>
          <a:p>
            <a:pPr algn="ctr">
              <a:lnSpc>
                <a:spcPct val="104000"/>
              </a:lnSpc>
              <a:spcBef>
                <a:spcPts val="0"/>
              </a:spcBef>
              <a:spcAft>
                <a:spcPts val="0"/>
              </a:spcAft>
              <a:defRPr sz="1790" b="1" i="0">
                <a:solidFill>
                  <a:srgbClr val="FFFDFA"/>
                </a:solidFill>
                <a:latin typeface="Times New Roman" panose="02020603050405020304"/>
              </a:defRPr>
            </a:pPr>
            <a:r>
              <a:rPr sz="1790" b="1" i="0">
                <a:solidFill>
                  <a:srgbClr val="FFFDFA"/>
                </a:solidFill>
                <a:latin typeface="Times New Roman" panose="02020603050405020304"/>
              </a:rPr>
              <a:t>LAST EXAM</a:t>
            </a:r>
            <a:endParaRPr sz="1790" b="1" i="0">
              <a:solidFill>
                <a:srgbClr val="FFFDFA"/>
              </a:solidFill>
              <a:latin typeface="Times New Roman" panose="02020603050405020304"/>
            </a:endParaRPr>
          </a:p>
        </p:txBody>
      </p:sp>
      <p:sp>
        <p:nvSpPr>
          <p:cNvPr id="7" name="Footer gradient"/>
          <p:cNvSpPr/>
          <p:nvPr/>
        </p:nvSpPr>
        <p:spPr>
          <a:xfrm>
            <a:off x="0" y="9740400"/>
            <a:ext cx="18288000" cy="546599"/>
          </a:xfrm>
          <a:prstGeom prst="rect">
            <a:avLst/>
          </a:prstGeom>
          <a:blipFill rotWithShape="1">
            <a:blip r:embed="rId2"/>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latin typeface="Times New Roman" panose="02020603050405020304"/>
              </a:defRPr>
            </a:pPr>
          </a:p>
        </p:txBody>
      </p:sp>
      <p:cxnSp>
        <p:nvCxnSpPr>
          <p:cNvPr id="8" name="Footer left rule"/>
          <p:cNvCxnSpPr/>
          <p:nvPr/>
        </p:nvCxnSpPr>
        <p:spPr>
          <a:xfrm>
            <a:off x="2275062" y="10013700"/>
            <a:ext cx="2811014"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9" name="Footer left diamond"/>
          <p:cNvSpPr/>
          <p:nvPr/>
        </p:nvSpPr>
        <p:spPr>
          <a:xfrm>
            <a:off x="5173578" y="9948108"/>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latin typeface="Times New Roman" panose="02020603050405020304"/>
              </a:defRPr>
            </a:pPr>
          </a:p>
        </p:txBody>
      </p:sp>
      <p:cxnSp>
        <p:nvCxnSpPr>
          <p:cNvPr id="10" name="Footer right rule"/>
          <p:cNvCxnSpPr/>
          <p:nvPr/>
        </p:nvCxnSpPr>
        <p:spPr>
          <a:xfrm>
            <a:off x="13136296" y="10013700"/>
            <a:ext cx="2887579"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 name="Footer right diamond"/>
          <p:cNvSpPr/>
          <p:nvPr/>
        </p:nvSpPr>
        <p:spPr>
          <a:xfrm>
            <a:off x="12928478" y="9948108"/>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latin typeface="Times New Roman" panose="02020603050405020304"/>
              </a:defRPr>
            </a:pPr>
          </a:p>
        </p:txBody>
      </p:sp>
      <p:sp>
        <p:nvSpPr>
          <p:cNvPr id="12" name="Footer tagline"/>
          <p:cNvSpPr txBox="1"/>
          <p:nvPr/>
        </p:nvSpPr>
        <p:spPr>
          <a:xfrm>
            <a:off x="5665779" y="9849720"/>
            <a:ext cx="7109569"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495" b="0" i="1">
                <a:solidFill>
                  <a:srgbClr val="FFFDFA"/>
                </a:solidFill>
                <a:latin typeface="Times New Roman" panose="02020603050405020304"/>
              </a:defRPr>
            </a:pPr>
            <a:r>
              <a:rPr sz="2495" b="0" i="1">
                <a:solidFill>
                  <a:srgbClr val="FFFDFA"/>
                </a:solidFill>
                <a:latin typeface="Times New Roman" panose="02020603050405020304"/>
              </a:rPr>
              <a:t>A living benchmark for next-generation medical AI</a:t>
            </a:r>
            <a:endParaRPr sz="2495" b="0" i="1">
              <a:solidFill>
                <a:srgbClr val="FFFDFA"/>
              </a:solidFill>
              <a:latin typeface="Times New Roman" panose="02020603050405020304"/>
            </a:endParaRPr>
          </a:p>
        </p:txBody>
      </p:sp>
      <p:cxnSp>
        <p:nvCxnSpPr>
          <p:cNvPr id="13" name="Sample item left rule"/>
          <p:cNvCxnSpPr/>
          <p:nvPr/>
        </p:nvCxnSpPr>
        <p:spPr>
          <a:xfrm>
            <a:off x="328133" y="1749117"/>
            <a:ext cx="6650182"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cxnSp>
        <p:nvCxnSpPr>
          <p:cNvPr id="14" name="Sample item right rule"/>
          <p:cNvCxnSpPr/>
          <p:nvPr/>
        </p:nvCxnSpPr>
        <p:spPr>
          <a:xfrm>
            <a:off x="11309684" y="1749117"/>
            <a:ext cx="6661119"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5" name="Open dataset sample label"/>
          <p:cNvSpPr txBox="1"/>
          <p:nvPr/>
        </p:nvSpPr>
        <p:spPr>
          <a:xfrm>
            <a:off x="7109569" y="1563274"/>
            <a:ext cx="4090736" cy="371687"/>
          </a:xfrm>
          <a:prstGeom prst="rect">
            <a:avLst/>
          </a:prstGeom>
          <a:noFill/>
          <a:effectLst/>
        </p:spPr>
        <p:txBody>
          <a:bodyPr wrap="square" lIns="0" tIns="0" rIns="0" bIns="0" anchor="t">
            <a:noAutofit/>
          </a:bodyPr>
          <a:lstStyle/>
          <a:p>
            <a:pPr algn="ctr">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BENCHMARK · SAMPLE ITEM</a:t>
            </a:r>
            <a:endParaRPr sz="1980" b="1" i="0">
              <a:solidFill>
                <a:srgbClr val="124936"/>
              </a:solidFill>
              <a:latin typeface="Times New Roman" panose="02020603050405020304"/>
            </a:endParaRPr>
          </a:p>
        </p:txBody>
      </p:sp>
      <p:sp>
        <p:nvSpPr>
          <p:cNvPr id="16" name="Sample item diamond"/>
          <p:cNvSpPr/>
          <p:nvPr/>
        </p:nvSpPr>
        <p:spPr>
          <a:xfrm>
            <a:off x="9089311" y="1880301"/>
            <a:ext cx="175004" cy="17491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Question reasoning separator"/>
          <p:cNvCxnSpPr/>
          <p:nvPr/>
        </p:nvCxnSpPr>
        <p:spPr>
          <a:xfrm>
            <a:off x="6551741" y="2022417"/>
            <a:ext cx="0" cy="7215112"/>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cxnSp>
        <p:nvCxnSpPr>
          <p:cNvPr id="18" name="Reasoning rubric separator"/>
          <p:cNvCxnSpPr/>
          <p:nvPr/>
        </p:nvCxnSpPr>
        <p:spPr>
          <a:xfrm>
            <a:off x="12414401" y="2022417"/>
            <a:ext cx="0" cy="7215112"/>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9" name="Section 01 number"/>
          <p:cNvSpPr txBox="1"/>
          <p:nvPr/>
        </p:nvSpPr>
        <p:spPr>
          <a:xfrm>
            <a:off x="328133" y="1967757"/>
            <a:ext cx="1028153" cy="787103"/>
          </a:xfrm>
          <a:prstGeom prst="rect">
            <a:avLst/>
          </a:prstGeom>
          <a:noFill/>
          <a:effectLst/>
        </p:spPr>
        <p:txBody>
          <a:bodyPr wrap="square" lIns="0" tIns="0" rIns="0" bIns="0" anchor="t">
            <a:noAutofit/>
          </a:bodyPr>
          <a:lstStyle/>
          <a:p>
            <a:pPr algn="l">
              <a:lnSpc>
                <a:spcPct val="104000"/>
              </a:lnSpc>
              <a:spcBef>
                <a:spcPts val="0"/>
              </a:spcBef>
              <a:spcAft>
                <a:spcPts val="0"/>
              </a:spcAft>
              <a:defRPr sz="5510" b="1" i="0">
                <a:solidFill>
                  <a:srgbClr val="124936"/>
                </a:solidFill>
                <a:latin typeface="Times New Roman" panose="02020603050405020304"/>
              </a:defRPr>
            </a:pPr>
            <a:r>
              <a:rPr sz="5510" b="1" i="0">
                <a:solidFill>
                  <a:srgbClr val="124936"/>
                </a:solidFill>
                <a:latin typeface="Times New Roman" panose="02020603050405020304"/>
              </a:rPr>
              <a:t>01</a:t>
            </a:r>
            <a:endParaRPr sz="5510" b="1" i="0">
              <a:solidFill>
                <a:srgbClr val="124936"/>
              </a:solidFill>
              <a:latin typeface="Times New Roman" panose="02020603050405020304"/>
            </a:endParaRPr>
          </a:p>
        </p:txBody>
      </p:sp>
      <p:sp>
        <p:nvSpPr>
          <p:cNvPr id="20" name="Section 01 title"/>
          <p:cNvSpPr txBox="1"/>
          <p:nvPr/>
        </p:nvSpPr>
        <p:spPr>
          <a:xfrm>
            <a:off x="1443789" y="2219193"/>
            <a:ext cx="4867320" cy="470075"/>
          </a:xfrm>
          <a:prstGeom prst="rect">
            <a:avLst/>
          </a:prstGeom>
          <a:noFill/>
          <a:effectLst/>
        </p:spPr>
        <p:txBody>
          <a:bodyPr wrap="square" lIns="0" tIns="0" rIns="0" bIns="0" anchor="t">
            <a:noAutofit/>
          </a:bodyPr>
          <a:lstStyle/>
          <a:p>
            <a:pPr algn="l">
              <a:lnSpc>
                <a:spcPct val="104000"/>
              </a:lnSpc>
              <a:spcBef>
                <a:spcPts val="0"/>
              </a:spcBef>
              <a:spcAft>
                <a:spcPts val="0"/>
              </a:spcAft>
              <a:defRPr sz="2840" b="1" i="0">
                <a:solidFill>
                  <a:srgbClr val="124936"/>
                </a:solidFill>
                <a:latin typeface="Times New Roman" panose="02020603050405020304"/>
              </a:defRPr>
            </a:pPr>
            <a:r>
              <a:rPr sz="2840" b="1" i="0">
                <a:solidFill>
                  <a:srgbClr val="124936"/>
                </a:solidFill>
                <a:latin typeface="Times New Roman" panose="02020603050405020304"/>
              </a:rPr>
              <a:t>THE QUESTION</a:t>
            </a:r>
            <a:endParaRPr sz="2840" b="1" i="0">
              <a:solidFill>
                <a:srgbClr val="124936"/>
              </a:solidFill>
              <a:latin typeface="Times New Roman" panose="02020603050405020304"/>
            </a:endParaRPr>
          </a:p>
        </p:txBody>
      </p:sp>
      <p:sp>
        <p:nvSpPr>
          <p:cNvPr id="21" name="Section 02 number"/>
          <p:cNvSpPr txBox="1"/>
          <p:nvPr/>
        </p:nvSpPr>
        <p:spPr>
          <a:xfrm>
            <a:off x="6792373" y="1967757"/>
            <a:ext cx="1028153" cy="787103"/>
          </a:xfrm>
          <a:prstGeom prst="rect">
            <a:avLst/>
          </a:prstGeom>
          <a:noFill/>
          <a:effectLst/>
        </p:spPr>
        <p:txBody>
          <a:bodyPr wrap="square" lIns="0" tIns="0" rIns="0" bIns="0" anchor="t">
            <a:noAutofit/>
          </a:bodyPr>
          <a:lstStyle/>
          <a:p>
            <a:pPr algn="l">
              <a:lnSpc>
                <a:spcPct val="104000"/>
              </a:lnSpc>
              <a:spcBef>
                <a:spcPts val="0"/>
              </a:spcBef>
              <a:spcAft>
                <a:spcPts val="0"/>
              </a:spcAft>
              <a:defRPr sz="5510" b="1" i="0">
                <a:solidFill>
                  <a:srgbClr val="124936"/>
                </a:solidFill>
                <a:latin typeface="Times New Roman" panose="02020603050405020304"/>
              </a:defRPr>
            </a:pPr>
            <a:r>
              <a:rPr sz="5510" b="1" i="0">
                <a:solidFill>
                  <a:srgbClr val="124936"/>
                </a:solidFill>
                <a:latin typeface="Times New Roman" panose="02020603050405020304"/>
              </a:rPr>
              <a:t>02</a:t>
            </a:r>
            <a:endParaRPr sz="5510" b="1" i="0">
              <a:solidFill>
                <a:srgbClr val="124936"/>
              </a:solidFill>
              <a:latin typeface="Times New Roman" panose="02020603050405020304"/>
            </a:endParaRPr>
          </a:p>
        </p:txBody>
      </p:sp>
      <p:sp>
        <p:nvSpPr>
          <p:cNvPr id="22" name="Section 02 title"/>
          <p:cNvSpPr txBox="1"/>
          <p:nvPr/>
        </p:nvSpPr>
        <p:spPr>
          <a:xfrm>
            <a:off x="7951779" y="2219193"/>
            <a:ext cx="4265741" cy="470075"/>
          </a:xfrm>
          <a:prstGeom prst="rect">
            <a:avLst/>
          </a:prstGeom>
          <a:noFill/>
          <a:effectLst/>
        </p:spPr>
        <p:txBody>
          <a:bodyPr wrap="square" lIns="0" tIns="0" rIns="0" bIns="0" anchor="t">
            <a:noAutofit/>
          </a:bodyPr>
          <a:lstStyle/>
          <a:p>
            <a:pPr algn="l">
              <a:lnSpc>
                <a:spcPct val="104000"/>
              </a:lnSpc>
              <a:spcBef>
                <a:spcPts val="0"/>
              </a:spcBef>
              <a:spcAft>
                <a:spcPts val="0"/>
              </a:spcAft>
              <a:defRPr sz="2585" b="1" i="0">
                <a:solidFill>
                  <a:srgbClr val="124936"/>
                </a:solidFill>
                <a:latin typeface="Times New Roman" panose="02020603050405020304"/>
              </a:defRPr>
            </a:pPr>
            <a:r>
              <a:rPr sz="2585" b="1" i="0">
                <a:solidFill>
                  <a:srgbClr val="124936"/>
                </a:solidFill>
                <a:latin typeface="Times New Roman" panose="02020603050405020304"/>
              </a:rPr>
              <a:t>REFERENCE REASONING</a:t>
            </a:r>
            <a:endParaRPr sz="2585" b="1" i="0">
              <a:solidFill>
                <a:srgbClr val="124936"/>
              </a:solidFill>
              <a:latin typeface="Times New Roman" panose="02020603050405020304"/>
            </a:endParaRPr>
          </a:p>
        </p:txBody>
      </p:sp>
      <p:sp>
        <p:nvSpPr>
          <p:cNvPr id="23" name="Section 03 number"/>
          <p:cNvSpPr txBox="1"/>
          <p:nvPr/>
        </p:nvSpPr>
        <p:spPr>
          <a:xfrm>
            <a:off x="12655033" y="1967757"/>
            <a:ext cx="1028153" cy="787103"/>
          </a:xfrm>
          <a:prstGeom prst="rect">
            <a:avLst/>
          </a:prstGeom>
          <a:noFill/>
          <a:effectLst/>
        </p:spPr>
        <p:txBody>
          <a:bodyPr wrap="square" lIns="0" tIns="0" rIns="0" bIns="0" anchor="t">
            <a:noAutofit/>
          </a:bodyPr>
          <a:lstStyle/>
          <a:p>
            <a:pPr algn="l">
              <a:lnSpc>
                <a:spcPct val="104000"/>
              </a:lnSpc>
              <a:spcBef>
                <a:spcPts val="0"/>
              </a:spcBef>
              <a:spcAft>
                <a:spcPts val="0"/>
              </a:spcAft>
              <a:defRPr sz="5510" b="1" i="0">
                <a:solidFill>
                  <a:srgbClr val="124936"/>
                </a:solidFill>
                <a:latin typeface="Times New Roman" panose="02020603050405020304"/>
              </a:defRPr>
            </a:pPr>
            <a:r>
              <a:rPr sz="5510" b="1" i="0">
                <a:solidFill>
                  <a:srgbClr val="124936"/>
                </a:solidFill>
                <a:latin typeface="Times New Roman" panose="02020603050405020304"/>
              </a:rPr>
              <a:t>03</a:t>
            </a:r>
            <a:endParaRPr sz="5510" b="1" i="0">
              <a:solidFill>
                <a:srgbClr val="124936"/>
              </a:solidFill>
              <a:latin typeface="Times New Roman" panose="02020603050405020304"/>
            </a:endParaRPr>
          </a:p>
        </p:txBody>
      </p:sp>
      <p:sp>
        <p:nvSpPr>
          <p:cNvPr id="24" name="Section 03 title"/>
          <p:cNvSpPr txBox="1"/>
          <p:nvPr/>
        </p:nvSpPr>
        <p:spPr>
          <a:xfrm>
            <a:off x="13869129" y="2219193"/>
            <a:ext cx="4167301" cy="470075"/>
          </a:xfrm>
          <a:prstGeom prst="rect">
            <a:avLst/>
          </a:prstGeom>
          <a:noFill/>
          <a:effectLst/>
        </p:spPr>
        <p:txBody>
          <a:bodyPr wrap="square" lIns="0" tIns="0" rIns="0" bIns="0" anchor="t">
            <a:noAutofit/>
          </a:bodyPr>
          <a:lstStyle/>
          <a:p>
            <a:pPr algn="l">
              <a:lnSpc>
                <a:spcPct val="104000"/>
              </a:lnSpc>
              <a:spcBef>
                <a:spcPts val="0"/>
              </a:spcBef>
              <a:spcAft>
                <a:spcPts val="0"/>
              </a:spcAft>
              <a:defRPr sz="2840" b="1" i="0">
                <a:solidFill>
                  <a:srgbClr val="124936"/>
                </a:solidFill>
                <a:latin typeface="Times New Roman" panose="02020603050405020304"/>
              </a:defRPr>
            </a:pPr>
            <a:r>
              <a:rPr sz="2840" b="1" i="0">
                <a:solidFill>
                  <a:srgbClr val="124936"/>
                </a:solidFill>
                <a:latin typeface="Times New Roman" panose="02020603050405020304"/>
              </a:rPr>
              <a:t>SCORING POINTS</a:t>
            </a:r>
            <a:endParaRPr sz="2840" b="1" i="0">
              <a:solidFill>
                <a:srgbClr val="124936"/>
              </a:solidFill>
              <a:latin typeface="Times New Roman" panose="02020603050405020304"/>
            </a:endParaRPr>
          </a:p>
        </p:txBody>
      </p:sp>
      <p:cxnSp>
        <p:nvCxnSpPr>
          <p:cNvPr id="25" name="Question heading divider left"/>
          <p:cNvCxnSpPr/>
          <p:nvPr/>
        </p:nvCxnSpPr>
        <p:spPr>
          <a:xfrm>
            <a:off x="328133" y="2776724"/>
            <a:ext cx="2865704"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26" name="Question heading divider right"/>
          <p:cNvCxnSpPr/>
          <p:nvPr/>
        </p:nvCxnSpPr>
        <p:spPr>
          <a:xfrm>
            <a:off x="3456344" y="2776724"/>
            <a:ext cx="2865703"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27" name="Question heading divider diamond"/>
          <p:cNvSpPr/>
          <p:nvPr/>
        </p:nvSpPr>
        <p:spPr>
          <a:xfrm>
            <a:off x="3264933" y="2716598"/>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8" name="Reasoning heading divider left"/>
          <p:cNvCxnSpPr/>
          <p:nvPr/>
        </p:nvCxnSpPr>
        <p:spPr>
          <a:xfrm>
            <a:off x="6792373" y="2776724"/>
            <a:ext cx="2559445"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29" name="Reasoning heading divider right"/>
          <p:cNvCxnSpPr/>
          <p:nvPr/>
        </p:nvCxnSpPr>
        <p:spPr>
          <a:xfrm>
            <a:off x="9614325" y="2776724"/>
            <a:ext cx="2559445"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30" name="Reasoning heading divider diamond"/>
          <p:cNvSpPr/>
          <p:nvPr/>
        </p:nvSpPr>
        <p:spPr>
          <a:xfrm>
            <a:off x="9422913" y="2716598"/>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1" name="Rubric heading divider left"/>
          <p:cNvCxnSpPr/>
          <p:nvPr/>
        </p:nvCxnSpPr>
        <p:spPr>
          <a:xfrm>
            <a:off x="12655033" y="2776724"/>
            <a:ext cx="2537569"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32" name="Rubric heading divider right"/>
          <p:cNvCxnSpPr/>
          <p:nvPr/>
        </p:nvCxnSpPr>
        <p:spPr>
          <a:xfrm>
            <a:off x="15455110" y="2776724"/>
            <a:ext cx="2537569"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33" name="Rubric heading divider diamond"/>
          <p:cNvSpPr/>
          <p:nvPr/>
        </p:nvSpPr>
        <p:spPr>
          <a:xfrm>
            <a:off x="15263698" y="2716598"/>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Question evidence panel"/>
          <p:cNvSpPr/>
          <p:nvPr/>
        </p:nvSpPr>
        <p:spPr>
          <a:xfrm>
            <a:off x="328133" y="2940704"/>
            <a:ext cx="5993913" cy="6296824"/>
          </a:xfrm>
          <a:prstGeom prst="roundRect">
            <a:avLst>
              <a:gd name="adj" fmla="val 3000"/>
            </a:avLst>
          </a:prstGeom>
          <a:no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Clinical question context"/>
          <p:cNvSpPr txBox="1"/>
          <p:nvPr/>
        </p:nvSpPr>
        <p:spPr>
          <a:xfrm>
            <a:off x="470325" y="3126548"/>
            <a:ext cx="5731406" cy="732443"/>
          </a:xfrm>
          <a:prstGeom prst="rect">
            <a:avLst/>
          </a:prstGeom>
          <a:noFill/>
          <a:effectLst/>
        </p:spPr>
        <p:txBody>
          <a:bodyPr wrap="square" lIns="0" tIns="0" rIns="0" bIns="0" anchor="t">
            <a:noAutofit/>
          </a:bodyPr>
          <a:lstStyle/>
          <a:p>
            <a:pPr algn="l">
              <a:lnSpc>
                <a:spcPct val="104000"/>
              </a:lnSpc>
              <a:spcBef>
                <a:spcPts val="0"/>
              </a:spcBef>
              <a:spcAft>
                <a:spcPts val="0"/>
              </a:spcAft>
              <a:defRPr sz="2110" b="0" i="0">
                <a:solidFill>
                  <a:srgbClr val="00234D"/>
                </a:solidFill>
                <a:latin typeface="Times New Roman" panose="02020603050405020304"/>
              </a:defRPr>
            </a:pPr>
            <a:r>
              <a:rPr sz="2110" b="0" i="0">
                <a:solidFill>
                  <a:srgbClr val="00234D"/>
                </a:solidFill>
                <a:latin typeface="Times New Roman" panose="02020603050405020304"/>
              </a:rPr>
              <a:t>A neonate’s neck mass looked well defined on MRI.</a:t>
            </a:r>
            <a:endParaRPr sz="2110" b="0" i="0">
              <a:solidFill>
                <a:srgbClr val="00234D"/>
              </a:solidFill>
              <a:latin typeface="Times New Roman" panose="02020603050405020304"/>
            </a:endParaRPr>
          </a:p>
          <a:p>
            <a:pPr algn="l">
              <a:lnSpc>
                <a:spcPct val="104000"/>
              </a:lnSpc>
              <a:spcBef>
                <a:spcPts val="0"/>
              </a:spcBef>
              <a:spcAft>
                <a:spcPts val="0"/>
              </a:spcAft>
              <a:defRPr sz="2110" b="0" i="0">
                <a:solidFill>
                  <a:srgbClr val="00234D"/>
                </a:solidFill>
                <a:latin typeface="Times New Roman" panose="02020603050405020304"/>
              </a:defRPr>
            </a:pPr>
            <a:r>
              <a:rPr sz="2110" b="0" i="0">
                <a:solidFill>
                  <a:srgbClr val="00234D"/>
                </a:solidFill>
                <a:latin typeface="Times New Roman" panose="02020603050405020304"/>
              </a:rPr>
              <a:t>Surgery: no capsule; both carotid arteries encased.</a:t>
            </a:r>
            <a:endParaRPr sz="2110" b="0" i="0">
              <a:solidFill>
                <a:srgbClr val="00234D"/>
              </a:solidFill>
              <a:latin typeface="Times New Roman" panose="02020603050405020304"/>
            </a:endParaRPr>
          </a:p>
        </p:txBody>
      </p:sp>
      <p:sp>
        <p:nvSpPr>
          <p:cNvPr id="36" name="Original axial MRI backing"/>
          <p:cNvSpPr/>
          <p:nvPr/>
        </p:nvSpPr>
        <p:spPr>
          <a:xfrm>
            <a:off x="437511" y="3979243"/>
            <a:ext cx="2821952" cy="3039092"/>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7" name="Original axial MRI" descr="image.png"/>
          <p:cNvPicPr>
            <a:picLocks noChangeAspect="1"/>
          </p:cNvPicPr>
          <p:nvPr/>
        </p:nvPicPr>
        <p:blipFill>
          <a:blip r:embed="rId3"/>
          <a:stretch>
            <a:fillRect/>
          </a:stretch>
        </p:blipFill>
        <p:spPr>
          <a:xfrm>
            <a:off x="580915" y="3979243"/>
            <a:ext cx="2535144" cy="3039092"/>
          </a:xfrm>
          <a:prstGeom prst="rect">
            <a:avLst/>
          </a:prstGeom>
          <a:effectLst/>
        </p:spPr>
      </p:pic>
      <p:sp>
        <p:nvSpPr>
          <p:cNvPr id="38" name="Original sagittal MRI backing"/>
          <p:cNvSpPr/>
          <p:nvPr/>
        </p:nvSpPr>
        <p:spPr>
          <a:xfrm>
            <a:off x="3390717" y="3979243"/>
            <a:ext cx="2832889" cy="3039092"/>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9" name="Original sagittal MRI" descr="image.png"/>
          <p:cNvPicPr>
            <a:picLocks noChangeAspect="1"/>
          </p:cNvPicPr>
          <p:nvPr/>
        </p:nvPicPr>
        <p:blipFill>
          <a:blip r:embed="rId4"/>
          <a:stretch>
            <a:fillRect/>
          </a:stretch>
        </p:blipFill>
        <p:spPr>
          <a:xfrm>
            <a:off x="3539590" y="3979243"/>
            <a:ext cx="2535144" cy="3039092"/>
          </a:xfrm>
          <a:prstGeom prst="rect">
            <a:avLst/>
          </a:prstGeom>
          <a:effectLst/>
        </p:spPr>
      </p:pic>
      <p:sp>
        <p:nvSpPr>
          <p:cNvPr id="40" name="Axial image caption"/>
          <p:cNvSpPr txBox="1"/>
          <p:nvPr/>
        </p:nvSpPr>
        <p:spPr>
          <a:xfrm>
            <a:off x="437511" y="7083927"/>
            <a:ext cx="2821952" cy="382619"/>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00234D"/>
                </a:solidFill>
                <a:latin typeface="Times New Roman" panose="02020603050405020304"/>
              </a:defRPr>
            </a:pPr>
            <a:r>
              <a:rPr sz="2325" b="1" i="0">
                <a:solidFill>
                  <a:srgbClr val="00234D"/>
                </a:solidFill>
                <a:latin typeface="Times New Roman" panose="02020603050405020304"/>
              </a:rPr>
              <a:t>Axial</a:t>
            </a:r>
            <a:endParaRPr sz="2325" b="1" i="0">
              <a:solidFill>
                <a:srgbClr val="00234D"/>
              </a:solidFill>
              <a:latin typeface="Times New Roman" panose="02020603050405020304"/>
            </a:endParaRPr>
          </a:p>
        </p:txBody>
      </p:sp>
      <p:sp>
        <p:nvSpPr>
          <p:cNvPr id="41" name="Sagittal image caption"/>
          <p:cNvSpPr txBox="1"/>
          <p:nvPr/>
        </p:nvSpPr>
        <p:spPr>
          <a:xfrm>
            <a:off x="3390717" y="7083927"/>
            <a:ext cx="2832889" cy="382619"/>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00234D"/>
                </a:solidFill>
                <a:latin typeface="Times New Roman" panose="02020603050405020304"/>
              </a:defRPr>
            </a:pPr>
            <a:r>
              <a:rPr sz="2325" b="1" i="0">
                <a:solidFill>
                  <a:srgbClr val="00234D"/>
                </a:solidFill>
                <a:latin typeface="Times New Roman" panose="02020603050405020304"/>
              </a:rPr>
              <a:t>Sagittal</a:t>
            </a:r>
            <a:endParaRPr sz="2325" b="1" i="0">
              <a:solidFill>
                <a:srgbClr val="00234D"/>
              </a:solidFill>
              <a:latin typeface="Times New Roman" panose="02020603050405020304"/>
            </a:endParaRPr>
          </a:p>
        </p:txBody>
      </p:sp>
      <p:sp>
        <p:nvSpPr>
          <p:cNvPr id="42" name="Question prompt card"/>
          <p:cNvSpPr/>
          <p:nvPr/>
        </p:nvSpPr>
        <p:spPr>
          <a:xfrm>
            <a:off x="437511" y="7532139"/>
            <a:ext cx="5764220" cy="1574206"/>
          </a:xfrm>
          <a:prstGeom prst="roundRect">
            <a:avLst>
              <a:gd name="adj" fmla="val 5000"/>
            </a:avLst>
          </a:prstGeom>
          <a:solidFill>
            <a:srgbClr val="F9F4EC"/>
          </a:solidFill>
          <a:ln w="8750">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Question prompt"/>
          <p:cNvSpPr txBox="1"/>
          <p:nvPr/>
        </p:nvSpPr>
        <p:spPr>
          <a:xfrm>
            <a:off x="656267" y="7761710"/>
            <a:ext cx="5359521" cy="1224382"/>
          </a:xfrm>
          <a:prstGeom prst="rect">
            <a:avLst/>
          </a:prstGeom>
          <a:noFill/>
          <a:effectLst/>
        </p:spPr>
        <p:txBody>
          <a:bodyPr wrap="square" lIns="0" tIns="0" rIns="0" bIns="0" anchor="t">
            <a:noAutofit/>
          </a:bodyPr>
          <a:lstStyle/>
          <a:p>
            <a:pPr algn="l">
              <a:lnSpc>
                <a:spcPct val="104000"/>
              </a:lnSpc>
              <a:spcBef>
                <a:spcPts val="0"/>
              </a:spcBef>
              <a:spcAft>
                <a:spcPts val="0"/>
              </a:spcAft>
              <a:defRPr sz="2585" b="0" i="0">
                <a:solidFill>
                  <a:srgbClr val="00234D"/>
                </a:solidFill>
                <a:latin typeface="Times New Roman" panose="02020603050405020304"/>
              </a:defRPr>
            </a:pPr>
            <a:r>
              <a:rPr sz="2585" b="0" i="0">
                <a:solidFill>
                  <a:srgbClr val="00234D"/>
                </a:solidFill>
                <a:latin typeface="Times New Roman" panose="02020603050405020304"/>
              </a:rPr>
              <a:t>Which image feature best predicted the</a:t>
            </a:r>
            <a:endParaRPr sz="2585" b="0" i="0">
              <a:solidFill>
                <a:srgbClr val="00234D"/>
              </a:solidFill>
              <a:latin typeface="Times New Roman" panose="02020603050405020304"/>
            </a:endParaRPr>
          </a:p>
          <a:p>
            <a:pPr algn="l">
              <a:lnSpc>
                <a:spcPct val="104000"/>
              </a:lnSpc>
              <a:spcBef>
                <a:spcPts val="0"/>
              </a:spcBef>
              <a:spcAft>
                <a:spcPts val="0"/>
              </a:spcAft>
              <a:defRPr sz="2585" b="0" i="0">
                <a:solidFill>
                  <a:srgbClr val="00234D"/>
                </a:solidFill>
                <a:latin typeface="Times New Roman" panose="02020603050405020304"/>
              </a:defRPr>
            </a:pPr>
            <a:r>
              <a:rPr sz="2585" b="0" i="0">
                <a:solidFill>
                  <a:srgbClr val="00234D"/>
                </a:solidFill>
                <a:latin typeface="Times New Roman" panose="02020603050405020304"/>
              </a:rPr>
              <a:t>non-encapsulated, vessel-encasing</a:t>
            </a:r>
            <a:endParaRPr sz="2585" b="0" i="0">
              <a:solidFill>
                <a:srgbClr val="00234D"/>
              </a:solidFill>
              <a:latin typeface="Times New Roman" panose="02020603050405020304"/>
            </a:endParaRPr>
          </a:p>
          <a:p>
            <a:pPr algn="l">
              <a:lnSpc>
                <a:spcPct val="104000"/>
              </a:lnSpc>
              <a:spcBef>
                <a:spcPts val="0"/>
              </a:spcBef>
              <a:spcAft>
                <a:spcPts val="0"/>
              </a:spcAft>
              <a:defRPr sz="2585" b="0" i="0">
                <a:solidFill>
                  <a:srgbClr val="00234D"/>
                </a:solidFill>
                <a:latin typeface="Times New Roman" panose="02020603050405020304"/>
              </a:defRPr>
            </a:pPr>
            <a:r>
              <a:rPr sz="2585" b="0" i="0">
                <a:solidFill>
                  <a:srgbClr val="00234D"/>
                </a:solidFill>
                <a:latin typeface="Times New Roman" panose="02020603050405020304"/>
              </a:rPr>
              <a:t>surgical finding?</a:t>
            </a:r>
            <a:endParaRPr sz="2585" b="0" i="0">
              <a:solidFill>
                <a:srgbClr val="00234D"/>
              </a:solidFill>
              <a:latin typeface="Times New Roman" panose="02020603050405020304"/>
            </a:endParaRPr>
          </a:p>
        </p:txBody>
      </p:sp>
      <p:sp>
        <p:nvSpPr>
          <p:cNvPr id="44" name="Reasoning step 1 outer circle"/>
          <p:cNvSpPr/>
          <p:nvPr/>
        </p:nvSpPr>
        <p:spPr>
          <a:xfrm>
            <a:off x="6890813" y="3039092"/>
            <a:ext cx="700019" cy="699647"/>
          </a:xfrm>
          <a:prstGeom prst="ellipse">
            <a:avLst/>
          </a:prstGeom>
          <a:solidFill>
            <a:srgbClr val="124936"/>
          </a:solidFill>
          <a:ln w="17500">
            <a:solidFill>
              <a:srgbClr val="1249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asoning step 1 inner ring"/>
          <p:cNvSpPr/>
          <p:nvPr/>
        </p:nvSpPr>
        <p:spPr>
          <a:xfrm>
            <a:off x="6934564" y="3082820"/>
            <a:ext cx="612516" cy="612191"/>
          </a:xfrm>
          <a:prstGeom prst="ellipse">
            <a:avLst/>
          </a:prstGeom>
          <a:solidFill>
            <a:srgbClr val="124936"/>
          </a:solidFill>
          <a:ln w="13125">
            <a:solidFill>
              <a:srgbClr val="FFFDF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asoning step 1 number"/>
          <p:cNvSpPr txBox="1"/>
          <p:nvPr/>
        </p:nvSpPr>
        <p:spPr>
          <a:xfrm>
            <a:off x="6912688" y="3082820"/>
            <a:ext cx="656267" cy="612191"/>
          </a:xfrm>
          <a:prstGeom prst="rect">
            <a:avLst/>
          </a:prstGeom>
          <a:noFill/>
          <a:effectLst/>
        </p:spPr>
        <p:txBody>
          <a:bodyPr wrap="square" lIns="0" tIns="0" rIns="0" bIns="0" anchor="ctr">
            <a:noAutofit/>
          </a:bodyPr>
          <a:lstStyle/>
          <a:p>
            <a:pPr algn="ctr">
              <a:lnSpc>
                <a:spcPct val="104000"/>
              </a:lnSpc>
              <a:spcBef>
                <a:spcPts val="0"/>
              </a:spcBef>
              <a:spcAft>
                <a:spcPts val="0"/>
              </a:spcAft>
              <a:defRPr sz="3705" b="1" i="0">
                <a:solidFill>
                  <a:srgbClr val="FFFDFA"/>
                </a:solidFill>
                <a:latin typeface="Times New Roman" panose="02020603050405020304"/>
              </a:defRPr>
            </a:pPr>
            <a:r>
              <a:rPr sz="3705" b="1" i="0">
                <a:solidFill>
                  <a:srgbClr val="FFFDFA"/>
                </a:solidFill>
                <a:latin typeface="Times New Roman" panose="02020603050405020304"/>
              </a:rPr>
              <a:t>1</a:t>
            </a:r>
            <a:endParaRPr sz="3705" b="1" i="0">
              <a:solidFill>
                <a:srgbClr val="FFFDFA"/>
              </a:solidFill>
              <a:latin typeface="Times New Roman" panose="02020603050405020304"/>
            </a:endParaRPr>
          </a:p>
        </p:txBody>
      </p:sp>
      <p:sp>
        <p:nvSpPr>
          <p:cNvPr id="47" name="Reasoning step 1 label"/>
          <p:cNvSpPr txBox="1"/>
          <p:nvPr/>
        </p:nvSpPr>
        <p:spPr>
          <a:xfrm>
            <a:off x="7951779" y="3126548"/>
            <a:ext cx="4057923" cy="502871"/>
          </a:xfrm>
          <a:prstGeom prst="rect">
            <a:avLst/>
          </a:prstGeom>
          <a:noFill/>
          <a:effectLst/>
        </p:spPr>
        <p:txBody>
          <a:bodyPr wrap="square" lIns="0" tIns="0" rIns="0" bIns="0" anchor="t">
            <a:noAutofit/>
          </a:bodyPr>
          <a:lstStyle/>
          <a:p>
            <a:pPr algn="l">
              <a:lnSpc>
                <a:spcPct val="104000"/>
              </a:lnSpc>
              <a:spcBef>
                <a:spcPts val="0"/>
              </a:spcBef>
              <a:spcAft>
                <a:spcPts val="0"/>
              </a:spcAft>
              <a:defRPr sz="2930" b="1" i="0">
                <a:solidFill>
                  <a:srgbClr val="124936"/>
                </a:solidFill>
                <a:latin typeface="Times New Roman" panose="02020603050405020304"/>
              </a:defRPr>
            </a:pPr>
            <a:r>
              <a:rPr sz="2930" b="1" i="0">
                <a:solidFill>
                  <a:srgbClr val="124936"/>
                </a:solidFill>
                <a:latin typeface="Times New Roman" panose="02020603050405020304"/>
              </a:rPr>
              <a:t>Axial view</a:t>
            </a:r>
            <a:endParaRPr sz="2930" b="1" i="0">
              <a:solidFill>
                <a:srgbClr val="124936"/>
              </a:solidFill>
              <a:latin typeface="Times New Roman" panose="02020603050405020304"/>
            </a:endParaRPr>
          </a:p>
        </p:txBody>
      </p:sp>
      <p:sp>
        <p:nvSpPr>
          <p:cNvPr id="48" name="Reasoning step 1 explanation"/>
          <p:cNvSpPr txBox="1"/>
          <p:nvPr/>
        </p:nvSpPr>
        <p:spPr>
          <a:xfrm>
            <a:off x="7951779" y="3607555"/>
            <a:ext cx="4068861" cy="994810"/>
          </a:xfrm>
          <a:prstGeom prst="rect">
            <a:avLst/>
          </a:prstGeom>
          <a:noFill/>
          <a:effectLst/>
        </p:spPr>
        <p:txBody>
          <a:bodyPr wrap="square" lIns="0" tIns="0" rIns="0" bIns="0" anchor="t">
            <a:noAutofit/>
          </a:bodyPr>
          <a:lstStyle/>
          <a:p>
            <a:pPr algn="l">
              <a:lnSpc>
                <a:spcPct val="104000"/>
              </a:lnSpc>
              <a:spcBef>
                <a:spcPts val="0"/>
              </a:spcBef>
              <a:spcAft>
                <a:spcPts val="0"/>
              </a:spcAft>
              <a:defRPr sz="2410" b="0" i="0">
                <a:solidFill>
                  <a:srgbClr val="00234D"/>
                </a:solidFill>
                <a:latin typeface="Times New Roman" panose="02020603050405020304"/>
              </a:defRPr>
            </a:pPr>
            <a:r>
              <a:rPr sz="2410" b="0" i="0">
                <a:solidFill>
                  <a:srgbClr val="00234D"/>
                </a:solidFill>
                <a:latin typeface="Times New Roman" panose="02020603050405020304"/>
              </a:rPr>
              <a:t>Sharp lateral border.</a:t>
            </a:r>
            <a:endParaRPr sz="2410" b="0" i="0">
              <a:solidFill>
                <a:srgbClr val="00234D"/>
              </a:solidFill>
              <a:latin typeface="Times New Roman" panose="02020603050405020304"/>
            </a:endParaRPr>
          </a:p>
        </p:txBody>
      </p:sp>
      <p:sp>
        <p:nvSpPr>
          <p:cNvPr id="49" name="Reasoning step 2 outer circle"/>
          <p:cNvSpPr/>
          <p:nvPr/>
        </p:nvSpPr>
        <p:spPr>
          <a:xfrm>
            <a:off x="6890813" y="4646094"/>
            <a:ext cx="700019" cy="699647"/>
          </a:xfrm>
          <a:prstGeom prst="ellipse">
            <a:avLst/>
          </a:prstGeom>
          <a:solidFill>
            <a:srgbClr val="124936"/>
          </a:solidFill>
          <a:ln w="17500">
            <a:solidFill>
              <a:srgbClr val="1249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easoning step 2 inner ring"/>
          <p:cNvSpPr/>
          <p:nvPr/>
        </p:nvSpPr>
        <p:spPr>
          <a:xfrm>
            <a:off x="6934564" y="4689822"/>
            <a:ext cx="612516" cy="612191"/>
          </a:xfrm>
          <a:prstGeom prst="ellipse">
            <a:avLst/>
          </a:prstGeom>
          <a:solidFill>
            <a:srgbClr val="124936"/>
          </a:solidFill>
          <a:ln w="13125">
            <a:solidFill>
              <a:srgbClr val="FFFDF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asoning step 2 number"/>
          <p:cNvSpPr txBox="1"/>
          <p:nvPr/>
        </p:nvSpPr>
        <p:spPr>
          <a:xfrm>
            <a:off x="6912688" y="4689822"/>
            <a:ext cx="656267" cy="612191"/>
          </a:xfrm>
          <a:prstGeom prst="rect">
            <a:avLst/>
          </a:prstGeom>
          <a:noFill/>
          <a:effectLst/>
        </p:spPr>
        <p:txBody>
          <a:bodyPr wrap="square" lIns="0" tIns="0" rIns="0" bIns="0" anchor="ctr">
            <a:noAutofit/>
          </a:bodyPr>
          <a:lstStyle/>
          <a:p>
            <a:pPr algn="ctr">
              <a:lnSpc>
                <a:spcPct val="104000"/>
              </a:lnSpc>
              <a:spcBef>
                <a:spcPts val="0"/>
              </a:spcBef>
              <a:spcAft>
                <a:spcPts val="0"/>
              </a:spcAft>
              <a:defRPr sz="3705" b="1" i="0">
                <a:solidFill>
                  <a:srgbClr val="FFFDFA"/>
                </a:solidFill>
                <a:latin typeface="Times New Roman" panose="02020603050405020304"/>
              </a:defRPr>
            </a:pPr>
            <a:r>
              <a:rPr sz="3705" b="1" i="0">
                <a:solidFill>
                  <a:srgbClr val="FFFDFA"/>
                </a:solidFill>
                <a:latin typeface="Times New Roman" panose="02020603050405020304"/>
              </a:rPr>
              <a:t>2</a:t>
            </a:r>
            <a:endParaRPr sz="3705" b="1" i="0">
              <a:solidFill>
                <a:srgbClr val="FFFDFA"/>
              </a:solidFill>
              <a:latin typeface="Times New Roman" panose="02020603050405020304"/>
            </a:endParaRPr>
          </a:p>
        </p:txBody>
      </p:sp>
      <p:sp>
        <p:nvSpPr>
          <p:cNvPr id="52" name="Reasoning step 2 label"/>
          <p:cNvSpPr txBox="1"/>
          <p:nvPr/>
        </p:nvSpPr>
        <p:spPr>
          <a:xfrm>
            <a:off x="7951779" y="4733550"/>
            <a:ext cx="4057923" cy="502871"/>
          </a:xfrm>
          <a:prstGeom prst="rect">
            <a:avLst/>
          </a:prstGeom>
          <a:noFill/>
          <a:effectLst/>
        </p:spPr>
        <p:txBody>
          <a:bodyPr wrap="square" lIns="0" tIns="0" rIns="0" bIns="0" anchor="t">
            <a:noAutofit/>
          </a:bodyPr>
          <a:lstStyle/>
          <a:p>
            <a:pPr algn="l">
              <a:lnSpc>
                <a:spcPct val="104000"/>
              </a:lnSpc>
              <a:spcBef>
                <a:spcPts val="0"/>
              </a:spcBef>
              <a:spcAft>
                <a:spcPts val="0"/>
              </a:spcAft>
              <a:defRPr sz="2930" b="1" i="0">
                <a:solidFill>
                  <a:srgbClr val="124936"/>
                </a:solidFill>
                <a:latin typeface="Times New Roman" panose="02020603050405020304"/>
              </a:defRPr>
            </a:pPr>
            <a:r>
              <a:rPr sz="2930" b="1" i="0">
                <a:solidFill>
                  <a:srgbClr val="124936"/>
                </a:solidFill>
                <a:latin typeface="Times New Roman" panose="02020603050405020304"/>
              </a:rPr>
              <a:t>Sagittal view</a:t>
            </a:r>
            <a:endParaRPr sz="2930" b="1" i="0">
              <a:solidFill>
                <a:srgbClr val="124936"/>
              </a:solidFill>
              <a:latin typeface="Times New Roman" panose="02020603050405020304"/>
            </a:endParaRPr>
          </a:p>
        </p:txBody>
      </p:sp>
      <p:sp>
        <p:nvSpPr>
          <p:cNvPr id="53" name="Reasoning step 2 explanation"/>
          <p:cNvSpPr txBox="1"/>
          <p:nvPr/>
        </p:nvSpPr>
        <p:spPr>
          <a:xfrm>
            <a:off x="7951779" y="5214557"/>
            <a:ext cx="4068861" cy="994810"/>
          </a:xfrm>
          <a:prstGeom prst="rect">
            <a:avLst/>
          </a:prstGeom>
          <a:noFill/>
          <a:effectLst/>
        </p:spPr>
        <p:txBody>
          <a:bodyPr wrap="square" lIns="0" tIns="0" rIns="0" bIns="0" anchor="t">
            <a:noAutofit/>
          </a:bodyPr>
          <a:lstStyle/>
          <a:p>
            <a:pPr algn="l">
              <a:lnSpc>
                <a:spcPct val="104000"/>
              </a:lnSpc>
              <a:spcBef>
                <a:spcPts val="0"/>
              </a:spcBef>
              <a:spcAft>
                <a:spcPts val="0"/>
              </a:spcAft>
              <a:defRPr sz="2410" b="0" i="0">
                <a:solidFill>
                  <a:srgbClr val="00234D"/>
                </a:solidFill>
                <a:latin typeface="Times New Roman" panose="02020603050405020304"/>
              </a:defRPr>
            </a:pPr>
            <a:r>
              <a:rPr sz="2410" b="0" i="0">
                <a:solidFill>
                  <a:srgbClr val="00234D"/>
                </a:solidFill>
                <a:latin typeface="Times New Roman" panose="02020603050405020304"/>
              </a:rPr>
              <a:t>Indistinct superior tumor–</a:t>
            </a:r>
            <a:endParaRPr sz="2410" b="0" i="0">
              <a:solidFill>
                <a:srgbClr val="00234D"/>
              </a:solidFill>
              <a:latin typeface="Times New Roman" panose="02020603050405020304"/>
            </a:endParaRPr>
          </a:p>
          <a:p>
            <a:pPr algn="l">
              <a:lnSpc>
                <a:spcPct val="104000"/>
              </a:lnSpc>
              <a:spcBef>
                <a:spcPts val="0"/>
              </a:spcBef>
              <a:spcAft>
                <a:spcPts val="0"/>
              </a:spcAft>
              <a:defRPr sz="2410" b="0" i="0">
                <a:solidFill>
                  <a:srgbClr val="00234D"/>
                </a:solidFill>
                <a:latin typeface="Times New Roman" panose="02020603050405020304"/>
              </a:defRPr>
            </a:pPr>
            <a:r>
              <a:rPr sz="2410" b="0" i="0">
                <a:solidFill>
                  <a:srgbClr val="00234D"/>
                </a:solidFill>
                <a:latin typeface="Times New Roman" panose="02020603050405020304"/>
              </a:rPr>
              <a:t>skull-base interface.</a:t>
            </a:r>
            <a:endParaRPr sz="2410" b="0" i="0">
              <a:solidFill>
                <a:srgbClr val="00234D"/>
              </a:solidFill>
              <a:latin typeface="Times New Roman" panose="02020603050405020304"/>
            </a:endParaRPr>
          </a:p>
        </p:txBody>
      </p:sp>
      <p:sp>
        <p:nvSpPr>
          <p:cNvPr id="54" name="Reasoning step 3 outer circle"/>
          <p:cNvSpPr/>
          <p:nvPr/>
        </p:nvSpPr>
        <p:spPr>
          <a:xfrm>
            <a:off x="6890813" y="6318688"/>
            <a:ext cx="700019" cy="699647"/>
          </a:xfrm>
          <a:prstGeom prst="ellipse">
            <a:avLst/>
          </a:prstGeom>
          <a:solidFill>
            <a:srgbClr val="124936"/>
          </a:solidFill>
          <a:ln w="17500">
            <a:solidFill>
              <a:srgbClr val="1249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easoning step 3 inner ring"/>
          <p:cNvSpPr/>
          <p:nvPr/>
        </p:nvSpPr>
        <p:spPr>
          <a:xfrm>
            <a:off x="6934564" y="6362416"/>
            <a:ext cx="612516" cy="612191"/>
          </a:xfrm>
          <a:prstGeom prst="ellipse">
            <a:avLst/>
          </a:prstGeom>
          <a:solidFill>
            <a:srgbClr val="124936"/>
          </a:solidFill>
          <a:ln w="13125">
            <a:solidFill>
              <a:srgbClr val="FFFDF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easoning step 3 number"/>
          <p:cNvSpPr txBox="1"/>
          <p:nvPr/>
        </p:nvSpPr>
        <p:spPr>
          <a:xfrm>
            <a:off x="6912688" y="6362416"/>
            <a:ext cx="656267" cy="612191"/>
          </a:xfrm>
          <a:prstGeom prst="rect">
            <a:avLst/>
          </a:prstGeom>
          <a:noFill/>
          <a:effectLst/>
        </p:spPr>
        <p:txBody>
          <a:bodyPr wrap="square" lIns="0" tIns="0" rIns="0" bIns="0" anchor="ctr">
            <a:noAutofit/>
          </a:bodyPr>
          <a:lstStyle/>
          <a:p>
            <a:pPr algn="ctr">
              <a:lnSpc>
                <a:spcPct val="104000"/>
              </a:lnSpc>
              <a:spcBef>
                <a:spcPts val="0"/>
              </a:spcBef>
              <a:spcAft>
                <a:spcPts val="0"/>
              </a:spcAft>
              <a:defRPr sz="3705" b="1" i="0">
                <a:solidFill>
                  <a:srgbClr val="FFFDFA"/>
                </a:solidFill>
                <a:latin typeface="Times New Roman" panose="02020603050405020304"/>
              </a:defRPr>
            </a:pPr>
            <a:r>
              <a:rPr sz="3705" b="1" i="0">
                <a:solidFill>
                  <a:srgbClr val="FFFDFA"/>
                </a:solidFill>
                <a:latin typeface="Times New Roman" panose="02020603050405020304"/>
              </a:rPr>
              <a:t>3</a:t>
            </a:r>
            <a:endParaRPr sz="3705" b="1" i="0">
              <a:solidFill>
                <a:srgbClr val="FFFDFA"/>
              </a:solidFill>
              <a:latin typeface="Times New Roman" panose="02020603050405020304"/>
            </a:endParaRPr>
          </a:p>
        </p:txBody>
      </p:sp>
      <p:sp>
        <p:nvSpPr>
          <p:cNvPr id="57" name="Reasoning step 3 label"/>
          <p:cNvSpPr txBox="1"/>
          <p:nvPr/>
        </p:nvSpPr>
        <p:spPr>
          <a:xfrm>
            <a:off x="7951779" y="6406144"/>
            <a:ext cx="4057923" cy="502871"/>
          </a:xfrm>
          <a:prstGeom prst="rect">
            <a:avLst/>
          </a:prstGeom>
          <a:noFill/>
          <a:effectLst/>
        </p:spPr>
        <p:txBody>
          <a:bodyPr wrap="square" lIns="0" tIns="0" rIns="0" bIns="0" anchor="t">
            <a:noAutofit/>
          </a:bodyPr>
          <a:lstStyle/>
          <a:p>
            <a:pPr algn="l">
              <a:lnSpc>
                <a:spcPct val="104000"/>
              </a:lnSpc>
              <a:spcBef>
                <a:spcPts val="0"/>
              </a:spcBef>
              <a:spcAft>
                <a:spcPts val="0"/>
              </a:spcAft>
              <a:defRPr sz="2930" b="1" i="0">
                <a:solidFill>
                  <a:srgbClr val="124936"/>
                </a:solidFill>
                <a:latin typeface="Times New Roman" panose="02020603050405020304"/>
              </a:defRPr>
            </a:pPr>
            <a:r>
              <a:rPr sz="2930" b="1" i="0">
                <a:solidFill>
                  <a:srgbClr val="124936"/>
                </a:solidFill>
                <a:latin typeface="Times New Roman" panose="02020603050405020304"/>
              </a:rPr>
              <a:t>Interpretation</a:t>
            </a:r>
            <a:endParaRPr sz="2930" b="1" i="0">
              <a:solidFill>
                <a:srgbClr val="124936"/>
              </a:solidFill>
              <a:latin typeface="Times New Roman" panose="02020603050405020304"/>
            </a:endParaRPr>
          </a:p>
        </p:txBody>
      </p:sp>
      <p:sp>
        <p:nvSpPr>
          <p:cNvPr id="58" name="Reasoning step 3 explanation"/>
          <p:cNvSpPr txBox="1"/>
          <p:nvPr/>
        </p:nvSpPr>
        <p:spPr>
          <a:xfrm>
            <a:off x="7951779" y="6887151"/>
            <a:ext cx="4068861" cy="994810"/>
          </a:xfrm>
          <a:prstGeom prst="rect">
            <a:avLst/>
          </a:prstGeom>
          <a:noFill/>
          <a:effectLst/>
        </p:spPr>
        <p:txBody>
          <a:bodyPr wrap="square" lIns="0" tIns="0" rIns="0" bIns="0" anchor="t">
            <a:noAutofit/>
          </a:bodyPr>
          <a:lstStyle/>
          <a:p>
            <a:pPr algn="l">
              <a:lnSpc>
                <a:spcPct val="104000"/>
              </a:lnSpc>
              <a:spcBef>
                <a:spcPts val="0"/>
              </a:spcBef>
              <a:spcAft>
                <a:spcPts val="0"/>
              </a:spcAft>
              <a:defRPr sz="2410" b="0" i="0">
                <a:solidFill>
                  <a:srgbClr val="00234D"/>
                </a:solidFill>
                <a:latin typeface="Times New Roman" panose="02020603050405020304"/>
              </a:defRPr>
            </a:pPr>
            <a:r>
              <a:rPr sz="2410" b="0" i="0">
                <a:solidFill>
                  <a:srgbClr val="00234D"/>
                </a:solidFill>
                <a:latin typeface="Times New Roman" panose="02020603050405020304"/>
              </a:rPr>
              <a:t>Suggests infiltrative,</a:t>
            </a:r>
            <a:endParaRPr sz="2410" b="0" i="0">
              <a:solidFill>
                <a:srgbClr val="00234D"/>
              </a:solidFill>
              <a:latin typeface="Times New Roman" panose="02020603050405020304"/>
            </a:endParaRPr>
          </a:p>
          <a:p>
            <a:pPr algn="l">
              <a:lnSpc>
                <a:spcPct val="104000"/>
              </a:lnSpc>
              <a:spcBef>
                <a:spcPts val="0"/>
              </a:spcBef>
              <a:spcAft>
                <a:spcPts val="0"/>
              </a:spcAft>
              <a:defRPr sz="2410" b="0" i="0">
                <a:solidFill>
                  <a:srgbClr val="00234D"/>
                </a:solidFill>
                <a:latin typeface="Times New Roman" panose="02020603050405020304"/>
              </a:defRPr>
            </a:pPr>
            <a:r>
              <a:rPr sz="2410" b="0" i="0">
                <a:solidFill>
                  <a:srgbClr val="00234D"/>
                </a:solidFill>
                <a:latin typeface="Times New Roman" panose="02020603050405020304"/>
              </a:rPr>
              <a:t>non-encapsulated growth.</a:t>
            </a:r>
            <a:endParaRPr sz="2410" b="0" i="0">
              <a:solidFill>
                <a:srgbClr val="00234D"/>
              </a:solidFill>
              <a:latin typeface="Times New Roman" panose="02020603050405020304"/>
            </a:endParaRPr>
          </a:p>
        </p:txBody>
      </p:sp>
      <p:cxnSp>
        <p:nvCxnSpPr>
          <p:cNvPr id="59" name="Axial to sagittal reasoning arrow"/>
          <p:cNvCxnSpPr/>
          <p:nvPr/>
        </p:nvCxnSpPr>
        <p:spPr>
          <a:xfrm>
            <a:off x="7240822" y="3848059"/>
            <a:ext cx="0" cy="666851"/>
          </a:xfrm>
          <a:prstGeom prst="line">
            <a:avLst/>
          </a:prstGeom>
          <a:ln w="18594">
            <a:solidFill>
              <a:srgbClr val="B58F4F"/>
            </a:solidFill>
            <a:tailEnd type="triangle" w="lg" len="lg"/>
          </a:ln>
          <a:effectLst/>
        </p:spPr>
        <p:style>
          <a:lnRef idx="2">
            <a:schemeClr val="accent1"/>
          </a:lnRef>
          <a:fillRef idx="0">
            <a:schemeClr val="accent1"/>
          </a:fillRef>
          <a:effectRef idx="0">
            <a:schemeClr val="accent1"/>
          </a:effectRef>
          <a:fontRef idx="minor">
            <a:schemeClr val="tx1"/>
          </a:fontRef>
        </p:style>
      </p:cxnSp>
      <p:cxnSp>
        <p:nvCxnSpPr>
          <p:cNvPr id="60" name="Sagittal to interpretation reasoning arrow"/>
          <p:cNvCxnSpPr/>
          <p:nvPr/>
        </p:nvCxnSpPr>
        <p:spPr>
          <a:xfrm>
            <a:off x="7240822" y="5455061"/>
            <a:ext cx="0" cy="732443"/>
          </a:xfrm>
          <a:prstGeom prst="line">
            <a:avLst/>
          </a:prstGeom>
          <a:ln w="18594">
            <a:solidFill>
              <a:srgbClr val="B58F4F"/>
            </a:solidFill>
            <a:tailEnd type="triangle" w="lg" len="lg"/>
          </a:ln>
          <a:effectLst/>
        </p:spPr>
        <p:style>
          <a:lnRef idx="2">
            <a:schemeClr val="accent1"/>
          </a:lnRef>
          <a:fillRef idx="0">
            <a:schemeClr val="accent1"/>
          </a:fillRef>
          <a:effectRef idx="0">
            <a:schemeClr val="accent1"/>
          </a:effectRef>
          <a:fontRef idx="minor">
            <a:schemeClr val="tx1"/>
          </a:fontRef>
        </p:style>
      </p:cxnSp>
      <p:sp>
        <p:nvSpPr>
          <p:cNvPr id="61" name="Reference answer panel"/>
          <p:cNvSpPr/>
          <p:nvPr/>
        </p:nvSpPr>
        <p:spPr>
          <a:xfrm>
            <a:off x="6792373" y="7761710"/>
            <a:ext cx="5381397" cy="1475818"/>
          </a:xfrm>
          <a:prstGeom prst="roundRect">
            <a:avLst>
              <a:gd name="adj" fmla="val 5000"/>
            </a:avLst>
          </a:prstGeom>
          <a:solidFill>
            <a:srgbClr val="F0F3EC"/>
          </a:solidFill>
          <a:ln w="10937">
            <a:solidFill>
              <a:srgbClr val="A7C2B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ference answer heading"/>
          <p:cNvSpPr txBox="1"/>
          <p:nvPr/>
        </p:nvSpPr>
        <p:spPr>
          <a:xfrm>
            <a:off x="6989253" y="7892894"/>
            <a:ext cx="4965760" cy="393551"/>
          </a:xfrm>
          <a:prstGeom prst="rect">
            <a:avLst/>
          </a:prstGeom>
          <a:noFill/>
          <a:effectLst/>
        </p:spPr>
        <p:txBody>
          <a:bodyPr wrap="square" lIns="0" tIns="0" rIns="0" bIns="0" anchor="t">
            <a:noAutofit/>
          </a:bodyPr>
          <a:lstStyle/>
          <a:p>
            <a:pPr algn="l">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REFERENCE ANSWER</a:t>
            </a:r>
            <a:endParaRPr sz="2325" b="1" i="0">
              <a:solidFill>
                <a:srgbClr val="124936"/>
              </a:solidFill>
              <a:latin typeface="Times New Roman" panose="02020603050405020304"/>
            </a:endParaRPr>
          </a:p>
        </p:txBody>
      </p:sp>
      <p:cxnSp>
        <p:nvCxnSpPr>
          <p:cNvPr id="63" name="Reference answer divider left"/>
          <p:cNvCxnSpPr/>
          <p:nvPr/>
        </p:nvCxnSpPr>
        <p:spPr>
          <a:xfrm>
            <a:off x="6989253" y="8297378"/>
            <a:ext cx="2362565"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64" name="Reference answer divider right"/>
          <p:cNvCxnSpPr/>
          <p:nvPr/>
        </p:nvCxnSpPr>
        <p:spPr>
          <a:xfrm>
            <a:off x="9614325" y="8297378"/>
            <a:ext cx="2362564"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65" name="Reference answer divider diamond"/>
          <p:cNvSpPr/>
          <p:nvPr/>
        </p:nvSpPr>
        <p:spPr>
          <a:xfrm>
            <a:off x="9422913" y="8237252"/>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ference answer selected view"/>
          <p:cNvSpPr txBox="1"/>
          <p:nvPr/>
        </p:nvSpPr>
        <p:spPr>
          <a:xfrm>
            <a:off x="6989253" y="8428562"/>
            <a:ext cx="4954822" cy="404483"/>
          </a:xfrm>
          <a:prstGeom prst="rect">
            <a:avLst/>
          </a:prstGeom>
          <a:noFill/>
          <a:effectLst/>
        </p:spPr>
        <p:txBody>
          <a:bodyPr wrap="square" lIns="0" tIns="0" rIns="0" bIns="0" anchor="t">
            <a:noAutofit/>
          </a:bodyPr>
          <a:lstStyle/>
          <a:p>
            <a:pPr algn="l">
              <a:lnSpc>
                <a:spcPct val="104000"/>
              </a:lnSpc>
              <a:spcBef>
                <a:spcPts val="0"/>
              </a:spcBef>
              <a:spcAft>
                <a:spcPts val="0"/>
              </a:spcAft>
              <a:defRPr sz="2495" b="1" i="0">
                <a:solidFill>
                  <a:srgbClr val="00234D"/>
                </a:solidFill>
                <a:latin typeface="Times New Roman" panose="02020603050405020304"/>
              </a:defRPr>
            </a:pPr>
            <a:r>
              <a:rPr sz="2495" b="1" i="0">
                <a:solidFill>
                  <a:srgbClr val="00234D"/>
                </a:solidFill>
                <a:latin typeface="Times New Roman" panose="02020603050405020304"/>
              </a:rPr>
              <a:t>Right sagittal view:</a:t>
            </a:r>
            <a:endParaRPr sz="2495" b="1" i="0">
              <a:solidFill>
                <a:srgbClr val="00234D"/>
              </a:solidFill>
              <a:latin typeface="Times New Roman" panose="02020603050405020304"/>
            </a:endParaRPr>
          </a:p>
        </p:txBody>
      </p:sp>
      <p:sp>
        <p:nvSpPr>
          <p:cNvPr id="67" name="Reference answer imaging feature"/>
          <p:cNvSpPr txBox="1"/>
          <p:nvPr/>
        </p:nvSpPr>
        <p:spPr>
          <a:xfrm>
            <a:off x="6989253" y="8811181"/>
            <a:ext cx="4998574" cy="382619"/>
          </a:xfrm>
          <a:prstGeom prst="rect">
            <a:avLst/>
          </a:prstGeom>
          <a:noFill/>
          <a:effectLst/>
        </p:spPr>
        <p:txBody>
          <a:bodyPr wrap="square" lIns="0" tIns="0" rIns="0" bIns="0" anchor="t">
            <a:noAutofit/>
          </a:bodyPr>
          <a:lstStyle/>
          <a:p>
            <a:pPr algn="l">
              <a:lnSpc>
                <a:spcPct val="104000"/>
              </a:lnSpc>
              <a:spcBef>
                <a:spcPts val="0"/>
              </a:spcBef>
              <a:spcAft>
                <a:spcPts val="0"/>
              </a:spcAft>
              <a:defRPr sz="2370" b="0" i="0">
                <a:solidFill>
                  <a:srgbClr val="00234D"/>
                </a:solidFill>
                <a:latin typeface="Times New Roman" panose="02020603050405020304"/>
              </a:defRPr>
            </a:pPr>
            <a:r>
              <a:rPr sz="2370" b="0" i="0">
                <a:solidFill>
                  <a:srgbClr val="00234D"/>
                </a:solidFill>
                <a:latin typeface="Times New Roman" panose="02020603050405020304"/>
              </a:rPr>
              <a:t>the indistinct superior interface.</a:t>
            </a:r>
            <a:endParaRPr sz="2370" b="0" i="0">
              <a:solidFill>
                <a:srgbClr val="00234D"/>
              </a:solidFill>
              <a:latin typeface="Times New Roman" panose="02020603050405020304"/>
            </a:endParaRPr>
          </a:p>
        </p:txBody>
      </p:sp>
      <p:sp>
        <p:nvSpPr>
          <p:cNvPr id="68" name="Correct view scoring card"/>
          <p:cNvSpPr/>
          <p:nvPr/>
        </p:nvSpPr>
        <p:spPr>
          <a:xfrm>
            <a:off x="12655033" y="3039092"/>
            <a:ext cx="5337645" cy="1945893"/>
          </a:xfrm>
          <a:prstGeom prst="roundRect">
            <a:avLst>
              <a:gd name="adj" fmla="val 50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Correct view scoring criterion"/>
          <p:cNvSpPr txBox="1"/>
          <p:nvPr/>
        </p:nvSpPr>
        <p:spPr>
          <a:xfrm>
            <a:off x="12851913" y="3356120"/>
            <a:ext cx="3653224" cy="524735"/>
          </a:xfrm>
          <a:prstGeom prst="rect">
            <a:avLst/>
          </a:prstGeom>
          <a:noFill/>
          <a:effectLst/>
        </p:spPr>
        <p:txBody>
          <a:bodyPr wrap="square" lIns="0" tIns="0" rIns="0" bIns="0" anchor="t">
            <a:noAutofit/>
          </a:bodyPr>
          <a:lstStyle/>
          <a:p>
            <a:pPr algn="l">
              <a:lnSpc>
                <a:spcPct val="104000"/>
              </a:lnSpc>
              <a:spcBef>
                <a:spcPts val="0"/>
              </a:spcBef>
              <a:spcAft>
                <a:spcPts val="0"/>
              </a:spcAft>
              <a:defRPr sz="2840" b="1" i="0">
                <a:solidFill>
                  <a:srgbClr val="00234D"/>
                </a:solidFill>
                <a:latin typeface="Times New Roman" panose="02020603050405020304"/>
              </a:defRPr>
            </a:pPr>
            <a:r>
              <a:rPr sz="2840" b="1" i="0">
                <a:solidFill>
                  <a:srgbClr val="00234D"/>
                </a:solidFill>
                <a:latin typeface="Times New Roman" panose="02020603050405020304"/>
              </a:rPr>
              <a:t>Correct view</a:t>
            </a:r>
            <a:endParaRPr sz="2840" b="1" i="0">
              <a:solidFill>
                <a:srgbClr val="00234D"/>
              </a:solidFill>
              <a:latin typeface="Times New Roman" panose="02020603050405020304"/>
            </a:endParaRPr>
          </a:p>
        </p:txBody>
      </p:sp>
      <p:sp>
        <p:nvSpPr>
          <p:cNvPr id="70" name="Correct view scoring weight"/>
          <p:cNvSpPr txBox="1"/>
          <p:nvPr/>
        </p:nvSpPr>
        <p:spPr>
          <a:xfrm>
            <a:off x="16537952" y="3170276"/>
            <a:ext cx="1268784" cy="732443"/>
          </a:xfrm>
          <a:prstGeom prst="rect">
            <a:avLst/>
          </a:prstGeom>
          <a:noFill/>
          <a:effectLst/>
        </p:spPr>
        <p:txBody>
          <a:bodyPr wrap="square" lIns="0" tIns="0" rIns="0" bIns="0" anchor="t">
            <a:noAutofit/>
          </a:bodyPr>
          <a:lstStyle/>
          <a:p>
            <a:pPr algn="r">
              <a:lnSpc>
                <a:spcPct val="104000"/>
              </a:lnSpc>
              <a:spcBef>
                <a:spcPts val="0"/>
              </a:spcBef>
              <a:spcAft>
                <a:spcPts val="0"/>
              </a:spcAft>
              <a:defRPr sz="4565" b="1" i="0">
                <a:solidFill>
                  <a:srgbClr val="831C20"/>
                </a:solidFill>
                <a:latin typeface="Times New Roman" panose="02020603050405020304"/>
              </a:defRPr>
            </a:pPr>
            <a:r>
              <a:rPr sz="4565" b="1" i="0">
                <a:solidFill>
                  <a:srgbClr val="831C20"/>
                </a:solidFill>
                <a:latin typeface="Times New Roman" panose="02020603050405020304"/>
              </a:rPr>
              <a:t>6 pts</a:t>
            </a:r>
            <a:endParaRPr sz="4565" b="1" i="0">
              <a:solidFill>
                <a:srgbClr val="831C20"/>
              </a:solidFill>
              <a:latin typeface="Times New Roman" panose="02020603050405020304"/>
            </a:endParaRPr>
          </a:p>
        </p:txBody>
      </p:sp>
      <p:cxnSp>
        <p:nvCxnSpPr>
          <p:cNvPr id="71" name="Correct view divider left"/>
          <p:cNvCxnSpPr/>
          <p:nvPr/>
        </p:nvCxnSpPr>
        <p:spPr>
          <a:xfrm>
            <a:off x="12851913" y="4012039"/>
            <a:ext cx="2335220"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72" name="Correct view divider right"/>
          <p:cNvCxnSpPr/>
          <p:nvPr/>
        </p:nvCxnSpPr>
        <p:spPr>
          <a:xfrm>
            <a:off x="15449641" y="4012039"/>
            <a:ext cx="2335220"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73" name="Correct view divider diamond"/>
          <p:cNvSpPr/>
          <p:nvPr/>
        </p:nvSpPr>
        <p:spPr>
          <a:xfrm>
            <a:off x="15258229" y="3951913"/>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Correct view scoring requirement"/>
          <p:cNvSpPr txBox="1"/>
          <p:nvPr/>
        </p:nvSpPr>
        <p:spPr>
          <a:xfrm>
            <a:off x="12851913" y="4296270"/>
            <a:ext cx="4932947" cy="612191"/>
          </a:xfrm>
          <a:prstGeom prst="rect">
            <a:avLst/>
          </a:prstGeom>
          <a:noFill/>
          <a:effectLst/>
        </p:spPr>
        <p:txBody>
          <a:bodyPr wrap="square" lIns="0" tIns="0" rIns="0" bIns="0" anchor="t">
            <a:noAutofit/>
          </a:bodyPr>
          <a:lstStyle/>
          <a:p>
            <a:pPr algn="l">
              <a:lnSpc>
                <a:spcPct val="104000"/>
              </a:lnSpc>
              <a:spcBef>
                <a:spcPts val="0"/>
              </a:spcBef>
              <a:spcAft>
                <a:spcPts val="0"/>
              </a:spcAft>
              <a:defRPr sz="2410" b="0" i="0">
                <a:solidFill>
                  <a:srgbClr val="00234D"/>
                </a:solidFill>
                <a:latin typeface="Times New Roman" panose="02020603050405020304"/>
              </a:defRPr>
            </a:pPr>
            <a:r>
              <a:rPr sz="2410" b="0" i="0">
                <a:solidFill>
                  <a:srgbClr val="00234D"/>
                </a:solidFill>
                <a:latin typeface="Times New Roman" panose="02020603050405020304"/>
              </a:rPr>
              <a:t>Identifies the right sagittal image.</a:t>
            </a:r>
            <a:endParaRPr sz="2410" b="0" i="0">
              <a:solidFill>
                <a:srgbClr val="00234D"/>
              </a:solidFill>
              <a:latin typeface="Times New Roman" panose="02020603050405020304"/>
            </a:endParaRPr>
          </a:p>
        </p:txBody>
      </p:sp>
      <p:sp>
        <p:nvSpPr>
          <p:cNvPr id="75" name="Feature + meaning scoring card"/>
          <p:cNvSpPr/>
          <p:nvPr/>
        </p:nvSpPr>
        <p:spPr>
          <a:xfrm>
            <a:off x="12655033" y="5269217"/>
            <a:ext cx="5337645" cy="2262921"/>
          </a:xfrm>
          <a:prstGeom prst="roundRect">
            <a:avLst>
              <a:gd name="adj" fmla="val 50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Feature + meaning scoring criterion"/>
          <p:cNvSpPr txBox="1"/>
          <p:nvPr/>
        </p:nvSpPr>
        <p:spPr>
          <a:xfrm>
            <a:off x="12851913" y="5586245"/>
            <a:ext cx="3653224" cy="524735"/>
          </a:xfrm>
          <a:prstGeom prst="rect">
            <a:avLst/>
          </a:prstGeom>
          <a:noFill/>
          <a:effectLst/>
        </p:spPr>
        <p:txBody>
          <a:bodyPr wrap="square" lIns="0" tIns="0" rIns="0" bIns="0" anchor="t">
            <a:noAutofit/>
          </a:bodyPr>
          <a:lstStyle/>
          <a:p>
            <a:pPr algn="l">
              <a:lnSpc>
                <a:spcPct val="104000"/>
              </a:lnSpc>
              <a:spcBef>
                <a:spcPts val="0"/>
              </a:spcBef>
              <a:spcAft>
                <a:spcPts val="0"/>
              </a:spcAft>
              <a:defRPr sz="2840" b="1" i="0">
                <a:solidFill>
                  <a:srgbClr val="00234D"/>
                </a:solidFill>
                <a:latin typeface="Times New Roman" panose="02020603050405020304"/>
              </a:defRPr>
            </a:pPr>
            <a:r>
              <a:rPr sz="2840" b="1" i="0">
                <a:solidFill>
                  <a:srgbClr val="00234D"/>
                </a:solidFill>
                <a:latin typeface="Times New Roman" panose="02020603050405020304"/>
              </a:rPr>
              <a:t>Feature + meaning</a:t>
            </a:r>
            <a:endParaRPr sz="2840" b="1" i="0">
              <a:solidFill>
                <a:srgbClr val="00234D"/>
              </a:solidFill>
              <a:latin typeface="Times New Roman" panose="02020603050405020304"/>
            </a:endParaRPr>
          </a:p>
        </p:txBody>
      </p:sp>
      <p:sp>
        <p:nvSpPr>
          <p:cNvPr id="77" name="Feature + meaning scoring weight"/>
          <p:cNvSpPr txBox="1"/>
          <p:nvPr/>
        </p:nvSpPr>
        <p:spPr>
          <a:xfrm>
            <a:off x="16537952" y="5400401"/>
            <a:ext cx="1268784" cy="732443"/>
          </a:xfrm>
          <a:prstGeom prst="rect">
            <a:avLst/>
          </a:prstGeom>
          <a:noFill/>
          <a:effectLst/>
        </p:spPr>
        <p:txBody>
          <a:bodyPr wrap="square" lIns="0" tIns="0" rIns="0" bIns="0" anchor="t">
            <a:noAutofit/>
          </a:bodyPr>
          <a:lstStyle/>
          <a:p>
            <a:pPr algn="r">
              <a:lnSpc>
                <a:spcPct val="104000"/>
              </a:lnSpc>
              <a:spcBef>
                <a:spcPts val="0"/>
              </a:spcBef>
              <a:spcAft>
                <a:spcPts val="0"/>
              </a:spcAft>
              <a:defRPr sz="4565" b="1" i="0">
                <a:solidFill>
                  <a:srgbClr val="831C20"/>
                </a:solidFill>
                <a:latin typeface="Times New Roman" panose="02020603050405020304"/>
              </a:defRPr>
            </a:pPr>
            <a:r>
              <a:rPr sz="4565" b="1" i="0">
                <a:solidFill>
                  <a:srgbClr val="831C20"/>
                </a:solidFill>
                <a:latin typeface="Times New Roman" panose="02020603050405020304"/>
              </a:rPr>
              <a:t>4 pts</a:t>
            </a:r>
            <a:endParaRPr sz="4565" b="1" i="0">
              <a:solidFill>
                <a:srgbClr val="831C20"/>
              </a:solidFill>
              <a:latin typeface="Times New Roman" panose="02020603050405020304"/>
            </a:endParaRPr>
          </a:p>
        </p:txBody>
      </p:sp>
      <p:cxnSp>
        <p:nvCxnSpPr>
          <p:cNvPr id="78" name="Feature + meaning divider left"/>
          <p:cNvCxnSpPr/>
          <p:nvPr/>
        </p:nvCxnSpPr>
        <p:spPr>
          <a:xfrm>
            <a:off x="12851913" y="6242164"/>
            <a:ext cx="2335220"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79" name="Feature + meaning divider right"/>
          <p:cNvCxnSpPr/>
          <p:nvPr/>
        </p:nvCxnSpPr>
        <p:spPr>
          <a:xfrm>
            <a:off x="15449641" y="6242164"/>
            <a:ext cx="2335220"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80" name="Feature + meaning divider diamond"/>
          <p:cNvSpPr/>
          <p:nvPr/>
        </p:nvSpPr>
        <p:spPr>
          <a:xfrm>
            <a:off x="15258229" y="6182038"/>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Feature + meaning scoring requirement"/>
          <p:cNvSpPr txBox="1"/>
          <p:nvPr/>
        </p:nvSpPr>
        <p:spPr>
          <a:xfrm>
            <a:off x="12851913" y="6526396"/>
            <a:ext cx="4932947" cy="929218"/>
          </a:xfrm>
          <a:prstGeom prst="rect">
            <a:avLst/>
          </a:prstGeom>
          <a:noFill/>
          <a:effectLst/>
        </p:spPr>
        <p:txBody>
          <a:bodyPr wrap="square" lIns="0" tIns="0" rIns="0" bIns="0" anchor="t">
            <a:noAutofit/>
          </a:bodyPr>
          <a:lstStyle/>
          <a:p>
            <a:pPr algn="l">
              <a:lnSpc>
                <a:spcPct val="104000"/>
              </a:lnSpc>
              <a:spcBef>
                <a:spcPts val="0"/>
              </a:spcBef>
              <a:spcAft>
                <a:spcPts val="0"/>
              </a:spcAft>
              <a:defRPr sz="2280" b="0" i="0">
                <a:solidFill>
                  <a:srgbClr val="00234D"/>
                </a:solidFill>
                <a:latin typeface="Times New Roman" panose="02020603050405020304"/>
              </a:defRPr>
            </a:pPr>
            <a:r>
              <a:rPr sz="2280" b="0" i="0">
                <a:solidFill>
                  <a:srgbClr val="00234D"/>
                </a:solidFill>
                <a:latin typeface="Times New Roman" panose="02020603050405020304"/>
              </a:rPr>
              <a:t>Links the indistinct superior tumor–</a:t>
            </a:r>
            <a:endParaRPr sz="2280" b="0" i="0">
              <a:solidFill>
                <a:srgbClr val="00234D"/>
              </a:solidFill>
              <a:latin typeface="Times New Roman" panose="02020603050405020304"/>
            </a:endParaRPr>
          </a:p>
          <a:p>
            <a:pPr algn="l">
              <a:lnSpc>
                <a:spcPct val="104000"/>
              </a:lnSpc>
              <a:spcBef>
                <a:spcPts val="0"/>
              </a:spcBef>
              <a:spcAft>
                <a:spcPts val="0"/>
              </a:spcAft>
              <a:defRPr sz="2280" b="0" i="0">
                <a:solidFill>
                  <a:srgbClr val="00234D"/>
                </a:solidFill>
                <a:latin typeface="Times New Roman" panose="02020603050405020304"/>
              </a:defRPr>
            </a:pPr>
            <a:r>
              <a:rPr sz="2280" b="0" i="0">
                <a:solidFill>
                  <a:srgbClr val="00234D"/>
                </a:solidFill>
                <a:latin typeface="Times New Roman" panose="02020603050405020304"/>
              </a:rPr>
              <a:t>skull-base interface to infiltrative growth.</a:t>
            </a:r>
            <a:endParaRPr sz="2280" b="0" i="0">
              <a:solidFill>
                <a:srgbClr val="00234D"/>
              </a:solidFill>
              <a:latin typeface="Times New Roman" panose="02020603050405020304"/>
            </a:endParaRPr>
          </a:p>
        </p:txBody>
      </p:sp>
      <p:sp>
        <p:nvSpPr>
          <p:cNvPr id="82" name="Dataset and item source"/>
          <p:cNvSpPr txBox="1"/>
          <p:nvPr/>
        </p:nvSpPr>
        <p:spPr>
          <a:xfrm>
            <a:off x="317196" y="9510828"/>
            <a:ext cx="8268976" cy="240503"/>
          </a:xfrm>
          <a:prstGeom prst="rect">
            <a:avLst/>
          </a:prstGeom>
          <a:noFill/>
          <a:effectLst/>
        </p:spPr>
        <p:txBody>
          <a:bodyPr wrap="square" lIns="0" tIns="0" rIns="0" bIns="0" anchor="t">
            <a:noAutofit/>
          </a:bodyPr>
          <a:lstStyle/>
          <a:p>
            <a:pPr algn="l">
              <a:lnSpc>
                <a:spcPct val="104000"/>
              </a:lnSpc>
              <a:spcBef>
                <a:spcPts val="0"/>
              </a:spcBef>
              <a:spcAft>
                <a:spcPts val="0"/>
              </a:spcAft>
              <a:defRPr sz="1335" b="0" i="0">
                <a:solidFill>
                  <a:srgbClr val="00234D"/>
                </a:solidFill>
                <a:latin typeface="Times New Roman" panose="02020603050405020304"/>
              </a:defRPr>
            </a:pPr>
            <a:r>
              <a:rPr sz="1335" b="0" i="0">
                <a:solidFill>
                  <a:srgbClr val="00234D"/>
                </a:solidFill>
                <a:latin typeface="Times New Roman" panose="02020603050405020304"/>
              </a:rPr>
              <a:t>Dataset v1.3.0 · q01-04cfddb40624b468 · Rubric highlights</a:t>
            </a:r>
            <a:endParaRPr sz="1335" b="0" i="0">
              <a:solidFill>
                <a:srgbClr val="00234D"/>
              </a:solidFill>
              <a:latin typeface="Times New Roman" panose="02020603050405020304"/>
            </a:endParaRPr>
          </a:p>
        </p:txBody>
      </p:sp>
      <p:sp>
        <p:nvSpPr>
          <p:cNvPr id="83" name="Clinical image credit"/>
          <p:cNvSpPr txBox="1"/>
          <p:nvPr/>
        </p:nvSpPr>
        <p:spPr>
          <a:xfrm>
            <a:off x="11342497" y="9510828"/>
            <a:ext cx="6628306" cy="240503"/>
          </a:xfrm>
          <a:prstGeom prst="rect">
            <a:avLst/>
          </a:prstGeom>
          <a:noFill/>
          <a:effectLst/>
        </p:spPr>
        <p:txBody>
          <a:bodyPr wrap="square" lIns="0" tIns="0" rIns="0" bIns="0" anchor="t">
            <a:noAutofit/>
          </a:bodyPr>
          <a:lstStyle/>
          <a:p>
            <a:pPr algn="r">
              <a:lnSpc>
                <a:spcPct val="104000"/>
              </a:lnSpc>
              <a:spcBef>
                <a:spcPts val="0"/>
              </a:spcBef>
              <a:spcAft>
                <a:spcPts val="0"/>
              </a:spcAft>
              <a:defRPr sz="1250" b="0" i="0">
                <a:solidFill>
                  <a:srgbClr val="00234D"/>
                </a:solidFill>
                <a:latin typeface="Times New Roman" panose="02020603050405020304"/>
              </a:defRPr>
            </a:pPr>
            <a:r>
              <a:rPr sz="1250" b="0" i="0">
                <a:solidFill>
                  <a:srgbClr val="00234D"/>
                </a:solidFill>
                <a:latin typeface="Times New Roman" panose="02020603050405020304"/>
              </a:rPr>
              <a:t>Zhao et al., Front Oncol. 2026 · doi:10.3389/fonc.2026.1776760 · CC BY</a:t>
            </a:r>
            <a:endParaRPr sz="1250" b="0" i="0">
              <a:solidFill>
                <a:srgbClr val="00234D"/>
              </a:solidFill>
              <a:latin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BF8F1"/>
        </a:solidFill>
        <a:effectLst/>
      </p:bgPr>
    </p:bg>
    <p:spTree>
      <p:nvGrpSpPr>
        <p:cNvPr id="1" name=""/>
        <p:cNvGrpSpPr/>
        <p:nvPr/>
      </p:nvGrpSpPr>
      <p:grpSpPr/>
      <p:sp>
        <p:nvSpPr>
          <p:cNvPr id="2" name="Masthead gradient"/>
          <p:cNvSpPr/>
          <p:nvPr/>
        </p:nvSpPr>
        <p:spPr>
          <a:xfrm>
            <a:off x="0" y="0"/>
            <a:ext cx="18288000" cy="1530478"/>
          </a:xfrm>
          <a:prstGeom prst="rect">
            <a:avLst/>
          </a:prstGeom>
          <a:blipFill rotWithShape="1">
            <a:blip r:embed="rId1"/>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ain title"/>
          <p:cNvSpPr txBox="1"/>
          <p:nvPr/>
        </p:nvSpPr>
        <p:spPr>
          <a:xfrm>
            <a:off x="503138" y="163979"/>
            <a:ext cx="14656650" cy="830831"/>
          </a:xfrm>
          <a:prstGeom prst="rect">
            <a:avLst/>
          </a:prstGeom>
          <a:noFill/>
          <a:effectLst/>
        </p:spPr>
        <p:txBody>
          <a:bodyPr wrap="square" lIns="0" tIns="0" rIns="0" bIns="0" anchor="t">
            <a:noAutofit/>
          </a:bodyPr>
          <a:lstStyle/>
          <a:p>
            <a:pPr algn="l">
              <a:lnSpc>
                <a:spcPct val="104000"/>
              </a:lnSpc>
              <a:spcBef>
                <a:spcPts val="0"/>
              </a:spcBef>
              <a:spcAft>
                <a:spcPts val="0"/>
              </a:spcAft>
              <a:defRPr sz="5340" b="1" i="0">
                <a:solidFill>
                  <a:srgbClr val="FFFDFA"/>
                </a:solidFill>
                <a:latin typeface="Times New Roman" panose="02020603050405020304"/>
              </a:defRPr>
            </a:pPr>
            <a:r>
              <a:rPr sz="5340" b="1" i="0">
                <a:solidFill>
                  <a:srgbClr val="FFFDFA"/>
                </a:solidFill>
                <a:latin typeface="Times New Roman" panose="02020603050405020304"/>
              </a:rPr>
              <a:t>Medical Doctor’s Last Exam</a:t>
            </a:r>
            <a:endParaRPr sz="5340" b="1" i="0">
              <a:solidFill>
                <a:srgbClr val="FFFDFA"/>
              </a:solidFill>
              <a:latin typeface="Times New Roman" panose="02020603050405020304"/>
            </a:endParaRPr>
          </a:p>
        </p:txBody>
      </p:sp>
      <p:sp>
        <p:nvSpPr>
          <p:cNvPr id="4" name="Page subtitle"/>
          <p:cNvSpPr txBox="1"/>
          <p:nvPr/>
        </p:nvSpPr>
        <p:spPr>
          <a:xfrm>
            <a:off x="503138" y="951082"/>
            <a:ext cx="14711339" cy="513803"/>
          </a:xfrm>
          <a:prstGeom prst="rect">
            <a:avLst/>
          </a:prstGeom>
          <a:noFill/>
          <a:effectLst/>
        </p:spPr>
        <p:txBody>
          <a:bodyPr wrap="square" lIns="0" tIns="0" rIns="0" bIns="0" anchor="t">
            <a:noAutofit/>
          </a:bodyPr>
          <a:lstStyle/>
          <a:p>
            <a:pPr algn="l">
              <a:lnSpc>
                <a:spcPct val="104000"/>
              </a:lnSpc>
              <a:spcBef>
                <a:spcPts val="0"/>
              </a:spcBef>
              <a:spcAft>
                <a:spcPts val="0"/>
              </a:spcAft>
              <a:defRPr sz="2755" b="0" i="1">
                <a:solidFill>
                  <a:srgbClr val="FFFDFA"/>
                </a:solidFill>
                <a:latin typeface="Times New Roman" panose="02020603050405020304"/>
              </a:defRPr>
            </a:pPr>
            <a:r>
              <a:rPr sz="2755" b="0" i="1">
                <a:solidFill>
                  <a:srgbClr val="FFFDFA"/>
                </a:solidFill>
                <a:latin typeface="Times New Roman" panose="02020603050405020304"/>
              </a:rPr>
              <a:t>Case 02 · ECG localization: what changed after angiography?</a:t>
            </a:r>
            <a:endParaRPr sz="2755" b="0" i="1">
              <a:solidFill>
                <a:srgbClr val="FFFDFA"/>
              </a:solidFill>
              <a:latin typeface="Times New Roman" panose="02020603050405020304"/>
            </a:endParaRPr>
          </a:p>
        </p:txBody>
      </p:sp>
      <p:sp>
        <p:nvSpPr>
          <p:cNvPr id="5" name="MDLE wordmark frame"/>
          <p:cNvSpPr/>
          <p:nvPr/>
        </p:nvSpPr>
        <p:spPr>
          <a:xfrm>
            <a:off x="16023875" y="242765"/>
            <a:ext cx="1782861" cy="1161052"/>
          </a:xfrm>
          <a:prstGeom prst="rect">
            <a:avLst/>
          </a:prstGeom>
          <a:noFill/>
          <a:ln w="10937">
            <a:solidFill>
              <a:srgbClr val="EADA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MDLE wordmark"/>
          <p:cNvSpPr txBox="1"/>
          <p:nvPr/>
        </p:nvSpPr>
        <p:spPr>
          <a:xfrm>
            <a:off x="16144191" y="411645"/>
            <a:ext cx="1542229" cy="833846"/>
          </a:xfrm>
          <a:prstGeom prst="rect">
            <a:avLst/>
          </a:prstGeom>
          <a:noFill/>
          <a:effectLst/>
        </p:spPr>
        <p:txBody>
          <a:bodyPr wrap="square" lIns="0" tIns="0" rIns="0" bIns="0" anchor="t">
            <a:noAutofit/>
          </a:bodyPr>
          <a:lstStyle/>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MEDICAL</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DOCTOR’S</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LAST EXAM</a:t>
            </a:r>
            <a:endParaRPr sz="1830" b="1" i="0">
              <a:solidFill>
                <a:srgbClr val="FFFDFA"/>
              </a:solidFill>
              <a:latin typeface="Times New Roman" panose="02020603050405020304"/>
            </a:endParaRPr>
          </a:p>
        </p:txBody>
      </p:sp>
      <p:sp>
        <p:nvSpPr>
          <p:cNvPr id="7" name="Footer gradient"/>
          <p:cNvSpPr/>
          <p:nvPr/>
        </p:nvSpPr>
        <p:spPr>
          <a:xfrm>
            <a:off x="0" y="9642012"/>
            <a:ext cx="18288000" cy="644987"/>
          </a:xfrm>
          <a:prstGeom prst="rect">
            <a:avLst/>
          </a:prstGeom>
          <a:blipFill rotWithShape="1">
            <a:blip r:embed="rId2"/>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Footer left rule"/>
          <p:cNvCxnSpPr/>
          <p:nvPr/>
        </p:nvCxnSpPr>
        <p:spPr>
          <a:xfrm>
            <a:off x="2275062" y="9964506"/>
            <a:ext cx="2811014"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9" name="Footer left diamond"/>
          <p:cNvSpPr/>
          <p:nvPr/>
        </p:nvSpPr>
        <p:spPr>
          <a:xfrm>
            <a:off x="5173578" y="9898914"/>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Footer right rule"/>
          <p:cNvCxnSpPr/>
          <p:nvPr/>
        </p:nvCxnSpPr>
        <p:spPr>
          <a:xfrm>
            <a:off x="13136296" y="9964506"/>
            <a:ext cx="2887579"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 name="Footer right diamond"/>
          <p:cNvSpPr/>
          <p:nvPr/>
        </p:nvSpPr>
        <p:spPr>
          <a:xfrm>
            <a:off x="12928478" y="9898914"/>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ooter tagline"/>
          <p:cNvSpPr txBox="1"/>
          <p:nvPr/>
        </p:nvSpPr>
        <p:spPr>
          <a:xfrm>
            <a:off x="5665779" y="9751332"/>
            <a:ext cx="7109569"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495" b="0" i="1">
                <a:solidFill>
                  <a:srgbClr val="FFFDFA"/>
                </a:solidFill>
                <a:latin typeface="Times New Roman" panose="02020603050405020304"/>
              </a:defRPr>
            </a:pPr>
            <a:r>
              <a:rPr sz="2495" b="0" i="1">
                <a:solidFill>
                  <a:srgbClr val="FFFDFA"/>
                </a:solidFill>
                <a:latin typeface="Times New Roman" panose="02020603050405020304"/>
              </a:rPr>
              <a:t>A living benchmark for next-generation medical AI</a:t>
            </a:r>
            <a:endParaRPr sz="2495" b="0" i="1">
              <a:solidFill>
                <a:srgbClr val="FFFDFA"/>
              </a:solidFill>
              <a:latin typeface="Times New Roman" panose="02020603050405020304"/>
            </a:endParaRPr>
          </a:p>
        </p:txBody>
      </p:sp>
      <p:sp>
        <p:nvSpPr>
          <p:cNvPr id="13" name="ECG original evidence panel"/>
          <p:cNvSpPr/>
          <p:nvPr/>
        </p:nvSpPr>
        <p:spPr>
          <a:xfrm>
            <a:off x="404698" y="1650730"/>
            <a:ext cx="7525205" cy="7433751"/>
          </a:xfrm>
          <a:prstGeom prst="roundRect">
            <a:avLst>
              <a:gd name="adj" fmla="val 2500"/>
            </a:avLst>
          </a:prstGeom>
          <a:no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ECG evidence heading"/>
          <p:cNvSpPr txBox="1"/>
          <p:nvPr/>
        </p:nvSpPr>
        <p:spPr>
          <a:xfrm>
            <a:off x="514076" y="1760049"/>
            <a:ext cx="7306449"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SEQUENTIAL 12-LEAD ECGs</a:t>
            </a:r>
            <a:endParaRPr sz="2325" b="1" i="0">
              <a:solidFill>
                <a:srgbClr val="124936"/>
              </a:solidFill>
              <a:latin typeface="Times New Roman" panose="02020603050405020304"/>
            </a:endParaRPr>
          </a:p>
        </p:txBody>
      </p:sp>
      <p:cxnSp>
        <p:nvCxnSpPr>
          <p:cNvPr id="15" name="ECG evidence left rule"/>
          <p:cNvCxnSpPr/>
          <p:nvPr/>
        </p:nvCxnSpPr>
        <p:spPr>
          <a:xfrm>
            <a:off x="732832" y="2142669"/>
            <a:ext cx="3292278"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16" name="ECG evidence right rule"/>
          <p:cNvCxnSpPr/>
          <p:nvPr/>
        </p:nvCxnSpPr>
        <p:spPr>
          <a:xfrm>
            <a:off x="4309492" y="2142669"/>
            <a:ext cx="3292278"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17" name="ECG evidence diamond"/>
          <p:cNvSpPr/>
          <p:nvPr/>
        </p:nvSpPr>
        <p:spPr>
          <a:xfrm>
            <a:off x="4107143" y="2082543"/>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Original before and after ECG figure" descr="image.png"/>
          <p:cNvPicPr>
            <a:picLocks noChangeAspect="1"/>
          </p:cNvPicPr>
          <p:nvPr/>
        </p:nvPicPr>
        <p:blipFill>
          <a:blip r:embed="rId3"/>
          <a:srcRect l="11240" t="2323" b="4516"/>
          <a:stretch>
            <a:fillRect/>
          </a:stretch>
        </p:blipFill>
        <p:spPr>
          <a:xfrm>
            <a:off x="1686072" y="2372241"/>
            <a:ext cx="4962458" cy="6668512"/>
          </a:xfrm>
          <a:prstGeom prst="rect">
            <a:avLst/>
          </a:prstGeom>
          <a:effectLst/>
        </p:spPr>
      </p:pic>
      <p:sp>
        <p:nvSpPr>
          <p:cNvPr id="19" name="Left ECG before angiography label"/>
          <p:cNvSpPr txBox="1"/>
          <p:nvPr/>
        </p:nvSpPr>
        <p:spPr>
          <a:xfrm>
            <a:off x="1686072" y="2186397"/>
            <a:ext cx="2729352" cy="295163"/>
          </a:xfrm>
          <a:prstGeom prst="rect">
            <a:avLst/>
          </a:prstGeom>
          <a:noFill/>
          <a:effectLst/>
        </p:spPr>
        <p:txBody>
          <a:bodyPr wrap="square" lIns="0" tIns="0" rIns="0" bIns="0" anchor="t">
            <a:noAutofit/>
          </a:bodyPr>
          <a:lstStyle/>
          <a:p>
            <a:pPr algn="ctr">
              <a:lnSpc>
                <a:spcPct val="104000"/>
              </a:lnSpc>
              <a:spcBef>
                <a:spcPts val="0"/>
              </a:spcBef>
              <a:spcAft>
                <a:spcPts val="0"/>
              </a:spcAft>
              <a:defRPr sz="1635" b="1" i="0">
                <a:solidFill>
                  <a:srgbClr val="10243C"/>
                </a:solidFill>
                <a:latin typeface="Times New Roman" panose="02020603050405020304"/>
              </a:defRPr>
            </a:pPr>
            <a:r>
              <a:rPr sz="1635" b="1" i="0">
                <a:solidFill>
                  <a:srgbClr val="10243C"/>
                </a:solidFill>
                <a:latin typeface="Times New Roman" panose="02020603050405020304"/>
              </a:rPr>
              <a:t>Before</a:t>
            </a:r>
            <a:endParaRPr sz="1635" b="1" i="0">
              <a:solidFill>
                <a:srgbClr val="10243C"/>
              </a:solidFill>
              <a:latin typeface="Times New Roman" panose="02020603050405020304"/>
            </a:endParaRPr>
          </a:p>
        </p:txBody>
      </p:sp>
      <p:sp>
        <p:nvSpPr>
          <p:cNvPr id="20" name="Right ECG after angiography label"/>
          <p:cNvSpPr txBox="1"/>
          <p:nvPr/>
        </p:nvSpPr>
        <p:spPr>
          <a:xfrm>
            <a:off x="4415424" y="2186397"/>
            <a:ext cx="2233106" cy="295163"/>
          </a:xfrm>
          <a:prstGeom prst="rect">
            <a:avLst/>
          </a:prstGeom>
          <a:noFill/>
          <a:effectLst/>
        </p:spPr>
        <p:txBody>
          <a:bodyPr wrap="square" lIns="0" tIns="0" rIns="0" bIns="0" anchor="t">
            <a:noAutofit/>
          </a:bodyPr>
          <a:lstStyle/>
          <a:p>
            <a:pPr algn="ctr">
              <a:lnSpc>
                <a:spcPct val="104000"/>
              </a:lnSpc>
              <a:spcBef>
                <a:spcPts val="0"/>
              </a:spcBef>
              <a:spcAft>
                <a:spcPts val="0"/>
              </a:spcAft>
              <a:defRPr sz="1635" b="1" i="0">
                <a:solidFill>
                  <a:srgbClr val="10243C"/>
                </a:solidFill>
                <a:latin typeface="Times New Roman" panose="02020603050405020304"/>
              </a:defRPr>
            </a:pPr>
            <a:r>
              <a:rPr sz="1635" b="1" i="0">
                <a:solidFill>
                  <a:srgbClr val="10243C"/>
                </a:solidFill>
                <a:latin typeface="Times New Roman" panose="02020603050405020304"/>
              </a:rPr>
              <a:t>After</a:t>
            </a:r>
            <a:endParaRPr sz="1635" b="1" i="0">
              <a:solidFill>
                <a:srgbClr val="10243C"/>
              </a:solidFill>
              <a:latin typeface="Times New Roman" panose="02020603050405020304"/>
            </a:endParaRPr>
          </a:p>
        </p:txBody>
      </p:sp>
      <p:sp>
        <p:nvSpPr>
          <p:cNvPr id="21" name="ECG clinical question panel"/>
          <p:cNvSpPr/>
          <p:nvPr/>
        </p:nvSpPr>
        <p:spPr>
          <a:xfrm>
            <a:off x="8192411" y="1650730"/>
            <a:ext cx="9690889" cy="7433751"/>
          </a:xfrm>
          <a:prstGeom prst="roundRect">
            <a:avLst>
              <a:gd name="adj" fmla="val 2500"/>
            </a:avLst>
          </a:prstGeom>
          <a:no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ECG clinical case heading"/>
          <p:cNvSpPr txBox="1"/>
          <p:nvPr/>
        </p:nvSpPr>
        <p:spPr>
          <a:xfrm>
            <a:off x="8301789" y="1760049"/>
            <a:ext cx="9472133"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CASE IN BRIEF</a:t>
            </a:r>
            <a:endParaRPr sz="2325" b="1" i="0">
              <a:solidFill>
                <a:srgbClr val="124936"/>
              </a:solidFill>
              <a:latin typeface="Times New Roman" panose="02020603050405020304"/>
            </a:endParaRPr>
          </a:p>
        </p:txBody>
      </p:sp>
      <p:cxnSp>
        <p:nvCxnSpPr>
          <p:cNvPr id="23" name="ECG clinical case left rule"/>
          <p:cNvCxnSpPr/>
          <p:nvPr/>
        </p:nvCxnSpPr>
        <p:spPr>
          <a:xfrm>
            <a:off x="8520545" y="2142669"/>
            <a:ext cx="4375120"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24" name="ECG clinical case right rule"/>
          <p:cNvCxnSpPr/>
          <p:nvPr/>
        </p:nvCxnSpPr>
        <p:spPr>
          <a:xfrm>
            <a:off x="13180047" y="2142669"/>
            <a:ext cx="4375120"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25" name="ECG clinical case diamond"/>
          <p:cNvSpPr/>
          <p:nvPr/>
        </p:nvSpPr>
        <p:spPr>
          <a:xfrm>
            <a:off x="12977698" y="2082543"/>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ECG case vignette"/>
          <p:cNvSpPr txBox="1"/>
          <p:nvPr/>
        </p:nvSpPr>
        <p:spPr>
          <a:xfrm>
            <a:off x="8509607" y="2372241"/>
            <a:ext cx="9056497" cy="3367052"/>
          </a:xfrm>
          <a:prstGeom prst="rect">
            <a:avLst/>
          </a:prstGeom>
          <a:noFill/>
          <a:effectLst/>
        </p:spPr>
        <p:txBody>
          <a:bodyPr wrap="square" lIns="0" tIns="0" rIns="0" bIns="0" anchor="t">
            <a:noAutofit/>
          </a:bodyPr>
          <a:lstStyle/>
          <a:p>
            <a:pPr algn="l">
              <a:lnSpc>
                <a:spcPct val="104000"/>
              </a:lnSpc>
              <a:spcBef>
                <a:spcPts val="0"/>
              </a:spcBef>
              <a:spcAft>
                <a:spcPts val="0"/>
              </a:spcAft>
              <a:defRPr sz="2495" b="0" i="0">
                <a:solidFill>
                  <a:srgbClr val="10243C"/>
                </a:solidFill>
                <a:latin typeface="Times New Roman" panose="02020603050405020304"/>
              </a:defRPr>
            </a:pPr>
            <a:r>
              <a:rPr sz="2495" b="0" i="0">
                <a:solidFill>
                  <a:srgbClr val="10243C"/>
                </a:solidFill>
                <a:latin typeface="Times New Roman" panose="02020603050405020304"/>
              </a:rPr>
              <a:t>A woman in her 60s presented with acute chest pain at rest, without traditional cardiovascular risk factors.</a:t>
            </a:r>
            <a:endParaRPr sz="2495" b="0" i="0">
              <a:solidFill>
                <a:srgbClr val="10243C"/>
              </a:solidFill>
              <a:latin typeface="Times New Roman" panose="02020603050405020304"/>
            </a:endParaRPr>
          </a:p>
          <a:p>
            <a:pPr algn="l">
              <a:lnSpc>
                <a:spcPct val="104000"/>
              </a:lnSpc>
              <a:spcBef>
                <a:spcPts val="0"/>
              </a:spcBef>
              <a:spcAft>
                <a:spcPts val="0"/>
              </a:spcAft>
              <a:defRPr sz="2495" b="0" i="0">
                <a:solidFill>
                  <a:srgbClr val="10243C"/>
                </a:solidFill>
                <a:latin typeface="Times New Roman" panose="02020603050405020304"/>
              </a:defRPr>
            </a:pPr>
          </a:p>
          <a:p>
            <a:pPr algn="l">
              <a:lnSpc>
                <a:spcPct val="104000"/>
              </a:lnSpc>
              <a:spcBef>
                <a:spcPts val="0"/>
              </a:spcBef>
              <a:spcAft>
                <a:spcPts val="0"/>
              </a:spcAft>
              <a:defRPr sz="2495" b="0" i="0">
                <a:solidFill>
                  <a:srgbClr val="10243C"/>
                </a:solidFill>
                <a:latin typeface="Times New Roman" panose="02020603050405020304"/>
              </a:defRPr>
            </a:pPr>
            <a:r>
              <a:rPr sz="2495" b="0" i="0">
                <a:solidFill>
                  <a:srgbClr val="10243C"/>
                </a:solidFill>
                <a:latin typeface="Times New Roman" panose="02020603050405020304"/>
              </a:rPr>
              <a:t>The RCA, LAD and a small LCx share one ostium in a single aortic sinus.</a:t>
            </a:r>
            <a:endParaRPr sz="2495" b="0" i="0">
              <a:solidFill>
                <a:srgbClr val="10243C"/>
              </a:solidFill>
              <a:latin typeface="Times New Roman" panose="02020603050405020304"/>
            </a:endParaRPr>
          </a:p>
          <a:p>
            <a:pPr algn="l">
              <a:lnSpc>
                <a:spcPct val="104000"/>
              </a:lnSpc>
              <a:spcBef>
                <a:spcPts val="0"/>
              </a:spcBef>
              <a:spcAft>
                <a:spcPts val="0"/>
              </a:spcAft>
              <a:defRPr sz="2495" b="0" i="0">
                <a:solidFill>
                  <a:srgbClr val="10243C"/>
                </a:solidFill>
                <a:latin typeface="Times New Roman" panose="02020603050405020304"/>
              </a:defRPr>
            </a:pPr>
          </a:p>
          <a:p>
            <a:pPr algn="l">
              <a:lnSpc>
                <a:spcPct val="104000"/>
              </a:lnSpc>
              <a:spcBef>
                <a:spcPts val="0"/>
              </a:spcBef>
              <a:spcAft>
                <a:spcPts val="0"/>
              </a:spcAft>
              <a:defRPr sz="2495" b="0" i="0">
                <a:solidFill>
                  <a:srgbClr val="10243C"/>
                </a:solidFill>
                <a:latin typeface="Times New Roman" panose="02020603050405020304"/>
              </a:defRPr>
            </a:pPr>
            <a:r>
              <a:rPr sz="2495" b="0" i="0">
                <a:solidFill>
                  <a:srgbClr val="10243C"/>
                </a:solidFill>
                <a:latin typeface="Times New Roman" panose="02020603050405020304"/>
              </a:rPr>
              <a:t>A dissection flap in the shared sinus extends into the LCx; a separate flap involves the mid-to-distal LAD.</a:t>
            </a:r>
            <a:endParaRPr sz="2495" b="0" i="0">
              <a:solidFill>
                <a:srgbClr val="10243C"/>
              </a:solidFill>
              <a:latin typeface="Times New Roman" panose="02020603050405020304"/>
            </a:endParaRPr>
          </a:p>
        </p:txBody>
      </p:sp>
      <p:sp>
        <p:nvSpPr>
          <p:cNvPr id="27" name="ECG tracing timeline card"/>
          <p:cNvSpPr/>
          <p:nvPr/>
        </p:nvSpPr>
        <p:spPr>
          <a:xfrm>
            <a:off x="8509607" y="5848613"/>
            <a:ext cx="9056497" cy="1038538"/>
          </a:xfrm>
          <a:prstGeom prst="roundRect">
            <a:avLst>
              <a:gd name="adj" fmla="val 4000"/>
            </a:avLst>
          </a:prstGeom>
          <a:solidFill>
            <a:srgbClr val="F1F0E9"/>
          </a:solidFill>
          <a:ln w="10937">
            <a:solidFill>
              <a:srgbClr val="D1C5B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ECG timing heading"/>
          <p:cNvSpPr txBox="1"/>
          <p:nvPr/>
        </p:nvSpPr>
        <p:spPr>
          <a:xfrm>
            <a:off x="8717425" y="5968865"/>
            <a:ext cx="8640861" cy="338891"/>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IMAGE TIMING</a:t>
            </a:r>
            <a:endParaRPr sz="1980" b="1" i="0">
              <a:solidFill>
                <a:srgbClr val="124936"/>
              </a:solidFill>
              <a:latin typeface="Times New Roman" panose="02020603050405020304"/>
            </a:endParaRPr>
          </a:p>
        </p:txBody>
      </p:sp>
      <p:sp>
        <p:nvSpPr>
          <p:cNvPr id="29" name="ECG source tracing chronology"/>
          <p:cNvSpPr txBox="1"/>
          <p:nvPr/>
        </p:nvSpPr>
        <p:spPr>
          <a:xfrm>
            <a:off x="8717425" y="6264028"/>
            <a:ext cx="8640861" cy="568463"/>
          </a:xfrm>
          <a:prstGeom prst="rect">
            <a:avLst/>
          </a:prstGeom>
          <a:noFill/>
          <a:effectLst/>
        </p:spPr>
        <p:txBody>
          <a:bodyPr wrap="square" lIns="0" tIns="0" rIns="0" bIns="0" anchor="t">
            <a:noAutofit/>
          </a:bodyPr>
          <a:lstStyle/>
          <a:p>
            <a:pPr algn="l">
              <a:lnSpc>
                <a:spcPct val="104000"/>
              </a:lnSpc>
              <a:spcBef>
                <a:spcPts val="0"/>
              </a:spcBef>
              <a:spcAft>
                <a:spcPts val="0"/>
              </a:spcAft>
              <a:defRPr sz="2025" b="0" i="0">
                <a:solidFill>
                  <a:srgbClr val="10243C"/>
                </a:solidFill>
                <a:latin typeface="Times New Roman" panose="02020603050405020304"/>
              </a:defRPr>
            </a:pPr>
            <a:r>
              <a:rPr sz="2025" b="0" i="0">
                <a:solidFill>
                  <a:srgbClr val="10243C"/>
                </a:solidFill>
                <a:latin typeface="Times New Roman" panose="02020603050405020304"/>
              </a:rPr>
              <a:t>Left: immediately before angiography.</a:t>
            </a:r>
            <a:endParaRPr sz="2025" b="0" i="0">
              <a:solidFill>
                <a:srgbClr val="10243C"/>
              </a:solidFill>
              <a:latin typeface="Times New Roman" panose="02020603050405020304"/>
            </a:endParaRPr>
          </a:p>
          <a:p>
            <a:pPr algn="l">
              <a:lnSpc>
                <a:spcPct val="104000"/>
              </a:lnSpc>
              <a:spcBef>
                <a:spcPts val="0"/>
              </a:spcBef>
              <a:spcAft>
                <a:spcPts val="0"/>
              </a:spcAft>
              <a:defRPr sz="2025" b="0" i="0">
                <a:solidFill>
                  <a:srgbClr val="10243C"/>
                </a:solidFill>
                <a:latin typeface="Times New Roman" panose="02020603050405020304"/>
              </a:defRPr>
            </a:pPr>
            <a:r>
              <a:rPr sz="2025" b="0" i="0">
                <a:solidFill>
                  <a:srgbClr val="10243C"/>
                </a:solidFill>
                <a:latin typeface="Times New Roman" panose="02020603050405020304"/>
              </a:rPr>
              <a:t>Right: immediately after angiography.</a:t>
            </a:r>
            <a:endParaRPr sz="2025" b="0" i="0">
              <a:solidFill>
                <a:srgbClr val="10243C"/>
              </a:solidFill>
              <a:latin typeface="Times New Roman" panose="02020603050405020304"/>
            </a:endParaRPr>
          </a:p>
        </p:txBody>
      </p:sp>
      <p:sp>
        <p:nvSpPr>
          <p:cNvPr id="30" name="ECG current benchmark question card"/>
          <p:cNvSpPr/>
          <p:nvPr/>
        </p:nvSpPr>
        <p:spPr>
          <a:xfrm>
            <a:off x="8509607" y="7072995"/>
            <a:ext cx="9056497" cy="1825641"/>
          </a:xfrm>
          <a:prstGeom prst="roundRect">
            <a:avLst>
              <a:gd name="adj" fmla="val 4500"/>
            </a:avLst>
          </a:prstGeom>
          <a:solidFill>
            <a:srgbClr val="F0F3E9"/>
          </a:solidFill>
          <a:ln w="10937">
            <a:solidFill>
              <a:srgbClr val="A7B9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ECG current question heading"/>
          <p:cNvSpPr txBox="1"/>
          <p:nvPr/>
        </p:nvSpPr>
        <p:spPr>
          <a:xfrm>
            <a:off x="8717425" y="7193247"/>
            <a:ext cx="8640861" cy="371687"/>
          </a:xfrm>
          <a:prstGeom prst="rect">
            <a:avLst/>
          </a:prstGeom>
          <a:noFill/>
          <a:effectLst/>
        </p:spPr>
        <p:txBody>
          <a:bodyPr wrap="square" lIns="0" tIns="0" rIns="0" bIns="0" anchor="t">
            <a:noAutofit/>
          </a:bodyPr>
          <a:lstStyle/>
          <a:p>
            <a:pPr algn="l">
              <a:lnSpc>
                <a:spcPct val="104000"/>
              </a:lnSpc>
              <a:spcBef>
                <a:spcPts val="0"/>
              </a:spcBef>
              <a:spcAft>
                <a:spcPts val="0"/>
              </a:spcAft>
              <a:defRPr sz="2065" b="1" i="0">
                <a:solidFill>
                  <a:srgbClr val="124936"/>
                </a:solidFill>
                <a:latin typeface="Times New Roman" panose="02020603050405020304"/>
              </a:defRPr>
            </a:pPr>
            <a:r>
              <a:rPr sz="2065" b="1" i="0">
                <a:solidFill>
                  <a:srgbClr val="124936"/>
                </a:solidFill>
                <a:latin typeface="Times New Roman" panose="02020603050405020304"/>
              </a:rPr>
              <a:t>CURRENT BENCHMARK QUESTION</a:t>
            </a:r>
            <a:endParaRPr sz="2065" b="1" i="0">
              <a:solidFill>
                <a:srgbClr val="124936"/>
              </a:solidFill>
              <a:latin typeface="Times New Roman" panose="02020603050405020304"/>
            </a:endParaRPr>
          </a:p>
        </p:txBody>
      </p:sp>
      <p:sp>
        <p:nvSpPr>
          <p:cNvPr id="32" name="ECG complete benchmark question sentence"/>
          <p:cNvSpPr txBox="1"/>
          <p:nvPr/>
        </p:nvSpPr>
        <p:spPr>
          <a:xfrm>
            <a:off x="8717425" y="7608663"/>
            <a:ext cx="8640861" cy="1191586"/>
          </a:xfrm>
          <a:prstGeom prst="rect">
            <a:avLst/>
          </a:prstGeom>
          <a:noFill/>
          <a:effectLst/>
        </p:spPr>
        <p:txBody>
          <a:bodyPr wrap="square" lIns="0" tIns="0" rIns="0" bIns="0" anchor="t">
            <a:noAutofit/>
          </a:bodyPr>
          <a:lstStyle/>
          <a:p>
            <a:pPr algn="l">
              <a:lnSpc>
                <a:spcPct val="104000"/>
              </a:lnSpc>
              <a:spcBef>
                <a:spcPts val="0"/>
              </a:spcBef>
              <a:spcAft>
                <a:spcPts val="0"/>
              </a:spcAft>
              <a:defRPr sz="2840" b="0" i="0">
                <a:solidFill>
                  <a:srgbClr val="10243C"/>
                </a:solidFill>
                <a:latin typeface="Times New Roman" panose="02020603050405020304"/>
              </a:defRPr>
            </a:pPr>
            <a:r>
              <a:rPr sz="2840" b="0" i="0">
                <a:solidFill>
                  <a:srgbClr val="10243C"/>
                </a:solidFill>
                <a:latin typeface="Times New Roman" panose="02020603050405020304"/>
              </a:rPr>
              <a:t>What new ischemic territory appears after angiography, and does it correspond to the LAD or LCx dissection?</a:t>
            </a:r>
            <a:endParaRPr sz="2840" b="0" i="0">
              <a:solidFill>
                <a:srgbClr val="10243C"/>
              </a:solidFill>
              <a:latin typeface="Times New Roman" panose="02020603050405020304"/>
            </a:endParaRPr>
          </a:p>
        </p:txBody>
      </p:sp>
      <p:sp>
        <p:nvSpPr>
          <p:cNvPr id="33" name="ECG dataset and score version note"/>
          <p:cNvSpPr txBox="1"/>
          <p:nvPr/>
        </p:nvSpPr>
        <p:spPr>
          <a:xfrm>
            <a:off x="426574" y="9150073"/>
            <a:ext cx="17434851" cy="251435"/>
          </a:xfrm>
          <a:prstGeom prst="rect">
            <a:avLst/>
          </a:prstGeom>
          <a:noFill/>
          <a:effectLst/>
        </p:spPr>
        <p:txBody>
          <a:bodyPr wrap="square" lIns="0" tIns="0" rIns="0" bIns="0" anchor="t">
            <a:noAutofit/>
          </a:bodyPr>
          <a:lstStyle/>
          <a:p>
            <a:pPr algn="l">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Dataset v1.3.0 · Question/rubric v1.2.1 · Historical scores v1.1.0; revised question not rerun.</a:t>
            </a:r>
            <a:endParaRPr sz="1375" b="0" i="0">
              <a:solidFill>
                <a:srgbClr val="10243C"/>
              </a:solidFill>
              <a:latin typeface="Times New Roman" panose="02020603050405020304"/>
            </a:endParaRPr>
          </a:p>
        </p:txBody>
      </p:sp>
      <p:sp>
        <p:nvSpPr>
          <p:cNvPr id="34" name="ECG item and clinical image source"/>
          <p:cNvSpPr txBox="1"/>
          <p:nvPr/>
        </p:nvSpPr>
        <p:spPr>
          <a:xfrm>
            <a:off x="426574" y="9401509"/>
            <a:ext cx="17434851" cy="229571"/>
          </a:xfrm>
          <a:prstGeom prst="rect">
            <a:avLst/>
          </a:prstGeom>
          <a:noFill/>
          <a:effectLst/>
        </p:spPr>
        <p:txBody>
          <a:bodyPr wrap="square" lIns="0" tIns="0" rIns="0" bIns="0" anchor="t">
            <a:noAutofit/>
          </a:bodyPr>
          <a:lstStyle/>
          <a:p>
            <a:pPr algn="l">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Item: q01-8975369c944dd1eb · Recio Ibarz et al., JACC Case Rep. 2026 · doi:10.1016/j.jaccas.2026.107618 · CC BY</a:t>
            </a:r>
            <a:endParaRPr sz="1375" b="0" i="0">
              <a:solidFill>
                <a:srgbClr val="10243C"/>
              </a:solidFill>
              <a:latin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BF8F1"/>
        </a:solidFill>
        <a:effectLst/>
      </p:bgPr>
    </p:bg>
    <p:spTree>
      <p:nvGrpSpPr>
        <p:cNvPr id="1" name=""/>
        <p:cNvGrpSpPr/>
        <p:nvPr/>
      </p:nvGrpSpPr>
      <p:grpSpPr/>
      <p:sp>
        <p:nvSpPr>
          <p:cNvPr id="2" name="Masthead gradient"/>
          <p:cNvSpPr/>
          <p:nvPr/>
        </p:nvSpPr>
        <p:spPr>
          <a:xfrm>
            <a:off x="0" y="0"/>
            <a:ext cx="18288000" cy="1530478"/>
          </a:xfrm>
          <a:prstGeom prst="rect">
            <a:avLst/>
          </a:prstGeom>
          <a:blipFill rotWithShape="1">
            <a:blip r:embed="rId1"/>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ain title"/>
          <p:cNvSpPr txBox="1"/>
          <p:nvPr/>
        </p:nvSpPr>
        <p:spPr>
          <a:xfrm>
            <a:off x="503138" y="163979"/>
            <a:ext cx="14656650" cy="830831"/>
          </a:xfrm>
          <a:prstGeom prst="rect">
            <a:avLst/>
          </a:prstGeom>
          <a:noFill/>
          <a:effectLst/>
        </p:spPr>
        <p:txBody>
          <a:bodyPr wrap="square" lIns="0" tIns="0" rIns="0" bIns="0" anchor="t">
            <a:noAutofit/>
          </a:bodyPr>
          <a:lstStyle/>
          <a:p>
            <a:pPr algn="l">
              <a:lnSpc>
                <a:spcPct val="104000"/>
              </a:lnSpc>
              <a:spcBef>
                <a:spcPts val="0"/>
              </a:spcBef>
              <a:spcAft>
                <a:spcPts val="0"/>
              </a:spcAft>
              <a:defRPr sz="5340" b="1" i="0">
                <a:solidFill>
                  <a:srgbClr val="FFFDFA"/>
                </a:solidFill>
                <a:latin typeface="Times New Roman" panose="02020603050405020304"/>
              </a:defRPr>
            </a:pPr>
            <a:r>
              <a:rPr sz="5340" b="1" i="0">
                <a:solidFill>
                  <a:srgbClr val="FFFDFA"/>
                </a:solidFill>
                <a:latin typeface="Times New Roman" panose="02020603050405020304"/>
              </a:rPr>
              <a:t>Medical Doctor’s Last Exam</a:t>
            </a:r>
            <a:endParaRPr sz="5340" b="1" i="0">
              <a:solidFill>
                <a:srgbClr val="FFFDFA"/>
              </a:solidFill>
              <a:latin typeface="Times New Roman" panose="02020603050405020304"/>
            </a:endParaRPr>
          </a:p>
        </p:txBody>
      </p:sp>
      <p:sp>
        <p:nvSpPr>
          <p:cNvPr id="4" name="Page subtitle"/>
          <p:cNvSpPr txBox="1"/>
          <p:nvPr/>
        </p:nvSpPr>
        <p:spPr>
          <a:xfrm>
            <a:off x="503138" y="951082"/>
            <a:ext cx="14711339" cy="513803"/>
          </a:xfrm>
          <a:prstGeom prst="rect">
            <a:avLst/>
          </a:prstGeom>
          <a:noFill/>
          <a:effectLst/>
        </p:spPr>
        <p:txBody>
          <a:bodyPr wrap="square" lIns="0" tIns="0" rIns="0" bIns="0" anchor="t">
            <a:noAutofit/>
          </a:bodyPr>
          <a:lstStyle/>
          <a:p>
            <a:pPr algn="l">
              <a:lnSpc>
                <a:spcPct val="104000"/>
              </a:lnSpc>
              <a:spcBef>
                <a:spcPts val="0"/>
              </a:spcBef>
              <a:spcAft>
                <a:spcPts val="0"/>
              </a:spcAft>
              <a:defRPr sz="2755" b="0" i="1">
                <a:solidFill>
                  <a:srgbClr val="FFFDFA"/>
                </a:solidFill>
                <a:latin typeface="Times New Roman" panose="02020603050405020304"/>
              </a:defRPr>
            </a:pPr>
            <a:r>
              <a:rPr sz="2755" b="0" i="1">
                <a:solidFill>
                  <a:srgbClr val="FFFDFA"/>
                </a:solidFill>
                <a:latin typeface="Times New Roman" panose="02020603050405020304"/>
              </a:rPr>
              <a:t>Case 02 · ECG localization: the visual finding earns the credit</a:t>
            </a:r>
            <a:endParaRPr sz="2755" b="0" i="1">
              <a:solidFill>
                <a:srgbClr val="FFFDFA"/>
              </a:solidFill>
              <a:latin typeface="Times New Roman" panose="02020603050405020304"/>
            </a:endParaRPr>
          </a:p>
        </p:txBody>
      </p:sp>
      <p:sp>
        <p:nvSpPr>
          <p:cNvPr id="5" name="MDLE wordmark frame"/>
          <p:cNvSpPr/>
          <p:nvPr/>
        </p:nvSpPr>
        <p:spPr>
          <a:xfrm>
            <a:off x="16023875" y="242765"/>
            <a:ext cx="1782861" cy="1161052"/>
          </a:xfrm>
          <a:prstGeom prst="rect">
            <a:avLst/>
          </a:prstGeom>
          <a:noFill/>
          <a:ln w="10937">
            <a:solidFill>
              <a:srgbClr val="EADA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MDLE wordmark"/>
          <p:cNvSpPr txBox="1"/>
          <p:nvPr/>
        </p:nvSpPr>
        <p:spPr>
          <a:xfrm>
            <a:off x="16144191" y="411645"/>
            <a:ext cx="1542229" cy="833846"/>
          </a:xfrm>
          <a:prstGeom prst="rect">
            <a:avLst/>
          </a:prstGeom>
          <a:noFill/>
          <a:effectLst/>
        </p:spPr>
        <p:txBody>
          <a:bodyPr wrap="square" lIns="0" tIns="0" rIns="0" bIns="0" anchor="t">
            <a:noAutofit/>
          </a:bodyPr>
          <a:lstStyle/>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MEDICAL</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DOCTOR’S</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LAST EXAM</a:t>
            </a:r>
            <a:endParaRPr sz="1830" b="1" i="0">
              <a:solidFill>
                <a:srgbClr val="FFFDFA"/>
              </a:solidFill>
              <a:latin typeface="Times New Roman" panose="02020603050405020304"/>
            </a:endParaRPr>
          </a:p>
        </p:txBody>
      </p:sp>
      <p:sp>
        <p:nvSpPr>
          <p:cNvPr id="7" name="Footer gradient"/>
          <p:cNvSpPr/>
          <p:nvPr/>
        </p:nvSpPr>
        <p:spPr>
          <a:xfrm>
            <a:off x="0" y="9642012"/>
            <a:ext cx="18288000" cy="644987"/>
          </a:xfrm>
          <a:prstGeom prst="rect">
            <a:avLst/>
          </a:prstGeom>
          <a:blipFill rotWithShape="1">
            <a:blip r:embed="rId2"/>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Footer left rule"/>
          <p:cNvCxnSpPr/>
          <p:nvPr/>
        </p:nvCxnSpPr>
        <p:spPr>
          <a:xfrm>
            <a:off x="2275062" y="9964506"/>
            <a:ext cx="2811014"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9" name="Footer left diamond"/>
          <p:cNvSpPr/>
          <p:nvPr/>
        </p:nvSpPr>
        <p:spPr>
          <a:xfrm>
            <a:off x="5173578" y="9898914"/>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Footer right rule"/>
          <p:cNvCxnSpPr/>
          <p:nvPr/>
        </p:nvCxnSpPr>
        <p:spPr>
          <a:xfrm>
            <a:off x="13136296" y="9964506"/>
            <a:ext cx="2887579"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 name="Footer right diamond"/>
          <p:cNvSpPr/>
          <p:nvPr/>
        </p:nvSpPr>
        <p:spPr>
          <a:xfrm>
            <a:off x="12928478" y="9898914"/>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ooter tagline"/>
          <p:cNvSpPr txBox="1"/>
          <p:nvPr/>
        </p:nvSpPr>
        <p:spPr>
          <a:xfrm>
            <a:off x="5665779" y="9751332"/>
            <a:ext cx="7109569"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495" b="0" i="1">
                <a:solidFill>
                  <a:srgbClr val="FFFDFA"/>
                </a:solidFill>
                <a:latin typeface="Times New Roman" panose="02020603050405020304"/>
              </a:defRPr>
            </a:pPr>
            <a:r>
              <a:rPr sz="2495" b="0" i="1">
                <a:solidFill>
                  <a:srgbClr val="FFFDFA"/>
                </a:solidFill>
                <a:latin typeface="Times New Roman" panose="02020603050405020304"/>
              </a:rPr>
              <a:t>A living benchmark for next-generation medical AI</a:t>
            </a:r>
            <a:endParaRPr sz="2495" b="0" i="1">
              <a:solidFill>
                <a:srgbClr val="FFFDFA"/>
              </a:solidFill>
              <a:latin typeface="Times New Roman" panose="02020603050405020304"/>
            </a:endParaRPr>
          </a:p>
        </p:txBody>
      </p:sp>
      <p:sp>
        <p:nvSpPr>
          <p:cNvPr id="13" name="ECG reference reasoning panel"/>
          <p:cNvSpPr/>
          <p:nvPr/>
        </p:nvSpPr>
        <p:spPr>
          <a:xfrm>
            <a:off x="404698" y="1650730"/>
            <a:ext cx="9297129" cy="7433751"/>
          </a:xfrm>
          <a:prstGeom prst="roundRect">
            <a:avLst>
              <a:gd name="adj" fmla="val 2500"/>
            </a:avLst>
          </a:prstGeom>
          <a:no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ECG reference heading"/>
          <p:cNvSpPr txBox="1"/>
          <p:nvPr/>
        </p:nvSpPr>
        <p:spPr>
          <a:xfrm>
            <a:off x="514076" y="1760049"/>
            <a:ext cx="9078373"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REFERENCE REASONING</a:t>
            </a:r>
            <a:endParaRPr sz="2325" b="1" i="0">
              <a:solidFill>
                <a:srgbClr val="124936"/>
              </a:solidFill>
              <a:latin typeface="Times New Roman" panose="02020603050405020304"/>
            </a:endParaRPr>
          </a:p>
        </p:txBody>
      </p:sp>
      <p:cxnSp>
        <p:nvCxnSpPr>
          <p:cNvPr id="15" name="ECG reference left rule"/>
          <p:cNvCxnSpPr/>
          <p:nvPr/>
        </p:nvCxnSpPr>
        <p:spPr>
          <a:xfrm>
            <a:off x="732832" y="2142669"/>
            <a:ext cx="4178239"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16" name="ECG reference right rule"/>
          <p:cNvCxnSpPr/>
          <p:nvPr/>
        </p:nvCxnSpPr>
        <p:spPr>
          <a:xfrm>
            <a:off x="5195454" y="2142669"/>
            <a:ext cx="4178239"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17" name="ECG reference diamond"/>
          <p:cNvSpPr/>
          <p:nvPr/>
        </p:nvSpPr>
        <p:spPr>
          <a:xfrm>
            <a:off x="4993105" y="2082543"/>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ECG Before reference card"/>
          <p:cNvSpPr/>
          <p:nvPr/>
        </p:nvSpPr>
        <p:spPr>
          <a:xfrm>
            <a:off x="623454" y="2372241"/>
            <a:ext cx="4287617" cy="1978689"/>
          </a:xfrm>
          <a:prstGeom prst="roundRect">
            <a:avLst>
              <a:gd name="adj" fmla="val 45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ECG Before reference title"/>
          <p:cNvSpPr txBox="1"/>
          <p:nvPr/>
        </p:nvSpPr>
        <p:spPr>
          <a:xfrm>
            <a:off x="798459" y="2536221"/>
            <a:ext cx="3937607" cy="349823"/>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BEFORE ANGIOGRAPHY</a:t>
            </a:r>
            <a:endParaRPr sz="1980" b="1" i="0">
              <a:solidFill>
                <a:srgbClr val="124936"/>
              </a:solidFill>
              <a:latin typeface="Times New Roman" panose="02020603050405020304"/>
            </a:endParaRPr>
          </a:p>
        </p:txBody>
      </p:sp>
      <p:cxnSp>
        <p:nvCxnSpPr>
          <p:cNvPr id="20" name="ECG Before card rule"/>
          <p:cNvCxnSpPr/>
          <p:nvPr/>
        </p:nvCxnSpPr>
        <p:spPr>
          <a:xfrm>
            <a:off x="798459" y="2940704"/>
            <a:ext cx="3937607"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21" name="ECG Before reference evidence"/>
          <p:cNvSpPr txBox="1"/>
          <p:nvPr/>
        </p:nvSpPr>
        <p:spPr>
          <a:xfrm>
            <a:off x="798459" y="3082820"/>
            <a:ext cx="3937607" cy="1136926"/>
          </a:xfrm>
          <a:prstGeom prst="rect">
            <a:avLst/>
          </a:prstGeom>
          <a:noFill/>
          <a:effectLst/>
        </p:spPr>
        <p:txBody>
          <a:bodyPr wrap="square" lIns="0" tIns="0" rIns="0" bIns="0" anchor="t">
            <a:noAutofit/>
          </a:bodyPr>
          <a:lstStyle/>
          <a:p>
            <a:pPr algn="l">
              <a:lnSpc>
                <a:spcPct val="104000"/>
              </a:lnSpc>
              <a:spcBef>
                <a:spcPts val="0"/>
              </a:spcBef>
              <a:spcAft>
                <a:spcPts val="0"/>
              </a:spcAft>
              <a:defRPr sz="2325" b="0" i="0">
                <a:solidFill>
                  <a:srgbClr val="10243C"/>
                </a:solidFill>
                <a:latin typeface="Times New Roman" panose="02020603050405020304"/>
              </a:defRPr>
            </a:pPr>
            <a:r>
              <a:rPr sz="2325" b="0" i="0">
                <a:solidFill>
                  <a:srgbClr val="10243C"/>
                </a:solidFill>
                <a:latin typeface="Times New Roman" panose="02020603050405020304"/>
              </a:rPr>
              <a:t>Dominant anterior / anteroseptal ST elevation in V2–V5.</a:t>
            </a:r>
            <a:endParaRPr sz="2325" b="0" i="0">
              <a:solidFill>
                <a:srgbClr val="10243C"/>
              </a:solidFill>
              <a:latin typeface="Times New Roman" panose="02020603050405020304"/>
            </a:endParaRPr>
          </a:p>
        </p:txBody>
      </p:sp>
      <p:sp>
        <p:nvSpPr>
          <p:cNvPr id="22" name="ECG After reference card"/>
          <p:cNvSpPr/>
          <p:nvPr/>
        </p:nvSpPr>
        <p:spPr>
          <a:xfrm>
            <a:off x="5195454" y="2372241"/>
            <a:ext cx="4287617" cy="1978689"/>
          </a:xfrm>
          <a:prstGeom prst="roundRect">
            <a:avLst>
              <a:gd name="adj" fmla="val 45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ECG After reference title"/>
          <p:cNvSpPr txBox="1"/>
          <p:nvPr/>
        </p:nvSpPr>
        <p:spPr>
          <a:xfrm>
            <a:off x="5370459" y="2536221"/>
            <a:ext cx="3937607" cy="349823"/>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AFTER ANGIOGRAPHY</a:t>
            </a:r>
            <a:endParaRPr sz="1980" b="1" i="0">
              <a:solidFill>
                <a:srgbClr val="124936"/>
              </a:solidFill>
              <a:latin typeface="Times New Roman" panose="02020603050405020304"/>
            </a:endParaRPr>
          </a:p>
        </p:txBody>
      </p:sp>
      <p:cxnSp>
        <p:nvCxnSpPr>
          <p:cNvPr id="24" name="ECG After card rule"/>
          <p:cNvCxnSpPr/>
          <p:nvPr/>
        </p:nvCxnSpPr>
        <p:spPr>
          <a:xfrm>
            <a:off x="5370459" y="2940704"/>
            <a:ext cx="3937607"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25" name="ECG After reference evidence"/>
          <p:cNvSpPr txBox="1"/>
          <p:nvPr/>
        </p:nvSpPr>
        <p:spPr>
          <a:xfrm>
            <a:off x="5370459" y="3082820"/>
            <a:ext cx="3937607" cy="1136926"/>
          </a:xfrm>
          <a:prstGeom prst="rect">
            <a:avLst/>
          </a:prstGeom>
          <a:noFill/>
          <a:effectLst/>
        </p:spPr>
        <p:txBody>
          <a:bodyPr wrap="square" lIns="0" tIns="0" rIns="0" bIns="0" anchor="t">
            <a:noAutofit/>
          </a:bodyPr>
          <a:lstStyle/>
          <a:p>
            <a:pPr algn="l">
              <a:lnSpc>
                <a:spcPct val="104000"/>
              </a:lnSpc>
              <a:spcBef>
                <a:spcPts val="0"/>
              </a:spcBef>
              <a:spcAft>
                <a:spcPts val="0"/>
              </a:spcAft>
              <a:defRPr sz="2325" b="0" i="0">
                <a:solidFill>
                  <a:srgbClr val="10243C"/>
                </a:solidFill>
                <a:latin typeface="Times New Roman" panose="02020603050405020304"/>
              </a:defRPr>
            </a:pPr>
            <a:r>
              <a:rPr sz="2325" b="0" i="0">
                <a:solidFill>
                  <a:srgbClr val="10243C"/>
                </a:solidFill>
                <a:latin typeface="Times New Roman" panose="02020603050405020304"/>
              </a:rPr>
              <a:t>New lateral pattern: aVL ST elevation with lateral precordial ST changes.</a:t>
            </a:r>
            <a:endParaRPr sz="2325" b="0" i="0">
              <a:solidFill>
                <a:srgbClr val="10243C"/>
              </a:solidFill>
              <a:latin typeface="Times New Roman" panose="02020603050405020304"/>
            </a:endParaRPr>
          </a:p>
        </p:txBody>
      </p:sp>
      <p:sp>
        <p:nvSpPr>
          <p:cNvPr id="26" name="ECG territory reference answer"/>
          <p:cNvSpPr/>
          <p:nvPr/>
        </p:nvSpPr>
        <p:spPr>
          <a:xfrm>
            <a:off x="623454" y="4525842"/>
            <a:ext cx="8859617" cy="1289974"/>
          </a:xfrm>
          <a:prstGeom prst="roundRect">
            <a:avLst>
              <a:gd name="adj" fmla="val 5000"/>
            </a:avLst>
          </a:prstGeom>
          <a:solidFill>
            <a:srgbClr val="F0F3E9"/>
          </a:solidFill>
          <a:ln w="10937">
            <a:solidFill>
              <a:srgbClr val="A7B9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ECG reference answer key"/>
          <p:cNvSpPr txBox="1"/>
          <p:nvPr/>
        </p:nvSpPr>
        <p:spPr>
          <a:xfrm>
            <a:off x="820334" y="4667958"/>
            <a:ext cx="8465856" cy="481007"/>
          </a:xfrm>
          <a:prstGeom prst="rect">
            <a:avLst/>
          </a:prstGeom>
          <a:noFill/>
          <a:effectLst/>
        </p:spPr>
        <p:txBody>
          <a:bodyPr wrap="square" lIns="0" tIns="0" rIns="0" bIns="0" anchor="t">
            <a:noAutofit/>
          </a:bodyPr>
          <a:lstStyle/>
          <a:p>
            <a:pPr algn="l">
              <a:lnSpc>
                <a:spcPct val="104000"/>
              </a:lnSpc>
              <a:spcBef>
                <a:spcPts val="0"/>
              </a:spcBef>
              <a:spcAft>
                <a:spcPts val="0"/>
              </a:spcAft>
              <a:defRPr sz="2495" b="1" i="0">
                <a:solidFill>
                  <a:srgbClr val="124936"/>
                </a:solidFill>
                <a:latin typeface="Times New Roman" panose="02020603050405020304"/>
              </a:defRPr>
            </a:pPr>
            <a:r>
              <a:rPr sz="2495" b="1" i="0">
                <a:solidFill>
                  <a:srgbClr val="124936"/>
                </a:solidFill>
                <a:latin typeface="Times New Roman" panose="02020603050405020304"/>
              </a:rPr>
              <a:t>NEW LATERAL ISCHEMIA → LCx DISSECTION</a:t>
            </a:r>
            <a:endParaRPr sz="2495" b="1" i="0">
              <a:solidFill>
                <a:srgbClr val="124936"/>
              </a:solidFill>
              <a:latin typeface="Times New Roman" panose="02020603050405020304"/>
            </a:endParaRPr>
          </a:p>
        </p:txBody>
      </p:sp>
      <p:sp>
        <p:nvSpPr>
          <p:cNvPr id="28" name="ECG reference LAD distinction"/>
          <p:cNvSpPr txBox="1"/>
          <p:nvPr/>
        </p:nvSpPr>
        <p:spPr>
          <a:xfrm>
            <a:off x="820334" y="5247353"/>
            <a:ext cx="8465856" cy="524735"/>
          </a:xfrm>
          <a:prstGeom prst="rect">
            <a:avLst/>
          </a:prstGeom>
          <a:noFill/>
          <a:effectLst/>
        </p:spPr>
        <p:txBody>
          <a:bodyPr wrap="square" lIns="0" tIns="0" rIns="0" bIns="0" anchor="t">
            <a:noAutofit/>
          </a:bodyPr>
          <a:lstStyle/>
          <a:p>
            <a:pPr algn="l">
              <a:lnSpc>
                <a:spcPct val="104000"/>
              </a:lnSpc>
              <a:spcBef>
                <a:spcPts val="0"/>
              </a:spcBef>
              <a:spcAft>
                <a:spcPts val="0"/>
              </a:spcAft>
              <a:defRPr sz="2240" b="0" i="0">
                <a:solidFill>
                  <a:srgbClr val="10243C"/>
                </a:solidFill>
                <a:latin typeface="Times New Roman" panose="02020603050405020304"/>
              </a:defRPr>
            </a:pPr>
            <a:r>
              <a:rPr sz="2240" b="0" i="0">
                <a:solidFill>
                  <a:srgbClr val="10243C"/>
                </a:solidFill>
                <a:latin typeface="Times New Roman" panose="02020603050405020304"/>
              </a:rPr>
              <a:t>The initial anterior / anteroseptal pattern was LAD territory.</a:t>
            </a:r>
            <a:endParaRPr sz="2240" b="0" i="0">
              <a:solidFill>
                <a:srgbClr val="10243C"/>
              </a:solidFill>
              <a:latin typeface="Times New Roman" panose="02020603050405020304"/>
            </a:endParaRPr>
          </a:p>
        </p:txBody>
      </p:sp>
      <p:sp>
        <p:nvSpPr>
          <p:cNvPr id="29" name="ECG current rubric table"/>
          <p:cNvSpPr/>
          <p:nvPr/>
        </p:nvSpPr>
        <p:spPr>
          <a:xfrm>
            <a:off x="623454" y="6001660"/>
            <a:ext cx="8859617" cy="2088009"/>
          </a:xfrm>
          <a:prstGeom prst="roundRect">
            <a:avLst>
              <a:gd name="adj" fmla="val 35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ECG current rubric table title"/>
          <p:cNvSpPr txBox="1"/>
          <p:nvPr/>
        </p:nvSpPr>
        <p:spPr>
          <a:xfrm>
            <a:off x="820334" y="6121912"/>
            <a:ext cx="8476794" cy="338891"/>
          </a:xfrm>
          <a:prstGeom prst="rect">
            <a:avLst/>
          </a:prstGeom>
          <a:noFill/>
          <a:effectLst/>
        </p:spPr>
        <p:txBody>
          <a:bodyPr wrap="square" lIns="0" tIns="0" rIns="0" bIns="0" anchor="t">
            <a:noAutofit/>
          </a:bodyPr>
          <a:lstStyle/>
          <a:p>
            <a:pPr algn="l">
              <a:lnSpc>
                <a:spcPct val="104000"/>
              </a:lnSpc>
              <a:spcBef>
                <a:spcPts val="0"/>
              </a:spcBef>
              <a:spcAft>
                <a:spcPts val="0"/>
              </a:spcAft>
              <a:defRPr sz="2065" b="1" i="0">
                <a:solidFill>
                  <a:srgbClr val="124936"/>
                </a:solidFill>
                <a:latin typeface="Times New Roman" panose="02020603050405020304"/>
              </a:defRPr>
            </a:pPr>
            <a:r>
              <a:rPr sz="2065" b="1" i="0">
                <a:solidFill>
                  <a:srgbClr val="124936"/>
                </a:solidFill>
                <a:latin typeface="Times New Roman" panose="02020603050405020304"/>
              </a:rPr>
              <a:t>CURRENT RUBRIC · 10 POINTS</a:t>
            </a:r>
            <a:endParaRPr sz="2065" b="1" i="0">
              <a:solidFill>
                <a:srgbClr val="124936"/>
              </a:solidFill>
              <a:latin typeface="Times New Roman" panose="02020603050405020304"/>
            </a:endParaRPr>
          </a:p>
        </p:txBody>
      </p:sp>
      <p:cxnSp>
        <p:nvCxnSpPr>
          <p:cNvPr id="31" name="ECG rubric header rule"/>
          <p:cNvCxnSpPr/>
          <p:nvPr/>
        </p:nvCxnSpPr>
        <p:spPr>
          <a:xfrm>
            <a:off x="623454" y="6548260"/>
            <a:ext cx="8859617"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32" name="ECG rubric criterion rule"/>
          <p:cNvCxnSpPr/>
          <p:nvPr/>
        </p:nvCxnSpPr>
        <p:spPr>
          <a:xfrm>
            <a:off x="623454" y="7324431"/>
            <a:ext cx="8859617"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33" name="ECG rubric points column"/>
          <p:cNvCxnSpPr/>
          <p:nvPr/>
        </p:nvCxnSpPr>
        <p:spPr>
          <a:xfrm>
            <a:off x="8258038" y="6548260"/>
            <a:ext cx="0" cy="154141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34" name="ECG rubric lateral pattern criterion"/>
          <p:cNvSpPr txBox="1"/>
          <p:nvPr/>
        </p:nvSpPr>
        <p:spPr>
          <a:xfrm>
            <a:off x="820334" y="6624784"/>
            <a:ext cx="7273636" cy="666851"/>
          </a:xfrm>
          <a:prstGeom prst="rect">
            <a:avLst/>
          </a:prstGeom>
          <a:noFill/>
          <a:effectLst/>
        </p:spPr>
        <p:txBody>
          <a:bodyPr wrap="square" lIns="0" tIns="0" rIns="0" bIns="0" anchor="t">
            <a:noAutofit/>
          </a:bodyPr>
          <a:lstStyle/>
          <a:p>
            <a:pPr algn="l">
              <a:lnSpc>
                <a:spcPct val="104000"/>
              </a:lnSpc>
              <a:spcBef>
                <a:spcPts val="0"/>
              </a:spcBef>
              <a:spcAft>
                <a:spcPts val="0"/>
              </a:spcAft>
              <a:defRPr sz="2025" b="0" i="0">
                <a:solidFill>
                  <a:srgbClr val="10243C"/>
                </a:solidFill>
                <a:latin typeface="Times New Roman" panose="02020603050405020304"/>
              </a:defRPr>
            </a:pPr>
            <a:r>
              <a:rPr sz="2025" b="0" i="0">
                <a:solidFill>
                  <a:srgbClr val="10243C"/>
                </a:solidFill>
                <a:latin typeface="Times New Roman" panose="02020603050405020304"/>
              </a:rPr>
              <a:t>Identify the new lateral pattern and changed leads;</a:t>
            </a:r>
            <a:endParaRPr sz="2025" b="0" i="0">
              <a:solidFill>
                <a:srgbClr val="10243C"/>
              </a:solidFill>
              <a:latin typeface="Times New Roman" panose="02020603050405020304"/>
            </a:endParaRPr>
          </a:p>
          <a:p>
            <a:pPr algn="l">
              <a:lnSpc>
                <a:spcPct val="104000"/>
              </a:lnSpc>
              <a:spcBef>
                <a:spcPts val="0"/>
              </a:spcBef>
              <a:spcAft>
                <a:spcPts val="0"/>
              </a:spcAft>
              <a:defRPr sz="2025" b="0" i="0">
                <a:solidFill>
                  <a:srgbClr val="10243C"/>
                </a:solidFill>
                <a:latin typeface="Times New Roman" panose="02020603050405020304"/>
              </a:defRPr>
            </a:pPr>
            <a:r>
              <a:rPr sz="2025" b="0" i="0">
                <a:solidFill>
                  <a:srgbClr val="10243C"/>
                </a:solidFill>
                <a:latin typeface="Times New Roman" panose="02020603050405020304"/>
              </a:rPr>
              <a:t>distinguish the initial anteroseptal pattern.</a:t>
            </a:r>
            <a:endParaRPr sz="2025" b="0" i="0">
              <a:solidFill>
                <a:srgbClr val="10243C"/>
              </a:solidFill>
              <a:latin typeface="Times New Roman" panose="02020603050405020304"/>
            </a:endParaRPr>
          </a:p>
        </p:txBody>
      </p:sp>
      <p:sp>
        <p:nvSpPr>
          <p:cNvPr id="35" name="ECG rubric lateral pattern six points"/>
          <p:cNvSpPr txBox="1"/>
          <p:nvPr/>
        </p:nvSpPr>
        <p:spPr>
          <a:xfrm>
            <a:off x="8323665" y="6755968"/>
            <a:ext cx="1082842" cy="459143"/>
          </a:xfrm>
          <a:prstGeom prst="rect">
            <a:avLst/>
          </a:prstGeom>
          <a:noFill/>
          <a:effectLst/>
        </p:spPr>
        <p:txBody>
          <a:bodyPr wrap="square" lIns="0" tIns="0" rIns="0" bIns="0" anchor="t">
            <a:noAutofit/>
          </a:bodyPr>
          <a:lstStyle/>
          <a:p>
            <a:pPr algn="ctr">
              <a:lnSpc>
                <a:spcPct val="104000"/>
              </a:lnSpc>
              <a:spcBef>
                <a:spcPts val="0"/>
              </a:spcBef>
              <a:spcAft>
                <a:spcPts val="0"/>
              </a:spcAft>
              <a:defRPr sz="2670" b="1" i="0">
                <a:solidFill>
                  <a:srgbClr val="831C20"/>
                </a:solidFill>
                <a:latin typeface="Times New Roman" panose="02020603050405020304"/>
              </a:defRPr>
            </a:pPr>
            <a:r>
              <a:rPr sz="2670" b="1" i="0">
                <a:solidFill>
                  <a:srgbClr val="831C20"/>
                </a:solidFill>
                <a:latin typeface="Times New Roman" panose="02020603050405020304"/>
              </a:rPr>
              <a:t>6 pts</a:t>
            </a:r>
            <a:endParaRPr sz="2670" b="1" i="0">
              <a:solidFill>
                <a:srgbClr val="831C20"/>
              </a:solidFill>
              <a:latin typeface="Times New Roman" panose="02020603050405020304"/>
            </a:endParaRPr>
          </a:p>
        </p:txBody>
      </p:sp>
      <p:sp>
        <p:nvSpPr>
          <p:cNvPr id="36" name="ECG rubric artery attribution criterion"/>
          <p:cNvSpPr txBox="1"/>
          <p:nvPr/>
        </p:nvSpPr>
        <p:spPr>
          <a:xfrm>
            <a:off x="820334" y="7400955"/>
            <a:ext cx="7273636" cy="666851"/>
          </a:xfrm>
          <a:prstGeom prst="rect">
            <a:avLst/>
          </a:prstGeom>
          <a:noFill/>
          <a:effectLst/>
        </p:spPr>
        <p:txBody>
          <a:bodyPr wrap="square" lIns="0" tIns="0" rIns="0" bIns="0" anchor="t">
            <a:noAutofit/>
          </a:bodyPr>
          <a:lstStyle/>
          <a:p>
            <a:pPr algn="l">
              <a:lnSpc>
                <a:spcPct val="104000"/>
              </a:lnSpc>
              <a:spcBef>
                <a:spcPts val="0"/>
              </a:spcBef>
              <a:spcAft>
                <a:spcPts val="0"/>
              </a:spcAft>
              <a:defRPr sz="2025" b="0" i="0">
                <a:solidFill>
                  <a:srgbClr val="10243C"/>
                </a:solidFill>
                <a:latin typeface="Times New Roman" panose="02020603050405020304"/>
              </a:defRPr>
            </a:pPr>
            <a:r>
              <a:rPr sz="2025" b="0" i="0">
                <a:solidFill>
                  <a:srgbClr val="10243C"/>
                </a:solidFill>
                <a:latin typeface="Times New Roman" panose="02020603050405020304"/>
              </a:rPr>
              <a:t>Attribute the new pattern to LCx, distinct from</a:t>
            </a:r>
            <a:endParaRPr sz="2025" b="0" i="0">
              <a:solidFill>
                <a:srgbClr val="10243C"/>
              </a:solidFill>
              <a:latin typeface="Times New Roman" panose="02020603050405020304"/>
            </a:endParaRPr>
          </a:p>
          <a:p>
            <a:pPr algn="l">
              <a:lnSpc>
                <a:spcPct val="104000"/>
              </a:lnSpc>
              <a:spcBef>
                <a:spcPts val="0"/>
              </a:spcBef>
              <a:spcAft>
                <a:spcPts val="0"/>
              </a:spcAft>
              <a:defRPr sz="2025" b="0" i="0">
                <a:solidFill>
                  <a:srgbClr val="10243C"/>
                </a:solidFill>
                <a:latin typeface="Times New Roman" panose="02020603050405020304"/>
              </a:defRPr>
            </a:pPr>
            <a:r>
              <a:rPr sz="2025" b="0" i="0">
                <a:solidFill>
                  <a:srgbClr val="10243C"/>
                </a:solidFill>
                <a:latin typeface="Times New Roman" panose="02020603050405020304"/>
              </a:rPr>
              <a:t>the initial LAD / anteroseptal presentation.</a:t>
            </a:r>
            <a:endParaRPr sz="2025" b="0" i="0">
              <a:solidFill>
                <a:srgbClr val="10243C"/>
              </a:solidFill>
              <a:latin typeface="Times New Roman" panose="02020603050405020304"/>
            </a:endParaRPr>
          </a:p>
        </p:txBody>
      </p:sp>
      <p:sp>
        <p:nvSpPr>
          <p:cNvPr id="37" name="ECG rubric artery attribution four points"/>
          <p:cNvSpPr txBox="1"/>
          <p:nvPr/>
        </p:nvSpPr>
        <p:spPr>
          <a:xfrm>
            <a:off x="8323665" y="7532139"/>
            <a:ext cx="1082842" cy="459143"/>
          </a:xfrm>
          <a:prstGeom prst="rect">
            <a:avLst/>
          </a:prstGeom>
          <a:noFill/>
          <a:effectLst/>
        </p:spPr>
        <p:txBody>
          <a:bodyPr wrap="square" lIns="0" tIns="0" rIns="0" bIns="0" anchor="t">
            <a:noAutofit/>
          </a:bodyPr>
          <a:lstStyle/>
          <a:p>
            <a:pPr algn="ctr">
              <a:lnSpc>
                <a:spcPct val="104000"/>
              </a:lnSpc>
              <a:spcBef>
                <a:spcPts val="0"/>
              </a:spcBef>
              <a:spcAft>
                <a:spcPts val="0"/>
              </a:spcAft>
              <a:defRPr sz="2670" b="1" i="0">
                <a:solidFill>
                  <a:srgbClr val="831C20"/>
                </a:solidFill>
                <a:latin typeface="Times New Roman" panose="02020603050405020304"/>
              </a:defRPr>
            </a:pPr>
            <a:r>
              <a:rPr sz="2670" b="1" i="0">
                <a:solidFill>
                  <a:srgbClr val="831C20"/>
                </a:solidFill>
                <a:latin typeface="Times New Roman" panose="02020603050405020304"/>
              </a:rPr>
              <a:t>4 pts</a:t>
            </a:r>
            <a:endParaRPr sz="2670" b="1" i="0">
              <a:solidFill>
                <a:srgbClr val="831C20"/>
              </a:solidFill>
              <a:latin typeface="Times New Roman" panose="02020603050405020304"/>
            </a:endParaRPr>
          </a:p>
        </p:txBody>
      </p:sp>
      <p:sp>
        <p:nvSpPr>
          <p:cNvPr id="38" name="ECG critical error cap card"/>
          <p:cNvSpPr/>
          <p:nvPr/>
        </p:nvSpPr>
        <p:spPr>
          <a:xfrm>
            <a:off x="623454" y="8253650"/>
            <a:ext cx="8859617" cy="655919"/>
          </a:xfrm>
          <a:prstGeom prst="roundRect">
            <a:avLst>
              <a:gd name="adj" fmla="val 6000"/>
            </a:avLst>
          </a:prstGeom>
          <a:solidFill>
            <a:srgbClr val="F6E5E0"/>
          </a:solidFill>
          <a:ln w="10937">
            <a:solidFill>
              <a:srgbClr val="D9B5A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ECG critical error score cap"/>
          <p:cNvSpPr txBox="1"/>
          <p:nvPr/>
        </p:nvSpPr>
        <p:spPr>
          <a:xfrm>
            <a:off x="809397" y="8352038"/>
            <a:ext cx="3226650" cy="349823"/>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831C20"/>
                </a:solidFill>
                <a:latin typeface="Times New Roman" panose="02020603050405020304"/>
              </a:defRPr>
            </a:pPr>
            <a:r>
              <a:rPr sz="1980" b="1" i="0">
                <a:solidFill>
                  <a:srgbClr val="831C20"/>
                </a:solidFill>
                <a:latin typeface="Times New Roman" panose="02020603050405020304"/>
              </a:rPr>
              <a:t>Critical-error cap: 3 / 10</a:t>
            </a:r>
            <a:endParaRPr sz="1980" b="1" i="0">
              <a:solidFill>
                <a:srgbClr val="831C20"/>
              </a:solidFill>
              <a:latin typeface="Times New Roman" panose="02020603050405020304"/>
            </a:endParaRPr>
          </a:p>
        </p:txBody>
      </p:sp>
      <p:sp>
        <p:nvSpPr>
          <p:cNvPr id="40" name="ECG critical error conditions"/>
          <p:cNvSpPr txBox="1"/>
          <p:nvPr/>
        </p:nvSpPr>
        <p:spPr>
          <a:xfrm>
            <a:off x="4079799" y="8384834"/>
            <a:ext cx="5217330" cy="481007"/>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10243C"/>
                </a:solidFill>
                <a:latin typeface="Times New Roman" panose="02020603050405020304"/>
              </a:defRPr>
            </a:pPr>
            <a:r>
              <a:rPr sz="1895" b="0" i="0">
                <a:solidFill>
                  <a:srgbClr val="10243C"/>
                </a:solidFill>
                <a:latin typeface="Times New Roman" panose="02020603050405020304"/>
              </a:rPr>
              <a:t>No new territory, or new inferior / RCA territory.</a:t>
            </a:r>
            <a:endParaRPr sz="1895" b="0" i="0">
              <a:solidFill>
                <a:srgbClr val="10243C"/>
              </a:solidFill>
              <a:latin typeface="Times New Roman" panose="02020603050405020304"/>
            </a:endParaRPr>
          </a:p>
        </p:txBody>
      </p:sp>
      <p:sp>
        <p:nvSpPr>
          <p:cNvPr id="41" name="ECG historical response panel"/>
          <p:cNvSpPr/>
          <p:nvPr/>
        </p:nvSpPr>
        <p:spPr>
          <a:xfrm>
            <a:off x="9920583" y="1650730"/>
            <a:ext cx="7962717" cy="7433751"/>
          </a:xfrm>
          <a:prstGeom prst="roundRect">
            <a:avLst>
              <a:gd name="adj" fmla="val 2500"/>
            </a:avLst>
          </a:prstGeom>
          <a:no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ECG historical responses heading"/>
          <p:cNvSpPr txBox="1"/>
          <p:nvPr/>
        </p:nvSpPr>
        <p:spPr>
          <a:xfrm>
            <a:off x="10029961" y="1760049"/>
            <a:ext cx="7743961"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831C20"/>
                </a:solidFill>
                <a:latin typeface="Times New Roman" panose="02020603050405020304"/>
              </a:defRPr>
            </a:pPr>
            <a:r>
              <a:rPr sz="2325" b="1" i="0">
                <a:solidFill>
                  <a:srgbClr val="831C20"/>
                </a:solidFill>
                <a:latin typeface="Times New Roman" panose="02020603050405020304"/>
              </a:rPr>
              <a:t>HISTORICAL MODEL RESPONSES</a:t>
            </a:r>
            <a:endParaRPr sz="2325" b="1" i="0">
              <a:solidFill>
                <a:srgbClr val="831C20"/>
              </a:solidFill>
              <a:latin typeface="Times New Roman" panose="02020603050405020304"/>
            </a:endParaRPr>
          </a:p>
        </p:txBody>
      </p:sp>
      <p:cxnSp>
        <p:nvCxnSpPr>
          <p:cNvPr id="43" name="ECG historical responses left rule"/>
          <p:cNvCxnSpPr/>
          <p:nvPr/>
        </p:nvCxnSpPr>
        <p:spPr>
          <a:xfrm>
            <a:off x="10248717" y="2142669"/>
            <a:ext cx="3511034"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44" name="ECG historical responses right rule"/>
          <p:cNvCxnSpPr/>
          <p:nvPr/>
        </p:nvCxnSpPr>
        <p:spPr>
          <a:xfrm>
            <a:off x="14044133" y="2142669"/>
            <a:ext cx="3511034"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45" name="ECG historical responses diamond"/>
          <p:cNvSpPr/>
          <p:nvPr/>
        </p:nvSpPr>
        <p:spPr>
          <a:xfrm>
            <a:off x="13841784" y="2082543"/>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ECG historical score table"/>
          <p:cNvSpPr/>
          <p:nvPr/>
        </p:nvSpPr>
        <p:spPr>
          <a:xfrm>
            <a:off x="10139339" y="2372241"/>
            <a:ext cx="7525205" cy="1169722"/>
          </a:xfrm>
          <a:prstGeom prst="roundRect">
            <a:avLst>
              <a:gd name="adj" fmla="val 40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7" name="ECG historical score row rule"/>
          <p:cNvCxnSpPr/>
          <p:nvPr/>
        </p:nvCxnSpPr>
        <p:spPr>
          <a:xfrm>
            <a:off x="10139339" y="2951636"/>
            <a:ext cx="7525206"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48" name="ECG historical score column rule"/>
          <p:cNvCxnSpPr/>
          <p:nvPr/>
        </p:nvCxnSpPr>
        <p:spPr>
          <a:xfrm>
            <a:off x="16155129" y="2372241"/>
            <a:ext cx="0" cy="1169722"/>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49" name="ECG Gemini 3.1 Pro Preview historical score label"/>
          <p:cNvSpPr txBox="1"/>
          <p:nvPr/>
        </p:nvSpPr>
        <p:spPr>
          <a:xfrm>
            <a:off x="10325282" y="2481561"/>
            <a:ext cx="5687655" cy="415415"/>
          </a:xfrm>
          <a:prstGeom prst="rect">
            <a:avLst/>
          </a:prstGeom>
          <a:noFill/>
          <a:effectLst/>
        </p:spPr>
        <p:txBody>
          <a:bodyPr wrap="square" lIns="0" tIns="0" rIns="0" bIns="0" anchor="t">
            <a:noAutofit/>
          </a:bodyPr>
          <a:lstStyle/>
          <a:p>
            <a:pPr algn="l">
              <a:lnSpc>
                <a:spcPct val="104000"/>
              </a:lnSpc>
              <a:spcBef>
                <a:spcPts val="0"/>
              </a:spcBef>
              <a:spcAft>
                <a:spcPts val="0"/>
              </a:spcAft>
              <a:defRPr sz="2325" b="1" i="0">
                <a:solidFill>
                  <a:srgbClr val="10243C"/>
                </a:solidFill>
                <a:latin typeface="Times New Roman" panose="02020603050405020304"/>
              </a:defRPr>
            </a:pPr>
            <a:r>
              <a:rPr sz="2325" b="1" i="0">
                <a:solidFill>
                  <a:srgbClr val="10243C"/>
                </a:solidFill>
                <a:latin typeface="Times New Roman" panose="02020603050405020304"/>
              </a:rPr>
              <a:t>Gemini 3.1 Pro Preview</a:t>
            </a:r>
            <a:endParaRPr sz="2325" b="1" i="0">
              <a:solidFill>
                <a:srgbClr val="10243C"/>
              </a:solidFill>
              <a:latin typeface="Times New Roman" panose="02020603050405020304"/>
            </a:endParaRPr>
          </a:p>
        </p:txBody>
      </p:sp>
      <p:sp>
        <p:nvSpPr>
          <p:cNvPr id="50" name="ECG Gemini 3.1 Pro Preview historical zero score"/>
          <p:cNvSpPr txBox="1"/>
          <p:nvPr/>
        </p:nvSpPr>
        <p:spPr>
          <a:xfrm>
            <a:off x="16209818" y="2470629"/>
            <a:ext cx="1389100" cy="459143"/>
          </a:xfrm>
          <a:prstGeom prst="rect">
            <a:avLst/>
          </a:prstGeom>
          <a:noFill/>
          <a:effectLst/>
        </p:spPr>
        <p:txBody>
          <a:bodyPr wrap="square" lIns="0" tIns="0" rIns="0" bIns="0" anchor="t">
            <a:noAutofit/>
          </a:bodyPr>
          <a:lstStyle/>
          <a:p>
            <a:pPr algn="ctr">
              <a:lnSpc>
                <a:spcPct val="104000"/>
              </a:lnSpc>
              <a:spcBef>
                <a:spcPts val="0"/>
              </a:spcBef>
              <a:spcAft>
                <a:spcPts val="0"/>
              </a:spcAft>
              <a:defRPr sz="2755" b="1" i="0">
                <a:solidFill>
                  <a:srgbClr val="831C20"/>
                </a:solidFill>
                <a:latin typeface="Times New Roman" panose="02020603050405020304"/>
              </a:defRPr>
            </a:pPr>
            <a:r>
              <a:rPr sz="2755" b="1" i="0">
                <a:solidFill>
                  <a:srgbClr val="831C20"/>
                </a:solidFill>
                <a:latin typeface="Times New Roman" panose="02020603050405020304"/>
              </a:rPr>
              <a:t>0 / 10</a:t>
            </a:r>
            <a:endParaRPr sz="2755" b="1" i="0">
              <a:solidFill>
                <a:srgbClr val="831C20"/>
              </a:solidFill>
              <a:latin typeface="Times New Roman" panose="02020603050405020304"/>
            </a:endParaRPr>
          </a:p>
        </p:txBody>
      </p:sp>
      <p:sp>
        <p:nvSpPr>
          <p:cNvPr id="51" name="ECG Claude Opus 5 historical score label"/>
          <p:cNvSpPr txBox="1"/>
          <p:nvPr/>
        </p:nvSpPr>
        <p:spPr>
          <a:xfrm>
            <a:off x="10325282" y="3060956"/>
            <a:ext cx="5687655" cy="415415"/>
          </a:xfrm>
          <a:prstGeom prst="rect">
            <a:avLst/>
          </a:prstGeom>
          <a:noFill/>
          <a:effectLst/>
        </p:spPr>
        <p:txBody>
          <a:bodyPr wrap="square" lIns="0" tIns="0" rIns="0" bIns="0" anchor="t">
            <a:noAutofit/>
          </a:bodyPr>
          <a:lstStyle/>
          <a:p>
            <a:pPr algn="l">
              <a:lnSpc>
                <a:spcPct val="104000"/>
              </a:lnSpc>
              <a:spcBef>
                <a:spcPts val="0"/>
              </a:spcBef>
              <a:spcAft>
                <a:spcPts val="0"/>
              </a:spcAft>
              <a:defRPr sz="2325" b="1" i="0">
                <a:solidFill>
                  <a:srgbClr val="10243C"/>
                </a:solidFill>
                <a:latin typeface="Times New Roman" panose="02020603050405020304"/>
              </a:defRPr>
            </a:pPr>
            <a:r>
              <a:rPr sz="2325" b="1" i="0">
                <a:solidFill>
                  <a:srgbClr val="10243C"/>
                </a:solidFill>
                <a:latin typeface="Times New Roman" panose="02020603050405020304"/>
              </a:rPr>
              <a:t>Claude Opus 5</a:t>
            </a:r>
            <a:endParaRPr sz="2325" b="1" i="0">
              <a:solidFill>
                <a:srgbClr val="10243C"/>
              </a:solidFill>
              <a:latin typeface="Times New Roman" panose="02020603050405020304"/>
            </a:endParaRPr>
          </a:p>
        </p:txBody>
      </p:sp>
      <p:sp>
        <p:nvSpPr>
          <p:cNvPr id="52" name="ECG Claude Opus 5 historical zero score"/>
          <p:cNvSpPr txBox="1"/>
          <p:nvPr/>
        </p:nvSpPr>
        <p:spPr>
          <a:xfrm>
            <a:off x="16209818" y="3050024"/>
            <a:ext cx="1389100" cy="459143"/>
          </a:xfrm>
          <a:prstGeom prst="rect">
            <a:avLst/>
          </a:prstGeom>
          <a:noFill/>
          <a:effectLst/>
        </p:spPr>
        <p:txBody>
          <a:bodyPr wrap="square" lIns="0" tIns="0" rIns="0" bIns="0" anchor="t">
            <a:noAutofit/>
          </a:bodyPr>
          <a:lstStyle/>
          <a:p>
            <a:pPr algn="ctr">
              <a:lnSpc>
                <a:spcPct val="104000"/>
              </a:lnSpc>
              <a:spcBef>
                <a:spcPts val="0"/>
              </a:spcBef>
              <a:spcAft>
                <a:spcPts val="0"/>
              </a:spcAft>
              <a:defRPr sz="2755" b="1" i="0">
                <a:solidFill>
                  <a:srgbClr val="831C20"/>
                </a:solidFill>
                <a:latin typeface="Times New Roman" panose="02020603050405020304"/>
              </a:defRPr>
            </a:pPr>
            <a:r>
              <a:rPr sz="2755" b="1" i="0">
                <a:solidFill>
                  <a:srgbClr val="831C20"/>
                </a:solidFill>
                <a:latin typeface="Times New Roman" panose="02020603050405020304"/>
              </a:rPr>
              <a:t>0 / 10</a:t>
            </a:r>
            <a:endParaRPr sz="2755" b="1" i="0">
              <a:solidFill>
                <a:srgbClr val="831C20"/>
              </a:solidFill>
              <a:latin typeface="Times New Roman" panose="02020603050405020304"/>
            </a:endParaRPr>
          </a:p>
        </p:txBody>
      </p:sp>
      <p:sp>
        <p:nvSpPr>
          <p:cNvPr id="53" name="ECG historical prompt attribution"/>
          <p:cNvSpPr txBox="1"/>
          <p:nvPr/>
        </p:nvSpPr>
        <p:spPr>
          <a:xfrm>
            <a:off x="10139339" y="3640351"/>
            <a:ext cx="7525205" cy="317027"/>
          </a:xfrm>
          <a:prstGeom prst="rect">
            <a:avLst/>
          </a:prstGeom>
          <a:noFill/>
          <a:effectLst/>
        </p:spPr>
        <p:txBody>
          <a:bodyPr wrap="square" lIns="0" tIns="0" rIns="0" bIns="0" anchor="t">
            <a:noAutofit/>
          </a:bodyPr>
          <a:lstStyle/>
          <a:p>
            <a:pPr algn="l">
              <a:lnSpc>
                <a:spcPct val="104000"/>
              </a:lnSpc>
              <a:spcBef>
                <a:spcPts val="0"/>
              </a:spcBef>
              <a:spcAft>
                <a:spcPts val="0"/>
              </a:spcAft>
              <a:defRPr sz="1765" b="0" i="0">
                <a:solidFill>
                  <a:srgbClr val="10243C"/>
                </a:solidFill>
                <a:latin typeface="Times New Roman" panose="02020603050405020304"/>
              </a:defRPr>
            </a:pPr>
            <a:r>
              <a:rPr sz="1765" b="0" i="0">
                <a:solidFill>
                  <a:srgbClr val="10243C"/>
                </a:solidFill>
                <a:latin typeface="Times New Roman" panose="02020603050405020304"/>
              </a:rPr>
              <a:t>Recorded against the original v1.1.0 prompt</a:t>
            </a:r>
            <a:endParaRPr sz="1765" b="0" i="0">
              <a:solidFill>
                <a:srgbClr val="10243C"/>
              </a:solidFill>
              <a:latin typeface="Times New Roman" panose="02020603050405020304"/>
            </a:endParaRPr>
          </a:p>
        </p:txBody>
      </p:sp>
      <p:sp>
        <p:nvSpPr>
          <p:cNvPr id="54" name="ECG historical Claude verbatim excerpt card"/>
          <p:cNvSpPr/>
          <p:nvPr/>
        </p:nvSpPr>
        <p:spPr>
          <a:xfrm>
            <a:off x="10139339" y="4088563"/>
            <a:ext cx="7525205" cy="1552342"/>
          </a:xfrm>
          <a:prstGeom prst="roundRect">
            <a:avLst>
              <a:gd name="adj" fmla="val 4000"/>
            </a:avLst>
          </a:prstGeom>
          <a:solidFill>
            <a:srgbClr val="F6E5E0"/>
          </a:solidFill>
          <a:ln w="10937">
            <a:solidFill>
              <a:srgbClr val="D9B5A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ECG historical Claude verbatim excerpt"/>
          <p:cNvSpPr txBox="1"/>
          <p:nvPr/>
        </p:nvSpPr>
        <p:spPr>
          <a:xfrm>
            <a:off x="10336220" y="4274407"/>
            <a:ext cx="7131444" cy="808967"/>
          </a:xfrm>
          <a:prstGeom prst="rect">
            <a:avLst/>
          </a:prstGeom>
          <a:noFill/>
          <a:effectLst/>
        </p:spPr>
        <p:txBody>
          <a:bodyPr wrap="square" lIns="0" tIns="0" rIns="0" bIns="0" anchor="t">
            <a:noAutofit/>
          </a:bodyPr>
          <a:lstStyle/>
          <a:p>
            <a:pPr algn="ctr">
              <a:lnSpc>
                <a:spcPct val="104000"/>
              </a:lnSpc>
              <a:spcBef>
                <a:spcPts val="0"/>
              </a:spcBef>
              <a:spcAft>
                <a:spcPts val="0"/>
              </a:spcAft>
              <a:defRPr sz="2585" b="1" i="0">
                <a:solidFill>
                  <a:srgbClr val="62051A"/>
                </a:solidFill>
                <a:latin typeface="Times New Roman" panose="02020603050405020304"/>
              </a:defRPr>
            </a:pPr>
            <a:r>
              <a:rPr sz="2585" b="1" i="0">
                <a:solidFill>
                  <a:srgbClr val="62051A"/>
                </a:solidFill>
                <a:latin typeface="Times New Roman" panose="02020603050405020304"/>
              </a:rPr>
              <a:t>“the inferior (inferolateral) wall —</a:t>
            </a:r>
            <a:endParaRPr sz="2585" b="1" i="0">
              <a:solidFill>
                <a:srgbClr val="62051A"/>
              </a:solidFill>
              <a:latin typeface="Times New Roman" panose="02020603050405020304"/>
            </a:endParaRPr>
          </a:p>
          <a:p>
            <a:pPr algn="ctr">
              <a:lnSpc>
                <a:spcPct val="104000"/>
              </a:lnSpc>
              <a:spcBef>
                <a:spcPts val="0"/>
              </a:spcBef>
              <a:spcAft>
                <a:spcPts val="0"/>
              </a:spcAft>
              <a:defRPr sz="2585" b="1" i="0">
                <a:solidFill>
                  <a:srgbClr val="62051A"/>
                </a:solidFill>
                <a:latin typeface="Times New Roman" panose="02020603050405020304"/>
              </a:defRPr>
            </a:pPr>
            <a:r>
              <a:rPr sz="2585" b="1" i="0">
                <a:solidFill>
                  <a:srgbClr val="62051A"/>
                </a:solidFill>
                <a:latin typeface="Times New Roman" panose="02020603050405020304"/>
              </a:rPr>
              <a:t>leads II, III and aVF”</a:t>
            </a:r>
            <a:endParaRPr sz="2585" b="1" i="0">
              <a:solidFill>
                <a:srgbClr val="62051A"/>
              </a:solidFill>
              <a:latin typeface="Times New Roman" panose="02020603050405020304"/>
            </a:endParaRPr>
          </a:p>
        </p:txBody>
      </p:sp>
      <p:sp>
        <p:nvSpPr>
          <p:cNvPr id="56" name="ECG Claude excerpt attribution"/>
          <p:cNvSpPr txBox="1"/>
          <p:nvPr/>
        </p:nvSpPr>
        <p:spPr>
          <a:xfrm>
            <a:off x="10336220" y="5225489"/>
            <a:ext cx="7131444" cy="317027"/>
          </a:xfrm>
          <a:prstGeom prst="rect">
            <a:avLst/>
          </a:prstGeom>
          <a:noFill/>
          <a:effectLst/>
        </p:spPr>
        <p:txBody>
          <a:bodyPr wrap="square" lIns="0" tIns="0" rIns="0" bIns="0" anchor="t">
            <a:noAutofit/>
          </a:bodyPr>
          <a:lstStyle/>
          <a:p>
            <a:pPr algn="ctr">
              <a:lnSpc>
                <a:spcPct val="104000"/>
              </a:lnSpc>
              <a:spcBef>
                <a:spcPts val="0"/>
              </a:spcBef>
              <a:spcAft>
                <a:spcPts val="0"/>
              </a:spcAft>
              <a:defRPr sz="1895" b="0" i="0">
                <a:solidFill>
                  <a:srgbClr val="51231F"/>
                </a:solidFill>
                <a:latin typeface="Times New Roman" panose="02020603050405020304"/>
              </a:defRPr>
            </a:pPr>
            <a:r>
              <a:rPr sz="1895" b="0" i="0">
                <a:solidFill>
                  <a:srgbClr val="51231F"/>
                </a:solidFill>
                <a:latin typeface="Times New Roman" panose="02020603050405020304"/>
              </a:rPr>
              <a:t>Claude Opus 5 · verbatim excerpt</a:t>
            </a:r>
            <a:endParaRPr sz="1895" b="0" i="0">
              <a:solidFill>
                <a:srgbClr val="51231F"/>
              </a:solidFill>
              <a:latin typeface="Times New Roman" panose="02020603050405020304"/>
            </a:endParaRPr>
          </a:p>
        </p:txBody>
      </p:sp>
      <p:sp>
        <p:nvSpPr>
          <p:cNvPr id="57" name="ECG historical judge summary card"/>
          <p:cNvSpPr/>
          <p:nvPr/>
        </p:nvSpPr>
        <p:spPr>
          <a:xfrm>
            <a:off x="10139339" y="5826749"/>
            <a:ext cx="7525205" cy="2241057"/>
          </a:xfrm>
          <a:prstGeom prst="roundRect">
            <a:avLst>
              <a:gd name="adj" fmla="val 4000"/>
            </a:avLst>
          </a:prstGeom>
          <a:solidFill>
            <a:srgbClr val="F3F0E8"/>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ECG judge summaries heading"/>
          <p:cNvSpPr txBox="1"/>
          <p:nvPr/>
        </p:nvSpPr>
        <p:spPr>
          <a:xfrm>
            <a:off x="10336220" y="5957933"/>
            <a:ext cx="7131444" cy="349823"/>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RECORDED JUDGE SUMMARIES</a:t>
            </a:r>
            <a:endParaRPr sz="1980" b="1" i="0">
              <a:solidFill>
                <a:srgbClr val="124936"/>
              </a:solidFill>
              <a:latin typeface="Times New Roman" panose="02020603050405020304"/>
            </a:endParaRPr>
          </a:p>
        </p:txBody>
      </p:sp>
      <p:sp>
        <p:nvSpPr>
          <p:cNvPr id="59" name="ECG Gemini judge summary only"/>
          <p:cNvSpPr txBox="1"/>
          <p:nvPr/>
        </p:nvSpPr>
        <p:spPr>
          <a:xfrm>
            <a:off x="10336220" y="6384280"/>
            <a:ext cx="7131444" cy="721511"/>
          </a:xfrm>
          <a:prstGeom prst="rect">
            <a:avLst/>
          </a:prstGeom>
          <a:noFill/>
          <a:effectLst/>
        </p:spPr>
        <p:txBody>
          <a:bodyPr wrap="square" lIns="0" tIns="0" rIns="0" bIns="0" anchor="t">
            <a:noAutofit/>
          </a:bodyPr>
          <a:lstStyle/>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Gemini: inferior-territory interpretation.</a:t>
            </a:r>
            <a:endParaRPr sz="2065" b="0" i="0">
              <a:solidFill>
                <a:srgbClr val="10243C"/>
              </a:solidFill>
              <a:latin typeface="Times New Roman" panose="02020603050405020304"/>
            </a:endParaRPr>
          </a:p>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Raw answer is not included in this record.</a:t>
            </a:r>
            <a:endParaRPr sz="2065" b="0" i="0">
              <a:solidFill>
                <a:srgbClr val="10243C"/>
              </a:solidFill>
              <a:latin typeface="Times New Roman" panose="02020603050405020304"/>
            </a:endParaRPr>
          </a:p>
        </p:txBody>
      </p:sp>
      <p:sp>
        <p:nvSpPr>
          <p:cNvPr id="60" name="ECG Claude judge summary"/>
          <p:cNvSpPr txBox="1"/>
          <p:nvPr/>
        </p:nvSpPr>
        <p:spPr>
          <a:xfrm>
            <a:off x="10336220" y="7247907"/>
            <a:ext cx="7131444" cy="721511"/>
          </a:xfrm>
          <a:prstGeom prst="rect">
            <a:avLst/>
          </a:prstGeom>
          <a:noFill/>
          <a:effectLst/>
        </p:spPr>
        <p:txBody>
          <a:bodyPr wrap="square" lIns="0" tIns="0" rIns="0" bIns="0" anchor="t">
            <a:noAutofit/>
          </a:bodyPr>
          <a:lstStyle/>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Claude: the same territorial error; LCx was named</a:t>
            </a:r>
            <a:endParaRPr sz="2065" b="0" i="0">
              <a:solidFill>
                <a:srgbClr val="10243C"/>
              </a:solidFill>
              <a:latin typeface="Times New Roman" panose="02020603050405020304"/>
            </a:endParaRPr>
          </a:p>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with clinically incompatible reasoning.</a:t>
            </a:r>
            <a:endParaRPr sz="2065" b="0" i="0">
              <a:solidFill>
                <a:srgbClr val="10243C"/>
              </a:solidFill>
              <a:latin typeface="Times New Roman" panose="02020603050405020304"/>
            </a:endParaRPr>
          </a:p>
        </p:txBody>
      </p:sp>
      <p:sp>
        <p:nvSpPr>
          <p:cNvPr id="61" name="ECG lead level interpretation takeaway"/>
          <p:cNvSpPr/>
          <p:nvPr/>
        </p:nvSpPr>
        <p:spPr>
          <a:xfrm>
            <a:off x="10139339" y="8253650"/>
            <a:ext cx="7525205" cy="655919"/>
          </a:xfrm>
          <a:prstGeom prst="roundRect">
            <a:avLst>
              <a:gd name="adj" fmla="val 6000"/>
            </a:avLst>
          </a:prstGeom>
          <a:solidFill>
            <a:srgbClr val="F0F3E9"/>
          </a:solidFill>
          <a:ln w="10937">
            <a:solidFill>
              <a:srgbClr val="A7B9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ECG reasoning takeaway"/>
          <p:cNvSpPr txBox="1"/>
          <p:nvPr/>
        </p:nvSpPr>
        <p:spPr>
          <a:xfrm>
            <a:off x="10336220" y="8384834"/>
            <a:ext cx="7131444"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410" b="1" i="0">
                <a:solidFill>
                  <a:srgbClr val="124936"/>
                </a:solidFill>
                <a:latin typeface="Times New Roman" panose="02020603050405020304"/>
              </a:defRPr>
            </a:pPr>
            <a:r>
              <a:rPr sz="2410" b="1" i="0">
                <a:solidFill>
                  <a:srgbClr val="124936"/>
                </a:solidFill>
                <a:latin typeface="Times New Roman" panose="02020603050405020304"/>
              </a:rPr>
              <a:t>The lead-level interpretation matters.</a:t>
            </a:r>
            <a:endParaRPr sz="2410" b="1" i="0">
              <a:solidFill>
                <a:srgbClr val="124936"/>
              </a:solidFill>
              <a:latin typeface="Times New Roman" panose="02020603050405020304"/>
            </a:endParaRPr>
          </a:p>
        </p:txBody>
      </p:sp>
      <p:sp>
        <p:nvSpPr>
          <p:cNvPr id="63" name="ECG dataset and score version note"/>
          <p:cNvSpPr txBox="1"/>
          <p:nvPr/>
        </p:nvSpPr>
        <p:spPr>
          <a:xfrm>
            <a:off x="426574" y="9150073"/>
            <a:ext cx="17434851" cy="251435"/>
          </a:xfrm>
          <a:prstGeom prst="rect">
            <a:avLst/>
          </a:prstGeom>
          <a:noFill/>
          <a:effectLst/>
        </p:spPr>
        <p:txBody>
          <a:bodyPr wrap="square" lIns="0" tIns="0" rIns="0" bIns="0" anchor="t">
            <a:noAutofit/>
          </a:bodyPr>
          <a:lstStyle/>
          <a:p>
            <a:pPr algn="l">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Dataset v1.3.0 · Question/rubric v1.2.1 · Historical scores v1.1.0; revised question not rerun.</a:t>
            </a:r>
            <a:endParaRPr sz="1375" b="0" i="0">
              <a:solidFill>
                <a:srgbClr val="10243C"/>
              </a:solidFill>
              <a:latin typeface="Times New Roman" panose="02020603050405020304"/>
            </a:endParaRPr>
          </a:p>
        </p:txBody>
      </p:sp>
      <p:sp>
        <p:nvSpPr>
          <p:cNvPr id="64" name="ECG item and clinical image source"/>
          <p:cNvSpPr txBox="1"/>
          <p:nvPr/>
        </p:nvSpPr>
        <p:spPr>
          <a:xfrm>
            <a:off x="426574" y="9401509"/>
            <a:ext cx="17434851" cy="229571"/>
          </a:xfrm>
          <a:prstGeom prst="rect">
            <a:avLst/>
          </a:prstGeom>
          <a:noFill/>
          <a:effectLst/>
        </p:spPr>
        <p:txBody>
          <a:bodyPr wrap="square" lIns="0" tIns="0" rIns="0" bIns="0" anchor="t">
            <a:noAutofit/>
          </a:bodyPr>
          <a:lstStyle/>
          <a:p>
            <a:pPr algn="l">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Item: q01-8975369c944dd1eb · Recio Ibarz et al., JACC Case Rep. 2026 · doi:10.1016/j.jaccas.2026.107618 · CC BY</a:t>
            </a:r>
            <a:endParaRPr sz="1375" b="0" i="0">
              <a:solidFill>
                <a:srgbClr val="10243C"/>
              </a:solidFill>
              <a:latin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BF8F1"/>
        </a:solidFill>
        <a:effectLst/>
      </p:bgPr>
    </p:bg>
    <p:spTree>
      <p:nvGrpSpPr>
        <p:cNvPr id="1" name=""/>
        <p:cNvGrpSpPr/>
        <p:nvPr/>
      </p:nvGrpSpPr>
      <p:grpSpPr/>
      <p:sp>
        <p:nvSpPr>
          <p:cNvPr id="2" name="Masthead gradient"/>
          <p:cNvSpPr/>
          <p:nvPr/>
        </p:nvSpPr>
        <p:spPr>
          <a:xfrm>
            <a:off x="0" y="0"/>
            <a:ext cx="18288000" cy="1530478"/>
          </a:xfrm>
          <a:prstGeom prst="rect">
            <a:avLst/>
          </a:prstGeom>
          <a:blipFill rotWithShape="1">
            <a:blip r:embed="rId1"/>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ain title"/>
          <p:cNvSpPr txBox="1"/>
          <p:nvPr/>
        </p:nvSpPr>
        <p:spPr>
          <a:xfrm>
            <a:off x="503138" y="163979"/>
            <a:ext cx="14656650" cy="830831"/>
          </a:xfrm>
          <a:prstGeom prst="rect">
            <a:avLst/>
          </a:prstGeom>
          <a:noFill/>
          <a:effectLst/>
        </p:spPr>
        <p:txBody>
          <a:bodyPr wrap="square" lIns="0" tIns="0" rIns="0" bIns="0" anchor="t">
            <a:noAutofit/>
          </a:bodyPr>
          <a:lstStyle/>
          <a:p>
            <a:pPr algn="l">
              <a:lnSpc>
                <a:spcPct val="104000"/>
              </a:lnSpc>
              <a:spcBef>
                <a:spcPts val="0"/>
              </a:spcBef>
              <a:spcAft>
                <a:spcPts val="0"/>
              </a:spcAft>
              <a:defRPr sz="5340" b="1" i="0">
                <a:solidFill>
                  <a:srgbClr val="FFFDFA"/>
                </a:solidFill>
                <a:latin typeface="Times New Roman" panose="02020603050405020304"/>
              </a:defRPr>
            </a:pPr>
            <a:r>
              <a:rPr sz="5340" b="1" i="0">
                <a:solidFill>
                  <a:srgbClr val="FFFDFA"/>
                </a:solidFill>
                <a:latin typeface="Times New Roman" panose="02020603050405020304"/>
              </a:rPr>
              <a:t>Medical Doctor’s Last Exam</a:t>
            </a:r>
            <a:endParaRPr sz="5340" b="1" i="0">
              <a:solidFill>
                <a:srgbClr val="FFFDFA"/>
              </a:solidFill>
              <a:latin typeface="Times New Roman" panose="02020603050405020304"/>
            </a:endParaRPr>
          </a:p>
        </p:txBody>
      </p:sp>
      <p:sp>
        <p:nvSpPr>
          <p:cNvPr id="4" name="Page subtitle"/>
          <p:cNvSpPr txBox="1"/>
          <p:nvPr/>
        </p:nvSpPr>
        <p:spPr>
          <a:xfrm>
            <a:off x="503138" y="951082"/>
            <a:ext cx="14711339" cy="513803"/>
          </a:xfrm>
          <a:prstGeom prst="rect">
            <a:avLst/>
          </a:prstGeom>
          <a:noFill/>
          <a:effectLst/>
        </p:spPr>
        <p:txBody>
          <a:bodyPr wrap="square" lIns="0" tIns="0" rIns="0" bIns="0" anchor="t">
            <a:noAutofit/>
          </a:bodyPr>
          <a:lstStyle/>
          <a:p>
            <a:pPr algn="l">
              <a:lnSpc>
                <a:spcPct val="104000"/>
              </a:lnSpc>
              <a:spcBef>
                <a:spcPts val="0"/>
              </a:spcBef>
              <a:spcAft>
                <a:spcPts val="0"/>
              </a:spcAft>
              <a:defRPr sz="2755" b="0" i="1">
                <a:solidFill>
                  <a:srgbClr val="FFFDFA"/>
                </a:solidFill>
                <a:latin typeface="Times New Roman" panose="02020603050405020304"/>
              </a:defRPr>
            </a:pPr>
            <a:r>
              <a:rPr sz="2755" b="0" i="1">
                <a:solidFill>
                  <a:srgbClr val="FFFDFA"/>
                </a:solidFill>
                <a:latin typeface="Times New Roman" panose="02020603050405020304"/>
              </a:rPr>
              <a:t>Case 03 · What is restricting the heart?</a:t>
            </a:r>
            <a:endParaRPr sz="2755" b="0" i="1">
              <a:solidFill>
                <a:srgbClr val="FFFDFA"/>
              </a:solidFill>
              <a:latin typeface="Times New Roman" panose="02020603050405020304"/>
            </a:endParaRPr>
          </a:p>
        </p:txBody>
      </p:sp>
      <p:sp>
        <p:nvSpPr>
          <p:cNvPr id="5" name="MDLE wordmark frame"/>
          <p:cNvSpPr/>
          <p:nvPr/>
        </p:nvSpPr>
        <p:spPr>
          <a:xfrm>
            <a:off x="16023875" y="242765"/>
            <a:ext cx="1782861" cy="1161052"/>
          </a:xfrm>
          <a:prstGeom prst="rect">
            <a:avLst/>
          </a:prstGeom>
          <a:noFill/>
          <a:ln w="10937">
            <a:solidFill>
              <a:srgbClr val="EADA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MDLE wordmark"/>
          <p:cNvSpPr txBox="1"/>
          <p:nvPr/>
        </p:nvSpPr>
        <p:spPr>
          <a:xfrm>
            <a:off x="16144191" y="411645"/>
            <a:ext cx="1542229" cy="833846"/>
          </a:xfrm>
          <a:prstGeom prst="rect">
            <a:avLst/>
          </a:prstGeom>
          <a:noFill/>
          <a:effectLst/>
        </p:spPr>
        <p:txBody>
          <a:bodyPr wrap="square" lIns="0" tIns="0" rIns="0" bIns="0" anchor="t">
            <a:noAutofit/>
          </a:bodyPr>
          <a:lstStyle/>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MEDICAL</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DOCTOR’S</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LAST EXAM</a:t>
            </a:r>
            <a:endParaRPr sz="1830" b="1" i="0">
              <a:solidFill>
                <a:srgbClr val="FFFDFA"/>
              </a:solidFill>
              <a:latin typeface="Times New Roman" panose="02020603050405020304"/>
            </a:endParaRPr>
          </a:p>
        </p:txBody>
      </p:sp>
      <p:sp>
        <p:nvSpPr>
          <p:cNvPr id="7" name="Footer gradient"/>
          <p:cNvSpPr/>
          <p:nvPr/>
        </p:nvSpPr>
        <p:spPr>
          <a:xfrm>
            <a:off x="0" y="9663876"/>
            <a:ext cx="18288000" cy="623123"/>
          </a:xfrm>
          <a:prstGeom prst="rect">
            <a:avLst/>
          </a:prstGeom>
          <a:blipFill rotWithShape="1">
            <a:blip r:embed="rId2"/>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Footer left rule"/>
          <p:cNvCxnSpPr/>
          <p:nvPr/>
        </p:nvCxnSpPr>
        <p:spPr>
          <a:xfrm>
            <a:off x="2275062" y="9975438"/>
            <a:ext cx="2811014"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9" name="Footer left diamond"/>
          <p:cNvSpPr/>
          <p:nvPr/>
        </p:nvSpPr>
        <p:spPr>
          <a:xfrm>
            <a:off x="5173578" y="9909846"/>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Footer right rule"/>
          <p:cNvCxnSpPr/>
          <p:nvPr/>
        </p:nvCxnSpPr>
        <p:spPr>
          <a:xfrm>
            <a:off x="13136296" y="9975438"/>
            <a:ext cx="2887579"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 name="Footer right diamond"/>
          <p:cNvSpPr/>
          <p:nvPr/>
        </p:nvSpPr>
        <p:spPr>
          <a:xfrm>
            <a:off x="12928478" y="9909846"/>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ooter tagline"/>
          <p:cNvSpPr txBox="1"/>
          <p:nvPr/>
        </p:nvSpPr>
        <p:spPr>
          <a:xfrm>
            <a:off x="5665779" y="9773196"/>
            <a:ext cx="7109569"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495" b="0" i="1">
                <a:solidFill>
                  <a:srgbClr val="FFFDFA"/>
                </a:solidFill>
                <a:latin typeface="Times New Roman" panose="02020603050405020304"/>
              </a:defRPr>
            </a:pPr>
            <a:r>
              <a:rPr sz="2495" b="0" i="1">
                <a:solidFill>
                  <a:srgbClr val="FFFDFA"/>
                </a:solidFill>
                <a:latin typeface="Times New Roman" panose="02020603050405020304"/>
              </a:rPr>
              <a:t>A living benchmark for next-generation medical AI</a:t>
            </a:r>
            <a:endParaRPr sz="2495" b="0" i="1">
              <a:solidFill>
                <a:srgbClr val="FFFDFA"/>
              </a:solidFill>
              <a:latin typeface="Times New Roman" panose="02020603050405020304"/>
            </a:endParaRPr>
          </a:p>
        </p:txBody>
      </p:sp>
      <p:sp>
        <p:nvSpPr>
          <p:cNvPr id="13" name="Clinical course panel"/>
          <p:cNvSpPr/>
          <p:nvPr/>
        </p:nvSpPr>
        <p:spPr>
          <a:xfrm>
            <a:off x="393760" y="1683526"/>
            <a:ext cx="6529866" cy="6362416"/>
          </a:xfrm>
          <a:prstGeom prst="roundRect">
            <a:avLst>
              <a:gd name="adj" fmla="val 25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LINICAL COURSE heading"/>
          <p:cNvSpPr txBox="1"/>
          <p:nvPr/>
        </p:nvSpPr>
        <p:spPr>
          <a:xfrm>
            <a:off x="612516" y="1770981"/>
            <a:ext cx="6092354"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CLINICAL COURSE</a:t>
            </a:r>
            <a:endParaRPr sz="2325" b="1" i="0">
              <a:solidFill>
                <a:srgbClr val="124936"/>
              </a:solidFill>
              <a:latin typeface="Times New Roman" panose="02020603050405020304"/>
            </a:endParaRPr>
          </a:p>
        </p:txBody>
      </p:sp>
      <p:cxnSp>
        <p:nvCxnSpPr>
          <p:cNvPr id="15" name="CLINICAL COURSE rule left"/>
          <p:cNvCxnSpPr/>
          <p:nvPr/>
        </p:nvCxnSpPr>
        <p:spPr>
          <a:xfrm>
            <a:off x="634392" y="2208261"/>
            <a:ext cx="2893048"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16" name="CLINICAL COURSE rule right"/>
          <p:cNvCxnSpPr/>
          <p:nvPr/>
        </p:nvCxnSpPr>
        <p:spPr>
          <a:xfrm>
            <a:off x="3789947" y="2208261"/>
            <a:ext cx="2893048"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17" name="CLINICAL COURSE rule diamond"/>
          <p:cNvSpPr/>
          <p:nvPr/>
        </p:nvSpPr>
        <p:spPr>
          <a:xfrm>
            <a:off x="3598535" y="2148135"/>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ompeting explanations marker"/>
          <p:cNvSpPr/>
          <p:nvPr/>
        </p:nvSpPr>
        <p:spPr>
          <a:xfrm>
            <a:off x="634392" y="2437833"/>
            <a:ext cx="525014" cy="524735"/>
          </a:xfrm>
          <a:prstGeom prst="ellipse">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ompeting explanations number"/>
          <p:cNvSpPr txBox="1"/>
          <p:nvPr/>
        </p:nvSpPr>
        <p:spPr>
          <a:xfrm>
            <a:off x="667205" y="2492493"/>
            <a:ext cx="459387" cy="382619"/>
          </a:xfrm>
          <a:prstGeom prst="rect">
            <a:avLst/>
          </a:prstGeom>
          <a:noFill/>
          <a:effectLst/>
        </p:spPr>
        <p:txBody>
          <a:bodyPr wrap="square" lIns="0" tIns="0" rIns="0" bIns="0" anchor="t">
            <a:noAutofit/>
          </a:bodyPr>
          <a:lstStyle/>
          <a:p>
            <a:pPr algn="ctr">
              <a:lnSpc>
                <a:spcPct val="104000"/>
              </a:lnSpc>
              <a:spcBef>
                <a:spcPts val="0"/>
              </a:spcBef>
              <a:spcAft>
                <a:spcPts val="0"/>
              </a:spcAft>
              <a:defRPr sz="2155" b="1" i="0">
                <a:solidFill>
                  <a:srgbClr val="FFFDFA"/>
                </a:solidFill>
                <a:latin typeface="Times New Roman" panose="02020603050405020304"/>
              </a:defRPr>
            </a:pPr>
            <a:r>
              <a:rPr sz="2155" b="1" i="0">
                <a:solidFill>
                  <a:srgbClr val="FFFDFA"/>
                </a:solidFill>
                <a:latin typeface="Times New Roman" panose="02020603050405020304"/>
              </a:rPr>
              <a:t>01</a:t>
            </a:r>
            <a:endParaRPr sz="2155" b="1" i="0">
              <a:solidFill>
                <a:srgbClr val="FFFDFA"/>
              </a:solidFill>
              <a:latin typeface="Times New Roman" panose="02020603050405020304"/>
            </a:endParaRPr>
          </a:p>
        </p:txBody>
      </p:sp>
      <p:sp>
        <p:nvSpPr>
          <p:cNvPr id="20" name="Competing explanations"/>
          <p:cNvSpPr txBox="1"/>
          <p:nvPr/>
        </p:nvSpPr>
        <p:spPr>
          <a:xfrm>
            <a:off x="1389100" y="2415969"/>
            <a:ext cx="5217330" cy="426347"/>
          </a:xfrm>
          <a:prstGeom prst="rect">
            <a:avLst/>
          </a:prstGeom>
          <a:noFill/>
          <a:effectLst/>
        </p:spPr>
        <p:txBody>
          <a:bodyPr wrap="square" lIns="0" tIns="0" rIns="0" bIns="0" anchor="t">
            <a:noAutofit/>
          </a:bodyPr>
          <a:lstStyle/>
          <a:p>
            <a:pPr algn="l">
              <a:lnSpc>
                <a:spcPct val="104000"/>
              </a:lnSpc>
              <a:spcBef>
                <a:spcPts val="0"/>
              </a:spcBef>
              <a:spcAft>
                <a:spcPts val="0"/>
              </a:spcAft>
              <a:defRPr sz="2495" b="1" i="0">
                <a:solidFill>
                  <a:srgbClr val="124936"/>
                </a:solidFill>
                <a:latin typeface="Times New Roman" panose="02020603050405020304"/>
              </a:defRPr>
            </a:pPr>
            <a:r>
              <a:rPr sz="2495" b="1" i="0">
                <a:solidFill>
                  <a:srgbClr val="124936"/>
                </a:solidFill>
                <a:latin typeface="Times New Roman" panose="02020603050405020304"/>
              </a:rPr>
              <a:t>Competing explanations</a:t>
            </a:r>
            <a:endParaRPr sz="2495" b="1" i="0">
              <a:solidFill>
                <a:srgbClr val="124936"/>
              </a:solidFill>
              <a:latin typeface="Times New Roman" panose="02020603050405020304"/>
            </a:endParaRPr>
          </a:p>
        </p:txBody>
      </p:sp>
      <p:sp>
        <p:nvSpPr>
          <p:cNvPr id="21" name="Competing explanations details"/>
          <p:cNvSpPr txBox="1"/>
          <p:nvPr/>
        </p:nvSpPr>
        <p:spPr>
          <a:xfrm>
            <a:off x="1389100" y="2918840"/>
            <a:ext cx="5217330" cy="1311838"/>
          </a:xfrm>
          <a:prstGeom prst="rect">
            <a:avLst/>
          </a:prstGeom>
          <a:noFill/>
          <a:effectLst/>
        </p:spPr>
        <p:txBody>
          <a:bodyPr wrap="square" lIns="0" tIns="0" rIns="0" bIns="0" anchor="t">
            <a:noAutofit/>
          </a:bodyPr>
          <a:lstStyle/>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Man in his late 50s; prior thoracic</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radiotherapy for mediastinal malignancy.</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Severe COVID-19 with pericarditis</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and tamponade.</a:t>
            </a:r>
            <a:endParaRPr sz="2155" b="0" i="0">
              <a:solidFill>
                <a:srgbClr val="10243C"/>
              </a:solidFill>
              <a:latin typeface="Times New Roman" panose="02020603050405020304"/>
            </a:endParaRPr>
          </a:p>
        </p:txBody>
      </p:sp>
      <p:sp>
        <p:nvSpPr>
          <p:cNvPr id="22" name="Later presentation marker"/>
          <p:cNvSpPr/>
          <p:nvPr/>
        </p:nvSpPr>
        <p:spPr>
          <a:xfrm>
            <a:off x="634392" y="4274407"/>
            <a:ext cx="525014" cy="524735"/>
          </a:xfrm>
          <a:prstGeom prst="ellipse">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Later presentation number"/>
          <p:cNvSpPr txBox="1"/>
          <p:nvPr/>
        </p:nvSpPr>
        <p:spPr>
          <a:xfrm>
            <a:off x="667205" y="4329066"/>
            <a:ext cx="459387" cy="382619"/>
          </a:xfrm>
          <a:prstGeom prst="rect">
            <a:avLst/>
          </a:prstGeom>
          <a:noFill/>
          <a:effectLst/>
        </p:spPr>
        <p:txBody>
          <a:bodyPr wrap="square" lIns="0" tIns="0" rIns="0" bIns="0" anchor="t">
            <a:noAutofit/>
          </a:bodyPr>
          <a:lstStyle/>
          <a:p>
            <a:pPr algn="ctr">
              <a:lnSpc>
                <a:spcPct val="104000"/>
              </a:lnSpc>
              <a:spcBef>
                <a:spcPts val="0"/>
              </a:spcBef>
              <a:spcAft>
                <a:spcPts val="0"/>
              </a:spcAft>
              <a:defRPr sz="2155" b="1" i="0">
                <a:solidFill>
                  <a:srgbClr val="FFFDFA"/>
                </a:solidFill>
                <a:latin typeface="Times New Roman" panose="02020603050405020304"/>
              </a:defRPr>
            </a:pPr>
            <a:r>
              <a:rPr sz="2155" b="1" i="0">
                <a:solidFill>
                  <a:srgbClr val="FFFDFA"/>
                </a:solidFill>
                <a:latin typeface="Times New Roman" panose="02020603050405020304"/>
              </a:rPr>
              <a:t>02</a:t>
            </a:r>
            <a:endParaRPr sz="2155" b="1" i="0">
              <a:solidFill>
                <a:srgbClr val="FFFDFA"/>
              </a:solidFill>
              <a:latin typeface="Times New Roman" panose="02020603050405020304"/>
            </a:endParaRPr>
          </a:p>
        </p:txBody>
      </p:sp>
      <p:sp>
        <p:nvSpPr>
          <p:cNvPr id="24" name="Later presentation"/>
          <p:cNvSpPr txBox="1"/>
          <p:nvPr/>
        </p:nvSpPr>
        <p:spPr>
          <a:xfrm>
            <a:off x="1389100" y="4252543"/>
            <a:ext cx="5217330" cy="426347"/>
          </a:xfrm>
          <a:prstGeom prst="rect">
            <a:avLst/>
          </a:prstGeom>
          <a:noFill/>
          <a:effectLst/>
        </p:spPr>
        <p:txBody>
          <a:bodyPr wrap="square" lIns="0" tIns="0" rIns="0" bIns="0" anchor="t">
            <a:noAutofit/>
          </a:bodyPr>
          <a:lstStyle/>
          <a:p>
            <a:pPr algn="l">
              <a:lnSpc>
                <a:spcPct val="104000"/>
              </a:lnSpc>
              <a:spcBef>
                <a:spcPts val="0"/>
              </a:spcBef>
              <a:spcAft>
                <a:spcPts val="0"/>
              </a:spcAft>
              <a:defRPr sz="2495" b="1" i="0">
                <a:solidFill>
                  <a:srgbClr val="124936"/>
                </a:solidFill>
                <a:latin typeface="Times New Roman" panose="02020603050405020304"/>
              </a:defRPr>
            </a:pPr>
            <a:r>
              <a:rPr sz="2495" b="1" i="0">
                <a:solidFill>
                  <a:srgbClr val="124936"/>
                </a:solidFill>
                <a:latin typeface="Times New Roman" panose="02020603050405020304"/>
              </a:rPr>
              <a:t>Later presentation</a:t>
            </a:r>
            <a:endParaRPr sz="2495" b="1" i="0">
              <a:solidFill>
                <a:srgbClr val="124936"/>
              </a:solidFill>
              <a:latin typeface="Times New Roman" panose="02020603050405020304"/>
            </a:endParaRPr>
          </a:p>
        </p:txBody>
      </p:sp>
      <p:sp>
        <p:nvSpPr>
          <p:cNvPr id="25" name="Later presentation details"/>
          <p:cNvSpPr txBox="1"/>
          <p:nvPr/>
        </p:nvSpPr>
        <p:spPr>
          <a:xfrm>
            <a:off x="1389100" y="4755414"/>
            <a:ext cx="5217330" cy="1311838"/>
          </a:xfrm>
          <a:prstGeom prst="rect">
            <a:avLst/>
          </a:prstGeom>
          <a:noFill/>
          <a:effectLst/>
        </p:spPr>
        <p:txBody>
          <a:bodyPr wrap="square" lIns="0" tIns="0" rIns="0" bIns="0" anchor="t">
            <a:noAutofit/>
          </a:bodyPr>
          <a:lstStyle/>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Anasarca and exertional dyspnea.</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Preserved ejection fraction; septal bounce,</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ventricular interdependence and reciprocal</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respiratory variation in valve inflow.</a:t>
            </a:r>
            <a:endParaRPr sz="2155" b="0" i="0">
              <a:solidFill>
                <a:srgbClr val="10243C"/>
              </a:solidFill>
              <a:latin typeface="Times New Roman" panose="02020603050405020304"/>
            </a:endParaRPr>
          </a:p>
        </p:txBody>
      </p:sp>
      <p:sp>
        <p:nvSpPr>
          <p:cNvPr id="26" name="Four-month treatment trial marker"/>
          <p:cNvSpPr/>
          <p:nvPr/>
        </p:nvSpPr>
        <p:spPr>
          <a:xfrm>
            <a:off x="634392" y="6110980"/>
            <a:ext cx="525014" cy="524735"/>
          </a:xfrm>
          <a:prstGeom prst="ellipse">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Four-month treatment trial number"/>
          <p:cNvSpPr txBox="1"/>
          <p:nvPr/>
        </p:nvSpPr>
        <p:spPr>
          <a:xfrm>
            <a:off x="667205" y="6165640"/>
            <a:ext cx="459387" cy="382619"/>
          </a:xfrm>
          <a:prstGeom prst="rect">
            <a:avLst/>
          </a:prstGeom>
          <a:noFill/>
          <a:effectLst/>
        </p:spPr>
        <p:txBody>
          <a:bodyPr wrap="square" lIns="0" tIns="0" rIns="0" bIns="0" anchor="t">
            <a:noAutofit/>
          </a:bodyPr>
          <a:lstStyle/>
          <a:p>
            <a:pPr algn="ctr">
              <a:lnSpc>
                <a:spcPct val="104000"/>
              </a:lnSpc>
              <a:spcBef>
                <a:spcPts val="0"/>
              </a:spcBef>
              <a:spcAft>
                <a:spcPts val="0"/>
              </a:spcAft>
              <a:defRPr sz="2155" b="1" i="0">
                <a:solidFill>
                  <a:srgbClr val="FFFDFA"/>
                </a:solidFill>
                <a:latin typeface="Times New Roman" panose="02020603050405020304"/>
              </a:defRPr>
            </a:pPr>
            <a:r>
              <a:rPr sz="2155" b="1" i="0">
                <a:solidFill>
                  <a:srgbClr val="FFFDFA"/>
                </a:solidFill>
                <a:latin typeface="Times New Roman" panose="02020603050405020304"/>
              </a:rPr>
              <a:t>03</a:t>
            </a:r>
            <a:endParaRPr sz="2155" b="1" i="0">
              <a:solidFill>
                <a:srgbClr val="FFFDFA"/>
              </a:solidFill>
              <a:latin typeface="Times New Roman" panose="02020603050405020304"/>
            </a:endParaRPr>
          </a:p>
        </p:txBody>
      </p:sp>
      <p:sp>
        <p:nvSpPr>
          <p:cNvPr id="28" name="Four-month treatment trial"/>
          <p:cNvSpPr txBox="1"/>
          <p:nvPr/>
        </p:nvSpPr>
        <p:spPr>
          <a:xfrm>
            <a:off x="1389100" y="6089116"/>
            <a:ext cx="5217330" cy="426347"/>
          </a:xfrm>
          <a:prstGeom prst="rect">
            <a:avLst/>
          </a:prstGeom>
          <a:noFill/>
          <a:effectLst/>
        </p:spPr>
        <p:txBody>
          <a:bodyPr wrap="square" lIns="0" tIns="0" rIns="0" bIns="0" anchor="t">
            <a:noAutofit/>
          </a:bodyPr>
          <a:lstStyle/>
          <a:p>
            <a:pPr algn="l">
              <a:lnSpc>
                <a:spcPct val="104000"/>
              </a:lnSpc>
              <a:spcBef>
                <a:spcPts val="0"/>
              </a:spcBef>
              <a:spcAft>
                <a:spcPts val="0"/>
              </a:spcAft>
              <a:defRPr sz="2495" b="1" i="0">
                <a:solidFill>
                  <a:srgbClr val="124936"/>
                </a:solidFill>
                <a:latin typeface="Times New Roman" panose="02020603050405020304"/>
              </a:defRPr>
            </a:pPr>
            <a:r>
              <a:rPr sz="2495" b="1" i="0">
                <a:solidFill>
                  <a:srgbClr val="124936"/>
                </a:solidFill>
                <a:latin typeface="Times New Roman" panose="02020603050405020304"/>
              </a:rPr>
              <a:t>Four-month treatment trial</a:t>
            </a:r>
            <a:endParaRPr sz="2495" b="1" i="0">
              <a:solidFill>
                <a:srgbClr val="124936"/>
              </a:solidFill>
              <a:latin typeface="Times New Roman" panose="02020603050405020304"/>
            </a:endParaRPr>
          </a:p>
        </p:txBody>
      </p:sp>
      <p:sp>
        <p:nvSpPr>
          <p:cNvPr id="29" name="Four-month treatment trial details"/>
          <p:cNvSpPr txBox="1"/>
          <p:nvPr/>
        </p:nvSpPr>
        <p:spPr>
          <a:xfrm>
            <a:off x="1389100" y="6591988"/>
            <a:ext cx="5217330" cy="1311838"/>
          </a:xfrm>
          <a:prstGeom prst="rect">
            <a:avLst/>
          </a:prstGeom>
          <a:noFill/>
          <a:effectLst/>
        </p:spPr>
        <p:txBody>
          <a:bodyPr wrap="square" lIns="0" tIns="0" rIns="0" bIns="0" anchor="t">
            <a:noAutofit/>
          </a:bodyPr>
          <a:lstStyle/>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High-dose corticosteroids plus colchicine</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for presumed inflammatory pericarditis.</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No symptomatic or hemodynamic</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improvement.</a:t>
            </a:r>
            <a:endParaRPr sz="2155" b="0" i="0">
              <a:solidFill>
                <a:srgbClr val="10243C"/>
              </a:solidFill>
              <a:latin typeface="Times New Roman" panose="02020603050405020304"/>
            </a:endParaRPr>
          </a:p>
        </p:txBody>
      </p:sp>
      <p:sp>
        <p:nvSpPr>
          <p:cNvPr id="30" name="CT evidence panel"/>
          <p:cNvSpPr/>
          <p:nvPr/>
        </p:nvSpPr>
        <p:spPr>
          <a:xfrm>
            <a:off x="7109569" y="1683526"/>
            <a:ext cx="10784669" cy="6362416"/>
          </a:xfrm>
          <a:prstGeom prst="roundRect">
            <a:avLst>
              <a:gd name="adj" fmla="val 25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ONTRAST-ENHANCED CHEST CT heading"/>
          <p:cNvSpPr txBox="1"/>
          <p:nvPr/>
        </p:nvSpPr>
        <p:spPr>
          <a:xfrm>
            <a:off x="7328325" y="1770981"/>
            <a:ext cx="10347157"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CONTRAST-ENHANCED CHEST CT</a:t>
            </a:r>
            <a:endParaRPr sz="2325" b="1" i="0">
              <a:solidFill>
                <a:srgbClr val="124936"/>
              </a:solidFill>
              <a:latin typeface="Times New Roman" panose="02020603050405020304"/>
            </a:endParaRPr>
          </a:p>
        </p:txBody>
      </p:sp>
      <p:cxnSp>
        <p:nvCxnSpPr>
          <p:cNvPr id="32" name="CONTRAST-ENHANCED CHEST CT rule left"/>
          <p:cNvCxnSpPr/>
          <p:nvPr/>
        </p:nvCxnSpPr>
        <p:spPr>
          <a:xfrm>
            <a:off x="7350200" y="2208261"/>
            <a:ext cx="5020450"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33" name="CONTRAST-ENHANCED CHEST CT rule right"/>
          <p:cNvCxnSpPr/>
          <p:nvPr/>
        </p:nvCxnSpPr>
        <p:spPr>
          <a:xfrm>
            <a:off x="12633157" y="2208261"/>
            <a:ext cx="5020450"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34" name="CONTRAST-ENHANCED CHEST CT rule diamond"/>
          <p:cNvSpPr/>
          <p:nvPr/>
        </p:nvSpPr>
        <p:spPr>
          <a:xfrm>
            <a:off x="12441746" y="2148135"/>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riginal two-panel axial CT backing"/>
          <p:cNvSpPr/>
          <p:nvPr/>
        </p:nvSpPr>
        <p:spPr>
          <a:xfrm>
            <a:off x="7361138" y="2405037"/>
            <a:ext cx="10281531" cy="4646094"/>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Original two-panel axial CT" descr="9f3c2a71.png"/>
          <p:cNvPicPr>
            <a:picLocks noChangeAspect="1"/>
          </p:cNvPicPr>
          <p:nvPr/>
        </p:nvPicPr>
        <p:blipFill>
          <a:blip r:embed="rId3"/>
          <a:stretch>
            <a:fillRect/>
          </a:stretch>
        </p:blipFill>
        <p:spPr>
          <a:xfrm>
            <a:off x="7361138" y="2530384"/>
            <a:ext cx="10281531" cy="4395399"/>
          </a:xfrm>
          <a:prstGeom prst="rect">
            <a:avLst/>
          </a:prstGeom>
          <a:effectLst/>
        </p:spPr>
      </p:pic>
      <p:sp>
        <p:nvSpPr>
          <p:cNvPr id="37" name="CT panel A caption"/>
          <p:cNvSpPr txBox="1"/>
          <p:nvPr/>
        </p:nvSpPr>
        <p:spPr>
          <a:xfrm>
            <a:off x="7579894" y="7226043"/>
            <a:ext cx="4626688" cy="415415"/>
          </a:xfrm>
          <a:prstGeom prst="rect">
            <a:avLst/>
          </a:prstGeom>
          <a:noFill/>
          <a:effectLst/>
        </p:spPr>
        <p:txBody>
          <a:bodyPr wrap="square" lIns="0" tIns="0" rIns="0" bIns="0" anchor="t">
            <a:noAutofit/>
          </a:bodyPr>
          <a:lstStyle/>
          <a:p>
            <a:pPr algn="ctr">
              <a:lnSpc>
                <a:spcPct val="104000"/>
              </a:lnSpc>
              <a:spcBef>
                <a:spcPts val="0"/>
              </a:spcBef>
              <a:spcAft>
                <a:spcPts val="0"/>
              </a:spcAft>
              <a:defRPr sz="2240" b="1" i="0">
                <a:solidFill>
                  <a:srgbClr val="10243C"/>
                </a:solidFill>
                <a:latin typeface="Times New Roman" panose="02020603050405020304"/>
              </a:defRPr>
            </a:pPr>
            <a:r>
              <a:rPr sz="2240" b="1" i="0">
                <a:solidFill>
                  <a:srgbClr val="10243C"/>
                </a:solidFill>
                <a:latin typeface="Times New Roman" panose="02020603050405020304"/>
              </a:rPr>
              <a:t>A · Great vessels</a:t>
            </a:r>
            <a:endParaRPr sz="2240" b="1" i="0">
              <a:solidFill>
                <a:srgbClr val="10243C"/>
              </a:solidFill>
              <a:latin typeface="Times New Roman" panose="02020603050405020304"/>
            </a:endParaRPr>
          </a:p>
        </p:txBody>
      </p:sp>
      <p:sp>
        <p:nvSpPr>
          <p:cNvPr id="38" name="CT panel B caption"/>
          <p:cNvSpPr txBox="1"/>
          <p:nvPr/>
        </p:nvSpPr>
        <p:spPr>
          <a:xfrm>
            <a:off x="12425339" y="7226043"/>
            <a:ext cx="5206392" cy="415415"/>
          </a:xfrm>
          <a:prstGeom prst="rect">
            <a:avLst/>
          </a:prstGeom>
          <a:noFill/>
          <a:effectLst/>
        </p:spPr>
        <p:txBody>
          <a:bodyPr wrap="square" lIns="0" tIns="0" rIns="0" bIns="0" anchor="t">
            <a:noAutofit/>
          </a:bodyPr>
          <a:lstStyle/>
          <a:p>
            <a:pPr algn="ctr">
              <a:lnSpc>
                <a:spcPct val="104000"/>
              </a:lnSpc>
              <a:spcBef>
                <a:spcPts val="0"/>
              </a:spcBef>
              <a:spcAft>
                <a:spcPts val="0"/>
              </a:spcAft>
              <a:defRPr sz="2240" b="1" i="0">
                <a:solidFill>
                  <a:srgbClr val="10243C"/>
                </a:solidFill>
                <a:latin typeface="Times New Roman" panose="02020603050405020304"/>
              </a:defRPr>
            </a:pPr>
            <a:r>
              <a:rPr sz="2240" b="1" i="0">
                <a:solidFill>
                  <a:srgbClr val="10243C"/>
                </a:solidFill>
                <a:latin typeface="Times New Roman" panose="02020603050405020304"/>
              </a:rPr>
              <a:t>B · Upper cardiac chambers</a:t>
            </a:r>
            <a:endParaRPr sz="2240" b="1" i="0">
              <a:solidFill>
                <a:srgbClr val="10243C"/>
              </a:solidFill>
              <a:latin typeface="Times New Roman" panose="02020603050405020304"/>
            </a:endParaRPr>
          </a:p>
        </p:txBody>
      </p:sp>
      <p:sp>
        <p:nvSpPr>
          <p:cNvPr id="39" name="CT comparison context"/>
          <p:cNvSpPr txBox="1"/>
          <p:nvPr/>
        </p:nvSpPr>
        <p:spPr>
          <a:xfrm>
            <a:off x="7383014" y="7685187"/>
            <a:ext cx="10248717" cy="306095"/>
          </a:xfrm>
          <a:prstGeom prst="rect">
            <a:avLst/>
          </a:prstGeom>
          <a:noFill/>
          <a:effectLst/>
        </p:spPr>
        <p:txBody>
          <a:bodyPr wrap="square" lIns="0" tIns="0" rIns="0" bIns="0" anchor="t">
            <a:noAutofit/>
          </a:bodyPr>
          <a:lstStyle/>
          <a:p>
            <a:pPr algn="ctr">
              <a:lnSpc>
                <a:spcPct val="104000"/>
              </a:lnSpc>
              <a:spcBef>
                <a:spcPts val="0"/>
              </a:spcBef>
              <a:spcAft>
                <a:spcPts val="0"/>
              </a:spcAft>
              <a:defRPr sz="1720" b="0" i="0">
                <a:solidFill>
                  <a:srgbClr val="5D5B55"/>
                </a:solidFill>
                <a:latin typeface="Times New Roman" panose="02020603050405020304"/>
              </a:defRPr>
            </a:pPr>
            <a:r>
              <a:rPr sz="1720" b="0" i="0">
                <a:solidFill>
                  <a:srgbClr val="5D5B55"/>
                </a:solidFill>
                <a:latin typeface="Times New Roman" panose="02020603050405020304"/>
              </a:rPr>
              <a:t>Both panels are from the same contrast-enhanced examination.</a:t>
            </a:r>
            <a:endParaRPr sz="1720" b="0" i="0">
              <a:solidFill>
                <a:srgbClr val="5D5B55"/>
              </a:solidFill>
              <a:latin typeface="Times New Roman" panose="02020603050405020304"/>
            </a:endParaRPr>
          </a:p>
        </p:txBody>
      </p:sp>
      <p:sp>
        <p:nvSpPr>
          <p:cNvPr id="40" name="Current question card"/>
          <p:cNvSpPr/>
          <p:nvPr/>
        </p:nvSpPr>
        <p:spPr>
          <a:xfrm>
            <a:off x="393760" y="8133398"/>
            <a:ext cx="17500478" cy="1027606"/>
          </a:xfrm>
          <a:prstGeom prst="roundRect">
            <a:avLst>
              <a:gd name="adj" fmla="val 4000"/>
            </a:avLst>
          </a:prstGeom>
          <a:solidFill>
            <a:srgbClr val="F0F3E9"/>
          </a:solidFill>
          <a:ln w="10937">
            <a:solidFill>
              <a:srgbClr val="A6B8A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urrent question heading"/>
          <p:cNvSpPr txBox="1"/>
          <p:nvPr/>
        </p:nvSpPr>
        <p:spPr>
          <a:xfrm>
            <a:off x="634392" y="8220854"/>
            <a:ext cx="3401655" cy="382619"/>
          </a:xfrm>
          <a:prstGeom prst="rect">
            <a:avLst/>
          </a:prstGeom>
          <a:noFill/>
          <a:effectLst/>
        </p:spPr>
        <p:txBody>
          <a:bodyPr wrap="square" lIns="0" tIns="0" rIns="0" bIns="0" anchor="t">
            <a:noAutofit/>
          </a:bodyPr>
          <a:lstStyle/>
          <a:p>
            <a:pPr algn="l">
              <a:lnSpc>
                <a:spcPct val="104000"/>
              </a:lnSpc>
              <a:spcBef>
                <a:spcPts val="0"/>
              </a:spcBef>
              <a:spcAft>
                <a:spcPts val="0"/>
              </a:spcAft>
              <a:defRPr sz="2155" b="1" i="0">
                <a:solidFill>
                  <a:srgbClr val="124936"/>
                </a:solidFill>
                <a:latin typeface="Times New Roman" panose="02020603050405020304"/>
              </a:defRPr>
            </a:pPr>
            <a:r>
              <a:rPr sz="2155" b="1" i="0">
                <a:solidFill>
                  <a:srgbClr val="124936"/>
                </a:solidFill>
                <a:latin typeface="Times New Roman" panose="02020603050405020304"/>
              </a:rPr>
              <a:t>CURRENT QUESTION</a:t>
            </a:r>
            <a:endParaRPr sz="2155" b="1" i="0">
              <a:solidFill>
                <a:srgbClr val="124936"/>
              </a:solidFill>
              <a:latin typeface="Times New Roman" panose="02020603050405020304"/>
            </a:endParaRPr>
          </a:p>
        </p:txBody>
      </p:sp>
      <p:sp>
        <p:nvSpPr>
          <p:cNvPr id="42" name="Current question text"/>
          <p:cNvSpPr txBox="1"/>
          <p:nvPr/>
        </p:nvSpPr>
        <p:spPr>
          <a:xfrm>
            <a:off x="4276679" y="8242718"/>
            <a:ext cx="13212861" cy="819899"/>
          </a:xfrm>
          <a:prstGeom prst="rect">
            <a:avLst/>
          </a:prstGeom>
          <a:noFill/>
          <a:effectLst/>
        </p:spPr>
        <p:txBody>
          <a:bodyPr wrap="square" lIns="0" tIns="0" rIns="0" bIns="0" anchor="t">
            <a:noAutofit/>
          </a:bodyPr>
          <a:lstStyle/>
          <a:p>
            <a:pPr algn="l">
              <a:lnSpc>
                <a:spcPct val="104000"/>
              </a:lnSpc>
              <a:spcBef>
                <a:spcPts val="0"/>
              </a:spcBef>
              <a:spcAft>
                <a:spcPts val="0"/>
              </a:spcAft>
              <a:defRPr sz="2755" b="1" i="0">
                <a:solidFill>
                  <a:srgbClr val="10243C"/>
                </a:solidFill>
                <a:latin typeface="Times New Roman" panose="02020603050405020304"/>
              </a:defRPr>
            </a:pPr>
            <a:r>
              <a:rPr sz="2755" b="1" i="0">
                <a:solidFill>
                  <a:srgbClr val="10243C"/>
                </a:solidFill>
                <a:latin typeface="Times New Roman" panose="02020603050405020304"/>
              </a:rPr>
              <a:t>What mechanism explains both the constrictive physiology</a:t>
            </a:r>
            <a:endParaRPr sz="2755" b="1" i="0">
              <a:solidFill>
                <a:srgbClr val="10243C"/>
              </a:solidFill>
              <a:latin typeface="Times New Roman" panose="02020603050405020304"/>
            </a:endParaRPr>
          </a:p>
          <a:p>
            <a:pPr algn="l">
              <a:lnSpc>
                <a:spcPct val="104000"/>
              </a:lnSpc>
              <a:spcBef>
                <a:spcPts val="0"/>
              </a:spcBef>
              <a:spcAft>
                <a:spcPts val="0"/>
              </a:spcAft>
              <a:defRPr sz="2755" b="1" i="0">
                <a:solidFill>
                  <a:srgbClr val="10243C"/>
                </a:solidFill>
                <a:latin typeface="Times New Roman" panose="02020603050405020304"/>
              </a:defRPr>
            </a:pPr>
            <a:r>
              <a:rPr sz="2755" b="1" i="0">
                <a:solidFill>
                  <a:srgbClr val="10243C"/>
                </a:solidFill>
                <a:latin typeface="Times New Roman" panose="02020603050405020304"/>
              </a:rPr>
              <a:t>and the failure of anti-inflammatory treatment?</a:t>
            </a:r>
            <a:endParaRPr sz="2755" b="1" i="0">
              <a:solidFill>
                <a:srgbClr val="10243C"/>
              </a:solidFill>
              <a:latin typeface="Times New Roman" panose="02020603050405020304"/>
            </a:endParaRPr>
          </a:p>
        </p:txBody>
      </p:sp>
      <p:sp>
        <p:nvSpPr>
          <p:cNvPr id="43" name="Dataset and score versions"/>
          <p:cNvSpPr txBox="1"/>
          <p:nvPr/>
        </p:nvSpPr>
        <p:spPr>
          <a:xfrm>
            <a:off x="415636" y="9204733"/>
            <a:ext cx="11922200" cy="251435"/>
          </a:xfrm>
          <a:prstGeom prst="rect">
            <a:avLst/>
          </a:prstGeom>
          <a:noFill/>
          <a:effectLst/>
        </p:spPr>
        <p:txBody>
          <a:bodyPr wrap="square" lIns="0" tIns="0" rIns="0" bIns="0" anchor="t">
            <a:noAutofit/>
          </a:bodyPr>
          <a:lstStyle/>
          <a:p>
            <a:pPr algn="l">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Dataset v1.3.0 · Question v1.2.1 · Historical scores v1.1.0; revised question not rerun.</a:t>
            </a:r>
            <a:endParaRPr sz="1375" b="0" i="0">
              <a:solidFill>
                <a:srgbClr val="10243C"/>
              </a:solidFill>
              <a:latin typeface="Times New Roman" panose="02020603050405020304"/>
            </a:endParaRPr>
          </a:p>
        </p:txBody>
      </p:sp>
      <p:sp>
        <p:nvSpPr>
          <p:cNvPr id="44" name="Clinical source credit">
            <a:hlinkClick r:id="rId4"/>
          </p:cNvPr>
          <p:cNvSpPr txBox="1"/>
          <p:nvPr/>
        </p:nvSpPr>
        <p:spPr>
          <a:xfrm>
            <a:off x="12359712" y="9204733"/>
            <a:ext cx="5501712" cy="251435"/>
          </a:xfrm>
          <a:prstGeom prst="rect">
            <a:avLst/>
          </a:prstGeom>
          <a:noFill/>
          <a:effectLst/>
        </p:spPr>
        <p:txBody>
          <a:bodyPr wrap="square" lIns="0" tIns="0" rIns="0" bIns="0" anchor="t">
            <a:noAutofit/>
          </a:bodyPr>
          <a:lstStyle/>
          <a:p>
            <a:pPr algn="r">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Dawelbeit et al. · Cureus 2026 · CC BY</a:t>
            </a:r>
            <a:endParaRPr sz="1375" b="0" i="0">
              <a:solidFill>
                <a:srgbClr val="10243C"/>
              </a:solidFill>
              <a:latin typeface="Times New Roman" panose="02020603050405020304"/>
            </a:endParaRPr>
          </a:p>
        </p:txBody>
      </p:sp>
      <p:sp>
        <p:nvSpPr>
          <p:cNvPr id="45" name="Dataset item identifier"/>
          <p:cNvSpPr txBox="1"/>
          <p:nvPr/>
        </p:nvSpPr>
        <p:spPr>
          <a:xfrm>
            <a:off x="415636" y="9445236"/>
            <a:ext cx="9187751" cy="196775"/>
          </a:xfrm>
          <a:prstGeom prst="rect">
            <a:avLst/>
          </a:prstGeom>
          <a:noFill/>
          <a:effectLst/>
        </p:spPr>
        <p:txBody>
          <a:bodyPr wrap="square" lIns="0" tIns="0" rIns="0" bIns="0" anchor="t">
            <a:noAutofit/>
          </a:bodyPr>
          <a:lstStyle/>
          <a:p>
            <a:pPr algn="l">
              <a:lnSpc>
                <a:spcPct val="104000"/>
              </a:lnSpc>
              <a:spcBef>
                <a:spcPts val="0"/>
              </a:spcBef>
              <a:spcAft>
                <a:spcPts val="0"/>
              </a:spcAft>
              <a:defRPr sz="1120" b="0" i="0">
                <a:solidFill>
                  <a:srgbClr val="5D5B55"/>
                </a:solidFill>
                <a:latin typeface="Times New Roman" panose="02020603050405020304"/>
              </a:defRPr>
            </a:pPr>
            <a:r>
              <a:rPr sz="1120" b="0" i="0">
                <a:solidFill>
                  <a:srgbClr val="5D5B55"/>
                </a:solidFill>
                <a:latin typeface="Times New Roman" panose="02020603050405020304"/>
              </a:rPr>
              <a:t>Item: q01-55ea587e1ed2f1dc · Mechanism</a:t>
            </a:r>
            <a:endParaRPr sz="1120" b="0" i="0">
              <a:solidFill>
                <a:srgbClr val="5D5B55"/>
              </a:solidFill>
              <a:latin typeface="Times New Roman" panose="02020603050405020304"/>
            </a:endParaRPr>
          </a:p>
        </p:txBody>
      </p:sp>
      <p:sp>
        <p:nvSpPr>
          <p:cNvPr id="46" name="Source DOI"/>
          <p:cNvSpPr txBox="1"/>
          <p:nvPr/>
        </p:nvSpPr>
        <p:spPr>
          <a:xfrm>
            <a:off x="11375311" y="9445236"/>
            <a:ext cx="6486114" cy="196775"/>
          </a:xfrm>
          <a:prstGeom prst="rect">
            <a:avLst/>
          </a:prstGeom>
          <a:noFill/>
          <a:effectLst/>
        </p:spPr>
        <p:txBody>
          <a:bodyPr wrap="square" lIns="0" tIns="0" rIns="0" bIns="0" anchor="t">
            <a:noAutofit/>
          </a:bodyPr>
          <a:lstStyle/>
          <a:p>
            <a:pPr algn="r">
              <a:lnSpc>
                <a:spcPct val="104000"/>
              </a:lnSpc>
              <a:spcBef>
                <a:spcPts val="0"/>
              </a:spcBef>
              <a:spcAft>
                <a:spcPts val="0"/>
              </a:spcAft>
              <a:defRPr sz="1120" b="0" i="0">
                <a:solidFill>
                  <a:srgbClr val="5D5B55"/>
                </a:solidFill>
                <a:latin typeface="Times New Roman" panose="02020603050405020304"/>
              </a:defRPr>
            </a:pPr>
            <a:r>
              <a:rPr sz="1120" b="0" i="0">
                <a:solidFill>
                  <a:srgbClr val="5D5B55"/>
                </a:solidFill>
                <a:latin typeface="Times New Roman" panose="02020603050405020304"/>
              </a:rPr>
              <a:t>doi:10.7759/cureus.105678</a:t>
            </a:r>
            <a:endParaRPr sz="1120" b="0" i="0">
              <a:solidFill>
                <a:srgbClr val="5D5B55"/>
              </a:solidFill>
              <a:latin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BF8F1"/>
        </a:solidFill>
        <a:effectLst/>
      </p:bgPr>
    </p:bg>
    <p:spTree>
      <p:nvGrpSpPr>
        <p:cNvPr id="1" name=""/>
        <p:cNvGrpSpPr/>
        <p:nvPr/>
      </p:nvGrpSpPr>
      <p:grpSpPr/>
      <p:sp>
        <p:nvSpPr>
          <p:cNvPr id="2" name="Masthead gradient"/>
          <p:cNvSpPr/>
          <p:nvPr/>
        </p:nvSpPr>
        <p:spPr>
          <a:xfrm>
            <a:off x="0" y="0"/>
            <a:ext cx="18288000" cy="1530478"/>
          </a:xfrm>
          <a:prstGeom prst="rect">
            <a:avLst/>
          </a:prstGeom>
          <a:blipFill rotWithShape="1">
            <a:blip r:embed="rId1"/>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ain title"/>
          <p:cNvSpPr txBox="1"/>
          <p:nvPr/>
        </p:nvSpPr>
        <p:spPr>
          <a:xfrm>
            <a:off x="503138" y="163979"/>
            <a:ext cx="14656650" cy="830831"/>
          </a:xfrm>
          <a:prstGeom prst="rect">
            <a:avLst/>
          </a:prstGeom>
          <a:noFill/>
          <a:effectLst/>
        </p:spPr>
        <p:txBody>
          <a:bodyPr wrap="square" lIns="0" tIns="0" rIns="0" bIns="0" anchor="t">
            <a:noAutofit/>
          </a:bodyPr>
          <a:lstStyle/>
          <a:p>
            <a:pPr algn="l">
              <a:lnSpc>
                <a:spcPct val="104000"/>
              </a:lnSpc>
              <a:spcBef>
                <a:spcPts val="0"/>
              </a:spcBef>
              <a:spcAft>
                <a:spcPts val="0"/>
              </a:spcAft>
              <a:defRPr sz="5340" b="1" i="0">
                <a:solidFill>
                  <a:srgbClr val="FFFDFA"/>
                </a:solidFill>
                <a:latin typeface="Times New Roman" panose="02020603050405020304"/>
              </a:defRPr>
            </a:pPr>
            <a:r>
              <a:rPr sz="5340" b="1" i="0">
                <a:solidFill>
                  <a:srgbClr val="FFFDFA"/>
                </a:solidFill>
                <a:latin typeface="Times New Roman" panose="02020603050405020304"/>
              </a:rPr>
              <a:t>Medical Doctor’s Last Exam</a:t>
            </a:r>
            <a:endParaRPr sz="5340" b="1" i="0">
              <a:solidFill>
                <a:srgbClr val="FFFDFA"/>
              </a:solidFill>
              <a:latin typeface="Times New Roman" panose="02020603050405020304"/>
            </a:endParaRPr>
          </a:p>
        </p:txBody>
      </p:sp>
      <p:sp>
        <p:nvSpPr>
          <p:cNvPr id="4" name="Page subtitle"/>
          <p:cNvSpPr txBox="1"/>
          <p:nvPr/>
        </p:nvSpPr>
        <p:spPr>
          <a:xfrm>
            <a:off x="503138" y="951082"/>
            <a:ext cx="14711339" cy="513803"/>
          </a:xfrm>
          <a:prstGeom prst="rect">
            <a:avLst/>
          </a:prstGeom>
          <a:noFill/>
          <a:effectLst/>
        </p:spPr>
        <p:txBody>
          <a:bodyPr wrap="square" lIns="0" tIns="0" rIns="0" bIns="0" anchor="t">
            <a:noAutofit/>
          </a:bodyPr>
          <a:lstStyle/>
          <a:p>
            <a:pPr algn="l">
              <a:lnSpc>
                <a:spcPct val="104000"/>
              </a:lnSpc>
              <a:spcBef>
                <a:spcPts val="0"/>
              </a:spcBef>
              <a:spcAft>
                <a:spcPts val="0"/>
              </a:spcAft>
              <a:defRPr sz="2755" b="0" i="1">
                <a:solidFill>
                  <a:srgbClr val="FFFDFA"/>
                </a:solidFill>
                <a:latin typeface="Times New Roman" panose="02020603050405020304"/>
              </a:defRPr>
            </a:pPr>
            <a:r>
              <a:rPr sz="2755" b="0" i="1">
                <a:solidFill>
                  <a:srgbClr val="FFFDFA"/>
                </a:solidFill>
                <a:latin typeface="Times New Roman" panose="02020603050405020304"/>
              </a:rPr>
              <a:t>Case 03 · Connect the CT finding to the treatment failure</a:t>
            </a:r>
            <a:endParaRPr sz="2755" b="0" i="1">
              <a:solidFill>
                <a:srgbClr val="FFFDFA"/>
              </a:solidFill>
              <a:latin typeface="Times New Roman" panose="02020603050405020304"/>
            </a:endParaRPr>
          </a:p>
        </p:txBody>
      </p:sp>
      <p:sp>
        <p:nvSpPr>
          <p:cNvPr id="5" name="MDLE wordmark frame"/>
          <p:cNvSpPr/>
          <p:nvPr/>
        </p:nvSpPr>
        <p:spPr>
          <a:xfrm>
            <a:off x="16023875" y="242765"/>
            <a:ext cx="1782861" cy="1161052"/>
          </a:xfrm>
          <a:prstGeom prst="rect">
            <a:avLst/>
          </a:prstGeom>
          <a:noFill/>
          <a:ln w="10937">
            <a:solidFill>
              <a:srgbClr val="EADA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MDLE wordmark"/>
          <p:cNvSpPr txBox="1"/>
          <p:nvPr/>
        </p:nvSpPr>
        <p:spPr>
          <a:xfrm>
            <a:off x="16144191" y="411645"/>
            <a:ext cx="1542229" cy="833846"/>
          </a:xfrm>
          <a:prstGeom prst="rect">
            <a:avLst/>
          </a:prstGeom>
          <a:noFill/>
          <a:effectLst/>
        </p:spPr>
        <p:txBody>
          <a:bodyPr wrap="square" lIns="0" tIns="0" rIns="0" bIns="0" anchor="t">
            <a:noAutofit/>
          </a:bodyPr>
          <a:lstStyle/>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MEDICAL</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DOCTOR’S</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LAST EXAM</a:t>
            </a:r>
            <a:endParaRPr sz="1830" b="1" i="0">
              <a:solidFill>
                <a:srgbClr val="FFFDFA"/>
              </a:solidFill>
              <a:latin typeface="Times New Roman" panose="02020603050405020304"/>
            </a:endParaRPr>
          </a:p>
        </p:txBody>
      </p:sp>
      <p:sp>
        <p:nvSpPr>
          <p:cNvPr id="7" name="Footer gradient"/>
          <p:cNvSpPr/>
          <p:nvPr/>
        </p:nvSpPr>
        <p:spPr>
          <a:xfrm>
            <a:off x="0" y="9663876"/>
            <a:ext cx="18288000" cy="623123"/>
          </a:xfrm>
          <a:prstGeom prst="rect">
            <a:avLst/>
          </a:prstGeom>
          <a:blipFill rotWithShape="1">
            <a:blip r:embed="rId2"/>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Footer left rule"/>
          <p:cNvCxnSpPr/>
          <p:nvPr/>
        </p:nvCxnSpPr>
        <p:spPr>
          <a:xfrm>
            <a:off x="2275062" y="9975438"/>
            <a:ext cx="2811014"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9" name="Footer left diamond"/>
          <p:cNvSpPr/>
          <p:nvPr/>
        </p:nvSpPr>
        <p:spPr>
          <a:xfrm>
            <a:off x="5173578" y="9909846"/>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Footer right rule"/>
          <p:cNvCxnSpPr/>
          <p:nvPr/>
        </p:nvCxnSpPr>
        <p:spPr>
          <a:xfrm>
            <a:off x="13136296" y="9975438"/>
            <a:ext cx="2887579"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 name="Footer right diamond"/>
          <p:cNvSpPr/>
          <p:nvPr/>
        </p:nvSpPr>
        <p:spPr>
          <a:xfrm>
            <a:off x="12928478" y="9909846"/>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ooter tagline"/>
          <p:cNvSpPr txBox="1"/>
          <p:nvPr/>
        </p:nvSpPr>
        <p:spPr>
          <a:xfrm>
            <a:off x="5665779" y="9773196"/>
            <a:ext cx="7109569"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495" b="0" i="1">
                <a:solidFill>
                  <a:srgbClr val="FFFDFA"/>
                </a:solidFill>
                <a:latin typeface="Times New Roman" panose="02020603050405020304"/>
              </a:defRPr>
            </a:pPr>
            <a:r>
              <a:rPr sz="2495" b="0" i="1">
                <a:solidFill>
                  <a:srgbClr val="FFFDFA"/>
                </a:solidFill>
                <a:latin typeface="Times New Roman" panose="02020603050405020304"/>
              </a:rPr>
              <a:t>A living benchmark for next-generation medical AI</a:t>
            </a:r>
            <a:endParaRPr sz="2495" b="0" i="1">
              <a:solidFill>
                <a:srgbClr val="FFFDFA"/>
              </a:solidFill>
              <a:latin typeface="Times New Roman" panose="02020603050405020304"/>
            </a:endParaRPr>
          </a:p>
        </p:txBody>
      </p:sp>
      <p:sp>
        <p:nvSpPr>
          <p:cNvPr id="13" name="Case reference answer band"/>
          <p:cNvSpPr/>
          <p:nvPr/>
        </p:nvSpPr>
        <p:spPr>
          <a:xfrm>
            <a:off x="393760" y="1683526"/>
            <a:ext cx="17500478" cy="1027606"/>
          </a:xfrm>
          <a:prstGeom prst="roundRect">
            <a:avLst>
              <a:gd name="adj" fmla="val 4000"/>
            </a:avLst>
          </a:prstGeom>
          <a:solidFill>
            <a:srgbClr val="F0F3E9"/>
          </a:solidFill>
          <a:ln w="10937">
            <a:solidFill>
              <a:srgbClr val="A6B8A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ference answer label"/>
          <p:cNvSpPr txBox="1"/>
          <p:nvPr/>
        </p:nvSpPr>
        <p:spPr>
          <a:xfrm>
            <a:off x="645330" y="1792845"/>
            <a:ext cx="16406698" cy="306095"/>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BENCHMARK REFERENCE</a:t>
            </a:r>
            <a:endParaRPr sz="1980" b="1" i="0">
              <a:solidFill>
                <a:srgbClr val="124936"/>
              </a:solidFill>
              <a:latin typeface="Times New Roman" panose="02020603050405020304"/>
            </a:endParaRPr>
          </a:p>
        </p:txBody>
      </p:sp>
      <p:sp>
        <p:nvSpPr>
          <p:cNvPr id="15" name="Reference answer summary"/>
          <p:cNvSpPr txBox="1"/>
          <p:nvPr/>
        </p:nvSpPr>
        <p:spPr>
          <a:xfrm>
            <a:off x="645330" y="2142669"/>
            <a:ext cx="16723894" cy="470075"/>
          </a:xfrm>
          <a:prstGeom prst="rect">
            <a:avLst/>
          </a:prstGeom>
          <a:noFill/>
          <a:effectLst/>
        </p:spPr>
        <p:txBody>
          <a:bodyPr wrap="square" lIns="0" tIns="0" rIns="0" bIns="0" anchor="t">
            <a:noAutofit/>
          </a:bodyPr>
          <a:lstStyle/>
          <a:p>
            <a:pPr algn="l">
              <a:lnSpc>
                <a:spcPct val="104000"/>
              </a:lnSpc>
              <a:spcBef>
                <a:spcPts val="0"/>
              </a:spcBef>
              <a:spcAft>
                <a:spcPts val="0"/>
              </a:spcAft>
              <a:defRPr sz="2930" b="1" i="0">
                <a:solidFill>
                  <a:srgbClr val="124936"/>
                </a:solidFill>
                <a:latin typeface="Times New Roman" panose="02020603050405020304"/>
              </a:defRPr>
            </a:pPr>
            <a:r>
              <a:rPr sz="2930" b="1" i="0">
                <a:solidFill>
                  <a:srgbClr val="124936"/>
                </a:solidFill>
                <a:latin typeface="Times New Roman" panose="02020603050405020304"/>
              </a:rPr>
              <a:t>Malignant cardiac encasement causes fixed mechanical restriction.</a:t>
            </a:r>
            <a:endParaRPr sz="2930" b="1" i="0">
              <a:solidFill>
                <a:srgbClr val="124936"/>
              </a:solidFill>
              <a:latin typeface="Times New Roman" panose="02020603050405020304"/>
            </a:endParaRPr>
          </a:p>
        </p:txBody>
      </p:sp>
      <p:sp>
        <p:nvSpPr>
          <p:cNvPr id="16" name="Reference reasoning panel"/>
          <p:cNvSpPr/>
          <p:nvPr/>
        </p:nvSpPr>
        <p:spPr>
          <a:xfrm>
            <a:off x="393760" y="2886044"/>
            <a:ext cx="8629923" cy="5094306"/>
          </a:xfrm>
          <a:prstGeom prst="roundRect">
            <a:avLst>
              <a:gd name="adj" fmla="val 25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LINK THE TWO SOURCES OF EVIDENCE heading"/>
          <p:cNvSpPr txBox="1"/>
          <p:nvPr/>
        </p:nvSpPr>
        <p:spPr>
          <a:xfrm>
            <a:off x="612516" y="2973500"/>
            <a:ext cx="8192411"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LINK THE TWO SOURCES OF EVIDENCE</a:t>
            </a:r>
            <a:endParaRPr sz="2325" b="1" i="0">
              <a:solidFill>
                <a:srgbClr val="124936"/>
              </a:solidFill>
              <a:latin typeface="Times New Roman" panose="02020603050405020304"/>
            </a:endParaRPr>
          </a:p>
        </p:txBody>
      </p:sp>
      <p:cxnSp>
        <p:nvCxnSpPr>
          <p:cNvPr id="18" name="LINK THE TWO SOURCES OF EVIDENCE rule left"/>
          <p:cNvCxnSpPr/>
          <p:nvPr/>
        </p:nvCxnSpPr>
        <p:spPr>
          <a:xfrm>
            <a:off x="634392" y="3410780"/>
            <a:ext cx="3943076"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19" name="LINK THE TWO SOURCES OF EVIDENCE rule right"/>
          <p:cNvCxnSpPr/>
          <p:nvPr/>
        </p:nvCxnSpPr>
        <p:spPr>
          <a:xfrm>
            <a:off x="4839976" y="3410780"/>
            <a:ext cx="3943076"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20" name="LINK THE TWO SOURCES OF EVIDENCE rule diamond"/>
          <p:cNvSpPr/>
          <p:nvPr/>
        </p:nvSpPr>
        <p:spPr>
          <a:xfrm>
            <a:off x="4648564" y="3350654"/>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CT: an encasing mass marker"/>
          <p:cNvSpPr/>
          <p:nvPr/>
        </p:nvSpPr>
        <p:spPr>
          <a:xfrm>
            <a:off x="623454" y="3629419"/>
            <a:ext cx="470325" cy="470075"/>
          </a:xfrm>
          <a:prstGeom prst="ellipse">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T: an encasing mass number"/>
          <p:cNvSpPr txBox="1"/>
          <p:nvPr/>
        </p:nvSpPr>
        <p:spPr>
          <a:xfrm>
            <a:off x="678143" y="3673147"/>
            <a:ext cx="360947" cy="349823"/>
          </a:xfrm>
          <a:prstGeom prst="rect">
            <a:avLst/>
          </a:prstGeom>
          <a:noFill/>
          <a:effectLst/>
        </p:spPr>
        <p:txBody>
          <a:bodyPr wrap="square" lIns="0" tIns="0" rIns="0" bIns="0" anchor="t">
            <a:noAutofit/>
          </a:bodyPr>
          <a:lstStyle/>
          <a:p>
            <a:pPr algn="ctr">
              <a:lnSpc>
                <a:spcPct val="104000"/>
              </a:lnSpc>
              <a:spcBef>
                <a:spcPts val="0"/>
              </a:spcBef>
              <a:spcAft>
                <a:spcPts val="0"/>
              </a:spcAft>
              <a:defRPr sz="2240" b="1" i="0">
                <a:solidFill>
                  <a:srgbClr val="FFFDFA"/>
                </a:solidFill>
                <a:latin typeface="Times New Roman" panose="02020603050405020304"/>
              </a:defRPr>
            </a:pPr>
            <a:r>
              <a:rPr sz="2240" b="1" i="0">
                <a:solidFill>
                  <a:srgbClr val="FFFDFA"/>
                </a:solidFill>
                <a:latin typeface="Times New Roman" panose="02020603050405020304"/>
              </a:rPr>
              <a:t>1</a:t>
            </a:r>
            <a:endParaRPr sz="2240" b="1" i="0">
              <a:solidFill>
                <a:srgbClr val="FFFDFA"/>
              </a:solidFill>
              <a:latin typeface="Times New Roman" panose="02020603050405020304"/>
            </a:endParaRPr>
          </a:p>
        </p:txBody>
      </p:sp>
      <p:sp>
        <p:nvSpPr>
          <p:cNvPr id="23" name="CT: an encasing mass"/>
          <p:cNvSpPr txBox="1"/>
          <p:nvPr/>
        </p:nvSpPr>
        <p:spPr>
          <a:xfrm>
            <a:off x="1312535" y="3596623"/>
            <a:ext cx="7393952" cy="393551"/>
          </a:xfrm>
          <a:prstGeom prst="rect">
            <a:avLst/>
          </a:prstGeom>
          <a:noFill/>
          <a:effectLst/>
        </p:spPr>
        <p:txBody>
          <a:bodyPr wrap="square" lIns="0" tIns="0" rIns="0" bIns="0" anchor="t">
            <a:noAutofit/>
          </a:bodyPr>
          <a:lstStyle/>
          <a:p>
            <a:pPr algn="l">
              <a:lnSpc>
                <a:spcPct val="104000"/>
              </a:lnSpc>
              <a:spcBef>
                <a:spcPts val="0"/>
              </a:spcBef>
              <a:spcAft>
                <a:spcPts val="0"/>
              </a:spcAft>
              <a:defRPr sz="2410" b="1" i="0">
                <a:solidFill>
                  <a:srgbClr val="124936"/>
                </a:solidFill>
                <a:latin typeface="Times New Roman" panose="02020603050405020304"/>
              </a:defRPr>
            </a:pPr>
            <a:r>
              <a:rPr sz="2410" b="1" i="0">
                <a:solidFill>
                  <a:srgbClr val="124936"/>
                </a:solidFill>
                <a:latin typeface="Times New Roman" panose="02020603050405020304"/>
              </a:rPr>
              <a:t>CT: an encasing mass</a:t>
            </a:r>
            <a:endParaRPr sz="2410" b="1" i="0">
              <a:solidFill>
                <a:srgbClr val="124936"/>
              </a:solidFill>
              <a:latin typeface="Times New Roman" panose="02020603050405020304"/>
            </a:endParaRPr>
          </a:p>
        </p:txBody>
      </p:sp>
      <p:sp>
        <p:nvSpPr>
          <p:cNvPr id="24" name="CT: an encasing mass explanation"/>
          <p:cNvSpPr txBox="1"/>
          <p:nvPr/>
        </p:nvSpPr>
        <p:spPr>
          <a:xfrm>
            <a:off x="1312535" y="4022971"/>
            <a:ext cx="7393952" cy="754307"/>
          </a:xfrm>
          <a:prstGeom prst="rect">
            <a:avLst/>
          </a:prstGeom>
          <a:noFill/>
          <a:effectLst/>
        </p:spPr>
        <p:txBody>
          <a:bodyPr wrap="square" lIns="0" tIns="0" rIns="0" bIns="0" anchor="t">
            <a:noAutofit/>
          </a:bodyPr>
          <a:lstStyle/>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Tumor infiltrates the pericardium and is</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inseparable from adjacent epicardial fat.</a:t>
            </a:r>
            <a:endParaRPr sz="2155" b="0" i="0">
              <a:solidFill>
                <a:srgbClr val="10243C"/>
              </a:solidFill>
              <a:latin typeface="Times New Roman" panose="02020603050405020304"/>
            </a:endParaRPr>
          </a:p>
        </p:txBody>
      </p:sp>
      <p:sp>
        <p:nvSpPr>
          <p:cNvPr id="25" name="Physiology: an external constraint marker"/>
          <p:cNvSpPr/>
          <p:nvPr/>
        </p:nvSpPr>
        <p:spPr>
          <a:xfrm>
            <a:off x="623454" y="4930326"/>
            <a:ext cx="470325" cy="470075"/>
          </a:xfrm>
          <a:prstGeom prst="ellipse">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Physiology: an external constraint number"/>
          <p:cNvSpPr txBox="1"/>
          <p:nvPr/>
        </p:nvSpPr>
        <p:spPr>
          <a:xfrm>
            <a:off x="678143" y="4974054"/>
            <a:ext cx="360947" cy="349823"/>
          </a:xfrm>
          <a:prstGeom prst="rect">
            <a:avLst/>
          </a:prstGeom>
          <a:noFill/>
          <a:effectLst/>
        </p:spPr>
        <p:txBody>
          <a:bodyPr wrap="square" lIns="0" tIns="0" rIns="0" bIns="0" anchor="t">
            <a:noAutofit/>
          </a:bodyPr>
          <a:lstStyle/>
          <a:p>
            <a:pPr algn="ctr">
              <a:lnSpc>
                <a:spcPct val="104000"/>
              </a:lnSpc>
              <a:spcBef>
                <a:spcPts val="0"/>
              </a:spcBef>
              <a:spcAft>
                <a:spcPts val="0"/>
              </a:spcAft>
              <a:defRPr sz="2240" b="1" i="0">
                <a:solidFill>
                  <a:srgbClr val="FFFDFA"/>
                </a:solidFill>
                <a:latin typeface="Times New Roman" panose="02020603050405020304"/>
              </a:defRPr>
            </a:pPr>
            <a:r>
              <a:rPr sz="2240" b="1" i="0">
                <a:solidFill>
                  <a:srgbClr val="FFFDFA"/>
                </a:solidFill>
                <a:latin typeface="Times New Roman" panose="02020603050405020304"/>
              </a:rPr>
              <a:t>2</a:t>
            </a:r>
            <a:endParaRPr sz="2240" b="1" i="0">
              <a:solidFill>
                <a:srgbClr val="FFFDFA"/>
              </a:solidFill>
              <a:latin typeface="Times New Roman" panose="02020603050405020304"/>
            </a:endParaRPr>
          </a:p>
        </p:txBody>
      </p:sp>
      <p:sp>
        <p:nvSpPr>
          <p:cNvPr id="27" name="Physiology: an external constraint"/>
          <p:cNvSpPr txBox="1"/>
          <p:nvPr/>
        </p:nvSpPr>
        <p:spPr>
          <a:xfrm>
            <a:off x="1312535" y="4897530"/>
            <a:ext cx="7393952" cy="393551"/>
          </a:xfrm>
          <a:prstGeom prst="rect">
            <a:avLst/>
          </a:prstGeom>
          <a:noFill/>
          <a:effectLst/>
        </p:spPr>
        <p:txBody>
          <a:bodyPr wrap="square" lIns="0" tIns="0" rIns="0" bIns="0" anchor="t">
            <a:noAutofit/>
          </a:bodyPr>
          <a:lstStyle/>
          <a:p>
            <a:pPr algn="l">
              <a:lnSpc>
                <a:spcPct val="104000"/>
              </a:lnSpc>
              <a:spcBef>
                <a:spcPts val="0"/>
              </a:spcBef>
              <a:spcAft>
                <a:spcPts val="0"/>
              </a:spcAft>
              <a:defRPr sz="2410" b="1" i="0">
                <a:solidFill>
                  <a:srgbClr val="124936"/>
                </a:solidFill>
                <a:latin typeface="Times New Roman" panose="02020603050405020304"/>
              </a:defRPr>
            </a:pPr>
            <a:r>
              <a:rPr sz="2410" b="1" i="0">
                <a:solidFill>
                  <a:srgbClr val="124936"/>
                </a:solidFill>
                <a:latin typeface="Times New Roman" panose="02020603050405020304"/>
              </a:rPr>
              <a:t>Physiology: an external constraint</a:t>
            </a:r>
            <a:endParaRPr sz="2410" b="1" i="0">
              <a:solidFill>
                <a:srgbClr val="124936"/>
              </a:solidFill>
              <a:latin typeface="Times New Roman" panose="02020603050405020304"/>
            </a:endParaRPr>
          </a:p>
        </p:txBody>
      </p:sp>
      <p:sp>
        <p:nvSpPr>
          <p:cNvPr id="28" name="Physiology: an external constraint explanation"/>
          <p:cNvSpPr txBox="1"/>
          <p:nvPr/>
        </p:nvSpPr>
        <p:spPr>
          <a:xfrm>
            <a:off x="1312535" y="5323877"/>
            <a:ext cx="7393952" cy="754307"/>
          </a:xfrm>
          <a:prstGeom prst="rect">
            <a:avLst/>
          </a:prstGeom>
          <a:noFill/>
          <a:effectLst/>
        </p:spPr>
        <p:txBody>
          <a:bodyPr wrap="square" lIns="0" tIns="0" rIns="0" bIns="0" anchor="t">
            <a:noAutofit/>
          </a:bodyPr>
          <a:lstStyle/>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The non-compliant tumor mass restricts</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cardiac filling and produces constrictive physiology.</a:t>
            </a:r>
            <a:endParaRPr sz="2155" b="0" i="0">
              <a:solidFill>
                <a:srgbClr val="10243C"/>
              </a:solidFill>
              <a:latin typeface="Times New Roman" panose="02020603050405020304"/>
            </a:endParaRPr>
          </a:p>
        </p:txBody>
      </p:sp>
      <p:sp>
        <p:nvSpPr>
          <p:cNvPr id="29" name="Course: anti-inflammatory failure marker"/>
          <p:cNvSpPr/>
          <p:nvPr/>
        </p:nvSpPr>
        <p:spPr>
          <a:xfrm>
            <a:off x="623454" y="6231232"/>
            <a:ext cx="470325" cy="470075"/>
          </a:xfrm>
          <a:prstGeom prst="ellipse">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Course: anti-inflammatory failure number"/>
          <p:cNvSpPr txBox="1"/>
          <p:nvPr/>
        </p:nvSpPr>
        <p:spPr>
          <a:xfrm>
            <a:off x="678143" y="6274960"/>
            <a:ext cx="360947" cy="349823"/>
          </a:xfrm>
          <a:prstGeom prst="rect">
            <a:avLst/>
          </a:prstGeom>
          <a:noFill/>
          <a:effectLst/>
        </p:spPr>
        <p:txBody>
          <a:bodyPr wrap="square" lIns="0" tIns="0" rIns="0" bIns="0" anchor="t">
            <a:noAutofit/>
          </a:bodyPr>
          <a:lstStyle/>
          <a:p>
            <a:pPr algn="ctr">
              <a:lnSpc>
                <a:spcPct val="104000"/>
              </a:lnSpc>
              <a:spcBef>
                <a:spcPts val="0"/>
              </a:spcBef>
              <a:spcAft>
                <a:spcPts val="0"/>
              </a:spcAft>
              <a:defRPr sz="2240" b="1" i="0">
                <a:solidFill>
                  <a:srgbClr val="FFFDFA"/>
                </a:solidFill>
                <a:latin typeface="Times New Roman" panose="02020603050405020304"/>
              </a:defRPr>
            </a:pPr>
            <a:r>
              <a:rPr sz="2240" b="1" i="0">
                <a:solidFill>
                  <a:srgbClr val="FFFDFA"/>
                </a:solidFill>
                <a:latin typeface="Times New Roman" panose="02020603050405020304"/>
              </a:rPr>
              <a:t>3</a:t>
            </a:r>
            <a:endParaRPr sz="2240" b="1" i="0">
              <a:solidFill>
                <a:srgbClr val="FFFDFA"/>
              </a:solidFill>
              <a:latin typeface="Times New Roman" panose="02020603050405020304"/>
            </a:endParaRPr>
          </a:p>
        </p:txBody>
      </p:sp>
      <p:sp>
        <p:nvSpPr>
          <p:cNvPr id="31" name="Course: anti-inflammatory failure"/>
          <p:cNvSpPr txBox="1"/>
          <p:nvPr/>
        </p:nvSpPr>
        <p:spPr>
          <a:xfrm>
            <a:off x="1312535" y="6198436"/>
            <a:ext cx="7393952" cy="393551"/>
          </a:xfrm>
          <a:prstGeom prst="rect">
            <a:avLst/>
          </a:prstGeom>
          <a:noFill/>
          <a:effectLst/>
        </p:spPr>
        <p:txBody>
          <a:bodyPr wrap="square" lIns="0" tIns="0" rIns="0" bIns="0" anchor="t">
            <a:noAutofit/>
          </a:bodyPr>
          <a:lstStyle/>
          <a:p>
            <a:pPr algn="l">
              <a:lnSpc>
                <a:spcPct val="104000"/>
              </a:lnSpc>
              <a:spcBef>
                <a:spcPts val="0"/>
              </a:spcBef>
              <a:spcAft>
                <a:spcPts val="0"/>
              </a:spcAft>
              <a:defRPr sz="2410" b="1" i="0">
                <a:solidFill>
                  <a:srgbClr val="124936"/>
                </a:solidFill>
                <a:latin typeface="Times New Roman" panose="02020603050405020304"/>
              </a:defRPr>
            </a:pPr>
            <a:r>
              <a:rPr sz="2410" b="1" i="0">
                <a:solidFill>
                  <a:srgbClr val="124936"/>
                </a:solidFill>
                <a:latin typeface="Times New Roman" panose="02020603050405020304"/>
              </a:rPr>
              <a:t>Course: anti-inflammatory failure</a:t>
            </a:r>
            <a:endParaRPr sz="2410" b="1" i="0">
              <a:solidFill>
                <a:srgbClr val="124936"/>
              </a:solidFill>
              <a:latin typeface="Times New Roman" panose="02020603050405020304"/>
            </a:endParaRPr>
          </a:p>
        </p:txBody>
      </p:sp>
      <p:sp>
        <p:nvSpPr>
          <p:cNvPr id="32" name="Course: anti-inflammatory failure explanation"/>
          <p:cNvSpPr txBox="1"/>
          <p:nvPr/>
        </p:nvSpPr>
        <p:spPr>
          <a:xfrm>
            <a:off x="1312535" y="6624784"/>
            <a:ext cx="7393952" cy="754307"/>
          </a:xfrm>
          <a:prstGeom prst="rect">
            <a:avLst/>
          </a:prstGeom>
          <a:noFill/>
          <a:effectLst/>
        </p:spPr>
        <p:txBody>
          <a:bodyPr wrap="square" lIns="0" tIns="0" rIns="0" bIns="0" anchor="t">
            <a:noAutofit/>
          </a:bodyPr>
          <a:lstStyle/>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Steroids and colchicine do not remove the</a:t>
            </a:r>
            <a:endParaRPr sz="2155" b="0" i="0">
              <a:solidFill>
                <a:srgbClr val="10243C"/>
              </a:solidFill>
              <a:latin typeface="Times New Roman" panose="02020603050405020304"/>
            </a:endParaRPr>
          </a:p>
          <a:p>
            <a:pPr algn="l">
              <a:lnSpc>
                <a:spcPct val="104000"/>
              </a:lnSpc>
              <a:spcBef>
                <a:spcPts val="0"/>
              </a:spcBef>
              <a:spcAft>
                <a:spcPts val="0"/>
              </a:spcAft>
              <a:defRPr sz="2155" b="0" i="0">
                <a:solidFill>
                  <a:srgbClr val="10243C"/>
                </a:solidFill>
                <a:latin typeface="Times New Roman" panose="02020603050405020304"/>
              </a:defRPr>
            </a:pPr>
            <a:r>
              <a:rPr sz="2155" b="0" i="0">
                <a:solidFill>
                  <a:srgbClr val="10243C"/>
                </a:solidFill>
                <a:latin typeface="Times New Roman" panose="02020603050405020304"/>
              </a:rPr>
              <a:t>fixed mechanical restriction imposed by tumor.</a:t>
            </a:r>
            <a:endParaRPr sz="2155" b="0" i="0">
              <a:solidFill>
                <a:srgbClr val="10243C"/>
              </a:solidFill>
              <a:latin typeface="Times New Roman" panose="02020603050405020304"/>
            </a:endParaRPr>
          </a:p>
        </p:txBody>
      </p:sp>
      <p:sp>
        <p:nvSpPr>
          <p:cNvPr id="33" name="Reasoning takeaway"/>
          <p:cNvSpPr txBox="1"/>
          <p:nvPr/>
        </p:nvSpPr>
        <p:spPr>
          <a:xfrm>
            <a:off x="634392" y="7619595"/>
            <a:ext cx="8137722" cy="306095"/>
          </a:xfrm>
          <a:prstGeom prst="rect">
            <a:avLst/>
          </a:prstGeom>
          <a:noFill/>
          <a:effectLst/>
        </p:spPr>
        <p:txBody>
          <a:bodyPr wrap="square" lIns="0" tIns="0" rIns="0" bIns="0" anchor="t">
            <a:noAutofit/>
          </a:bodyPr>
          <a:lstStyle/>
          <a:p>
            <a:pPr algn="ctr">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Interpret the CT and the treatment course together.</a:t>
            </a:r>
            <a:endParaRPr sz="1980" b="1" i="0">
              <a:solidFill>
                <a:srgbClr val="124936"/>
              </a:solidFill>
              <a:latin typeface="Times New Roman" panose="02020603050405020304"/>
            </a:endParaRPr>
          </a:p>
        </p:txBody>
      </p:sp>
      <p:sp>
        <p:nvSpPr>
          <p:cNvPr id="34" name="Historical model evidence panel"/>
          <p:cNvSpPr/>
          <p:nvPr/>
        </p:nvSpPr>
        <p:spPr>
          <a:xfrm>
            <a:off x="9231502" y="2886044"/>
            <a:ext cx="8662736" cy="5094306"/>
          </a:xfrm>
          <a:prstGeom prst="roundRect">
            <a:avLst>
              <a:gd name="adj" fmla="val 2500"/>
            </a:avLst>
          </a:prstGeom>
          <a:solidFill>
            <a:srgbClr val="FFFDFA"/>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HISTORICAL MODEL EVIDENCE heading"/>
          <p:cNvSpPr txBox="1"/>
          <p:nvPr/>
        </p:nvSpPr>
        <p:spPr>
          <a:xfrm>
            <a:off x="9450258" y="2973500"/>
            <a:ext cx="8225224"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831C20"/>
                </a:solidFill>
                <a:latin typeface="Times New Roman" panose="02020603050405020304"/>
              </a:defRPr>
            </a:pPr>
            <a:r>
              <a:rPr sz="2325" b="1" i="0">
                <a:solidFill>
                  <a:srgbClr val="831C20"/>
                </a:solidFill>
                <a:latin typeface="Times New Roman" panose="02020603050405020304"/>
              </a:rPr>
              <a:t>HISTORICAL MODEL EVIDENCE</a:t>
            </a:r>
            <a:endParaRPr sz="2325" b="1" i="0">
              <a:solidFill>
                <a:srgbClr val="831C20"/>
              </a:solidFill>
              <a:latin typeface="Times New Roman" panose="02020603050405020304"/>
            </a:endParaRPr>
          </a:p>
        </p:txBody>
      </p:sp>
      <p:cxnSp>
        <p:nvCxnSpPr>
          <p:cNvPr id="36" name="HISTORICAL MODEL EVIDENCE rule left"/>
          <p:cNvCxnSpPr/>
          <p:nvPr/>
        </p:nvCxnSpPr>
        <p:spPr>
          <a:xfrm>
            <a:off x="9472133" y="3410780"/>
            <a:ext cx="3959484"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37" name="HISTORICAL MODEL EVIDENCE rule right"/>
          <p:cNvCxnSpPr/>
          <p:nvPr/>
        </p:nvCxnSpPr>
        <p:spPr>
          <a:xfrm>
            <a:off x="13694124" y="3410780"/>
            <a:ext cx="3959483"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38" name="HISTORICAL MODEL EVIDENCE rule diamond"/>
          <p:cNvSpPr/>
          <p:nvPr/>
        </p:nvSpPr>
        <p:spPr>
          <a:xfrm>
            <a:off x="13502712" y="3350654"/>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Gemini 3.1 Pro Preview score card"/>
          <p:cNvSpPr/>
          <p:nvPr/>
        </p:nvSpPr>
        <p:spPr>
          <a:xfrm>
            <a:off x="9450258" y="3563827"/>
            <a:ext cx="3992296" cy="863626"/>
          </a:xfrm>
          <a:prstGeom prst="roundRect">
            <a:avLst>
              <a:gd name="adj" fmla="val 3500"/>
            </a:avLst>
          </a:prstGeom>
          <a:solidFill>
            <a:srgbClr val="F6F4EE"/>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Gemini 3.1 Pro Preview model label"/>
          <p:cNvSpPr txBox="1"/>
          <p:nvPr/>
        </p:nvSpPr>
        <p:spPr>
          <a:xfrm>
            <a:off x="9559636" y="3651283"/>
            <a:ext cx="3773540" cy="317027"/>
          </a:xfrm>
          <a:prstGeom prst="rect">
            <a:avLst/>
          </a:prstGeom>
          <a:noFill/>
          <a:effectLst/>
        </p:spPr>
        <p:txBody>
          <a:bodyPr wrap="square" lIns="0" tIns="0" rIns="0" bIns="0" anchor="t">
            <a:noAutofit/>
          </a:bodyPr>
          <a:lstStyle/>
          <a:p>
            <a:pPr algn="ctr">
              <a:lnSpc>
                <a:spcPct val="104000"/>
              </a:lnSpc>
              <a:spcBef>
                <a:spcPts val="0"/>
              </a:spcBef>
              <a:spcAft>
                <a:spcPts val="0"/>
              </a:spcAft>
              <a:defRPr sz="1980" b="1" i="0">
                <a:solidFill>
                  <a:srgbClr val="10243C"/>
                </a:solidFill>
                <a:latin typeface="Times New Roman" panose="02020603050405020304"/>
              </a:defRPr>
            </a:pPr>
            <a:r>
              <a:rPr sz="1980" b="1" i="0">
                <a:solidFill>
                  <a:srgbClr val="10243C"/>
                </a:solidFill>
                <a:latin typeface="Times New Roman" panose="02020603050405020304"/>
              </a:rPr>
              <a:t>Gemini 3.1 Pro Preview</a:t>
            </a:r>
            <a:endParaRPr sz="1980" b="1" i="0">
              <a:solidFill>
                <a:srgbClr val="10243C"/>
              </a:solidFill>
              <a:latin typeface="Times New Roman" panose="02020603050405020304"/>
            </a:endParaRPr>
          </a:p>
        </p:txBody>
      </p:sp>
      <p:sp>
        <p:nvSpPr>
          <p:cNvPr id="41" name="Gemini 3.1 Pro Preview score"/>
          <p:cNvSpPr txBox="1"/>
          <p:nvPr/>
        </p:nvSpPr>
        <p:spPr>
          <a:xfrm>
            <a:off x="9559636" y="3968311"/>
            <a:ext cx="3773540"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755" b="1" i="0">
                <a:solidFill>
                  <a:srgbClr val="831C20"/>
                </a:solidFill>
                <a:latin typeface="Times New Roman" panose="02020603050405020304"/>
              </a:defRPr>
            </a:pPr>
            <a:r>
              <a:rPr sz="2755" b="1" i="0">
                <a:solidFill>
                  <a:srgbClr val="831C20"/>
                </a:solidFill>
                <a:latin typeface="Times New Roman" panose="02020603050405020304"/>
              </a:rPr>
              <a:t>0 / 10</a:t>
            </a:r>
            <a:endParaRPr sz="2755" b="1" i="0">
              <a:solidFill>
                <a:srgbClr val="831C20"/>
              </a:solidFill>
              <a:latin typeface="Times New Roman" panose="02020603050405020304"/>
            </a:endParaRPr>
          </a:p>
        </p:txBody>
      </p:sp>
      <p:sp>
        <p:nvSpPr>
          <p:cNvPr id="42" name="Claude Opus 5 score card"/>
          <p:cNvSpPr/>
          <p:nvPr/>
        </p:nvSpPr>
        <p:spPr>
          <a:xfrm>
            <a:off x="13672248" y="3563827"/>
            <a:ext cx="3992296" cy="863626"/>
          </a:xfrm>
          <a:prstGeom prst="roundRect">
            <a:avLst>
              <a:gd name="adj" fmla="val 3500"/>
            </a:avLst>
          </a:prstGeom>
          <a:solidFill>
            <a:srgbClr val="F6F4EE"/>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Claude Opus 5 model label"/>
          <p:cNvSpPr txBox="1"/>
          <p:nvPr/>
        </p:nvSpPr>
        <p:spPr>
          <a:xfrm>
            <a:off x="13781626" y="3651283"/>
            <a:ext cx="3773540" cy="317027"/>
          </a:xfrm>
          <a:prstGeom prst="rect">
            <a:avLst/>
          </a:prstGeom>
          <a:noFill/>
          <a:effectLst/>
        </p:spPr>
        <p:txBody>
          <a:bodyPr wrap="square" lIns="0" tIns="0" rIns="0" bIns="0" anchor="t">
            <a:noAutofit/>
          </a:bodyPr>
          <a:lstStyle/>
          <a:p>
            <a:pPr algn="ctr">
              <a:lnSpc>
                <a:spcPct val="104000"/>
              </a:lnSpc>
              <a:spcBef>
                <a:spcPts val="0"/>
              </a:spcBef>
              <a:spcAft>
                <a:spcPts val="0"/>
              </a:spcAft>
              <a:defRPr sz="1980" b="1" i="0">
                <a:solidFill>
                  <a:srgbClr val="10243C"/>
                </a:solidFill>
                <a:latin typeface="Times New Roman" panose="02020603050405020304"/>
              </a:defRPr>
            </a:pPr>
            <a:r>
              <a:rPr sz="1980" b="1" i="0">
                <a:solidFill>
                  <a:srgbClr val="10243C"/>
                </a:solidFill>
                <a:latin typeface="Times New Roman" panose="02020603050405020304"/>
              </a:rPr>
              <a:t>Claude Opus 5</a:t>
            </a:r>
            <a:endParaRPr sz="1980" b="1" i="0">
              <a:solidFill>
                <a:srgbClr val="10243C"/>
              </a:solidFill>
              <a:latin typeface="Times New Roman" panose="02020603050405020304"/>
            </a:endParaRPr>
          </a:p>
        </p:txBody>
      </p:sp>
      <p:sp>
        <p:nvSpPr>
          <p:cNvPr id="44" name="Claude Opus 5 score"/>
          <p:cNvSpPr txBox="1"/>
          <p:nvPr/>
        </p:nvSpPr>
        <p:spPr>
          <a:xfrm>
            <a:off x="13781626" y="3968311"/>
            <a:ext cx="3773540"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755" b="1" i="0">
                <a:solidFill>
                  <a:srgbClr val="831C20"/>
                </a:solidFill>
                <a:latin typeface="Times New Roman" panose="02020603050405020304"/>
              </a:defRPr>
            </a:pPr>
            <a:r>
              <a:rPr sz="2755" b="1" i="0">
                <a:solidFill>
                  <a:srgbClr val="831C20"/>
                </a:solidFill>
                <a:latin typeface="Times New Roman" panose="02020603050405020304"/>
              </a:rPr>
              <a:t>3 / 10</a:t>
            </a:r>
            <a:endParaRPr sz="2755" b="1" i="0">
              <a:solidFill>
                <a:srgbClr val="831C20"/>
              </a:solidFill>
              <a:latin typeface="Times New Roman" panose="02020603050405020304"/>
            </a:endParaRPr>
          </a:p>
        </p:txBody>
      </p:sp>
      <p:sp>
        <p:nvSpPr>
          <p:cNvPr id="45" name="Claude historical quote card"/>
          <p:cNvSpPr/>
          <p:nvPr/>
        </p:nvSpPr>
        <p:spPr>
          <a:xfrm>
            <a:off x="9450258" y="4569570"/>
            <a:ext cx="8225224" cy="1563274"/>
          </a:xfrm>
          <a:prstGeom prst="roundRect">
            <a:avLst>
              <a:gd name="adj" fmla="val 3500"/>
            </a:avLst>
          </a:prstGeom>
          <a:solidFill>
            <a:srgbClr val="F6E5E0"/>
          </a:solidFill>
          <a:ln w="10937">
            <a:solidFill>
              <a:srgbClr val="E8C4B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Claude excerpt attribution"/>
          <p:cNvSpPr txBox="1"/>
          <p:nvPr/>
        </p:nvSpPr>
        <p:spPr>
          <a:xfrm>
            <a:off x="9614325" y="4678890"/>
            <a:ext cx="7875215" cy="295163"/>
          </a:xfrm>
          <a:prstGeom prst="rect">
            <a:avLst/>
          </a:prstGeom>
          <a:noFill/>
          <a:effectLst/>
        </p:spPr>
        <p:txBody>
          <a:bodyPr wrap="square" lIns="0" tIns="0" rIns="0" bIns="0" anchor="t">
            <a:noAutofit/>
          </a:bodyPr>
          <a:lstStyle/>
          <a:p>
            <a:pPr algn="l">
              <a:lnSpc>
                <a:spcPct val="104000"/>
              </a:lnSpc>
              <a:spcBef>
                <a:spcPts val="0"/>
              </a:spcBef>
              <a:spcAft>
                <a:spcPts val="0"/>
              </a:spcAft>
              <a:defRPr sz="1810" b="0" i="0">
                <a:solidFill>
                  <a:srgbClr val="831C20"/>
                </a:solidFill>
                <a:latin typeface="Times New Roman" panose="02020603050405020304"/>
              </a:defRPr>
            </a:pPr>
            <a:r>
              <a:rPr sz="1810" b="0" i="0">
                <a:solidFill>
                  <a:srgbClr val="831C20"/>
                </a:solidFill>
                <a:latin typeface="Times New Roman" panose="02020603050405020304"/>
              </a:rPr>
              <a:t>Claude Opus 5 · original-prompt excerpt</a:t>
            </a:r>
            <a:endParaRPr sz="1810" b="0" i="0">
              <a:solidFill>
                <a:srgbClr val="831C20"/>
              </a:solidFill>
              <a:latin typeface="Times New Roman" panose="02020603050405020304"/>
            </a:endParaRPr>
          </a:p>
        </p:txBody>
      </p:sp>
      <p:sp>
        <p:nvSpPr>
          <p:cNvPr id="47" name="Claude verbatim excerpt"/>
          <p:cNvSpPr txBox="1"/>
          <p:nvPr/>
        </p:nvSpPr>
        <p:spPr>
          <a:xfrm>
            <a:off x="9614325" y="5061510"/>
            <a:ext cx="7875215" cy="1005742"/>
          </a:xfrm>
          <a:prstGeom prst="rect">
            <a:avLst/>
          </a:prstGeom>
          <a:noFill/>
          <a:effectLst/>
        </p:spPr>
        <p:txBody>
          <a:bodyPr wrap="square" lIns="0" tIns="0" rIns="0" bIns="0" anchor="t">
            <a:noAutofit/>
          </a:bodyPr>
          <a:lstStyle/>
          <a:p>
            <a:pPr algn="l">
              <a:lnSpc>
                <a:spcPct val="104000"/>
              </a:lnSpc>
              <a:spcBef>
                <a:spcPts val="0"/>
              </a:spcBef>
              <a:spcAft>
                <a:spcPts val="0"/>
              </a:spcAft>
              <a:defRPr sz="2155" b="1" i="0">
                <a:solidFill>
                  <a:srgbClr val="831C20"/>
                </a:solidFill>
                <a:latin typeface="Times New Roman" panose="02020603050405020304"/>
              </a:defRPr>
            </a:pPr>
            <a:r>
              <a:rPr sz="2155" b="1" i="0">
                <a:solidFill>
                  <a:srgbClr val="831C20"/>
                </a:solidFill>
                <a:latin typeface="Times New Roman" panose="02020603050405020304"/>
              </a:rPr>
              <a:t>“burnt‑out, end‑stage fibrotic</a:t>
            </a:r>
            <a:endParaRPr sz="2155" b="1" i="0">
              <a:solidFill>
                <a:srgbClr val="831C20"/>
              </a:solidFill>
              <a:latin typeface="Times New Roman" panose="02020603050405020304"/>
            </a:endParaRPr>
          </a:p>
          <a:p>
            <a:pPr algn="l">
              <a:lnSpc>
                <a:spcPct val="104000"/>
              </a:lnSpc>
              <a:spcBef>
                <a:spcPts val="0"/>
              </a:spcBef>
              <a:spcAft>
                <a:spcPts val="0"/>
              </a:spcAft>
              <a:defRPr sz="2155" b="1" i="0">
                <a:solidFill>
                  <a:srgbClr val="831C20"/>
                </a:solidFill>
                <a:latin typeface="Times New Roman" panose="02020603050405020304"/>
              </a:defRPr>
            </a:pPr>
            <a:r>
              <a:rPr sz="2155" b="1" i="0">
                <a:solidFill>
                  <a:srgbClr val="831C20"/>
                </a:solidFill>
                <a:latin typeface="Times New Roman" panose="02020603050405020304"/>
              </a:rPr>
              <a:t>(radiation‑induced/post‑inflammatory)</a:t>
            </a:r>
            <a:endParaRPr sz="2155" b="1" i="0">
              <a:solidFill>
                <a:srgbClr val="831C20"/>
              </a:solidFill>
              <a:latin typeface="Times New Roman" panose="02020603050405020304"/>
            </a:endParaRPr>
          </a:p>
          <a:p>
            <a:pPr algn="l">
              <a:lnSpc>
                <a:spcPct val="104000"/>
              </a:lnSpc>
              <a:spcBef>
                <a:spcPts val="0"/>
              </a:spcBef>
              <a:spcAft>
                <a:spcPts val="0"/>
              </a:spcAft>
              <a:defRPr sz="2155" b="1" i="0">
                <a:solidFill>
                  <a:srgbClr val="831C20"/>
                </a:solidFill>
                <a:latin typeface="Times New Roman" panose="02020603050405020304"/>
              </a:defRPr>
            </a:pPr>
            <a:r>
              <a:rPr sz="2155" b="1" i="0">
                <a:solidFill>
                  <a:srgbClr val="831C20"/>
                </a:solidFill>
                <a:latin typeface="Times New Roman" panose="02020603050405020304"/>
              </a:rPr>
              <a:t>pericardial–mediastinal constriction”</a:t>
            </a:r>
            <a:endParaRPr sz="2155" b="1" i="0">
              <a:solidFill>
                <a:srgbClr val="831C20"/>
              </a:solidFill>
              <a:latin typeface="Times New Roman" panose="02020603050405020304"/>
            </a:endParaRPr>
          </a:p>
        </p:txBody>
      </p:sp>
      <p:sp>
        <p:nvSpPr>
          <p:cNvPr id="48" name="Historical grade explanation label"/>
          <p:cNvSpPr txBox="1"/>
          <p:nvPr/>
        </p:nvSpPr>
        <p:spPr>
          <a:xfrm>
            <a:off x="9494009" y="6274960"/>
            <a:ext cx="7951779" cy="338891"/>
          </a:xfrm>
          <a:prstGeom prst="rect">
            <a:avLst/>
          </a:prstGeom>
          <a:noFill/>
          <a:effectLst/>
        </p:spPr>
        <p:txBody>
          <a:bodyPr wrap="square" lIns="0" tIns="0" rIns="0" bIns="0" anchor="t">
            <a:noAutofit/>
          </a:bodyPr>
          <a:lstStyle/>
          <a:p>
            <a:pPr algn="l">
              <a:lnSpc>
                <a:spcPct val="104000"/>
              </a:lnSpc>
              <a:spcBef>
                <a:spcPts val="0"/>
              </a:spcBef>
              <a:spcAft>
                <a:spcPts val="0"/>
              </a:spcAft>
              <a:defRPr sz="2065" b="1" i="0">
                <a:solidFill>
                  <a:srgbClr val="10243C"/>
                </a:solidFill>
                <a:latin typeface="Times New Roman" panose="02020603050405020304"/>
              </a:defRPr>
            </a:pPr>
            <a:r>
              <a:rPr sz="2065" b="1" i="0">
                <a:solidFill>
                  <a:srgbClr val="10243C"/>
                </a:solidFill>
                <a:latin typeface="Times New Roman" panose="02020603050405020304"/>
              </a:rPr>
              <a:t>Recorded Claude grading</a:t>
            </a:r>
            <a:endParaRPr sz="2065" b="1" i="0">
              <a:solidFill>
                <a:srgbClr val="10243C"/>
              </a:solidFill>
              <a:latin typeface="Times New Roman" panose="02020603050405020304"/>
            </a:endParaRPr>
          </a:p>
        </p:txBody>
      </p:sp>
      <p:sp>
        <p:nvSpPr>
          <p:cNvPr id="49" name="Historical Claude score calculation"/>
          <p:cNvSpPr txBox="1"/>
          <p:nvPr/>
        </p:nvSpPr>
        <p:spPr>
          <a:xfrm>
            <a:off x="9494009" y="6657580"/>
            <a:ext cx="7951779" cy="732443"/>
          </a:xfrm>
          <a:prstGeom prst="rect">
            <a:avLst/>
          </a:prstGeom>
          <a:noFill/>
          <a:effectLst/>
        </p:spPr>
        <p:txBody>
          <a:bodyPr wrap="square" lIns="0" tIns="0" rIns="0" bIns="0" anchor="t">
            <a:noAutofit/>
          </a:bodyPr>
          <a:lstStyle/>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0 for tumor mechanism + 4 for fixed-process reasoning.</a:t>
            </a:r>
            <a:endParaRPr sz="2065" b="0" i="0">
              <a:solidFill>
                <a:srgbClr val="10243C"/>
              </a:solidFill>
              <a:latin typeface="Times New Roman" panose="02020603050405020304"/>
            </a:endParaRPr>
          </a:p>
          <a:p>
            <a:pPr algn="l">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Wrong primary cause triggered the 3-point cap → 3/10.</a:t>
            </a:r>
            <a:endParaRPr sz="2065" b="0" i="0">
              <a:solidFill>
                <a:srgbClr val="10243C"/>
              </a:solidFill>
              <a:latin typeface="Times New Roman" panose="02020603050405020304"/>
            </a:endParaRPr>
          </a:p>
        </p:txBody>
      </p:sp>
      <p:sp>
        <p:nvSpPr>
          <p:cNvPr id="50" name="Gemini judge summary"/>
          <p:cNvSpPr txBox="1"/>
          <p:nvPr/>
        </p:nvSpPr>
        <p:spPr>
          <a:xfrm>
            <a:off x="9494009" y="7455615"/>
            <a:ext cx="7951779" cy="481007"/>
          </a:xfrm>
          <a:prstGeom prst="rect">
            <a:avLst/>
          </a:prstGeom>
          <a:noFill/>
          <a:effectLst/>
        </p:spPr>
        <p:txBody>
          <a:bodyPr wrap="square" lIns="0" tIns="0" rIns="0" bIns="0" anchor="t">
            <a:noAutofit/>
          </a:bodyPr>
          <a:lstStyle/>
          <a:p>
            <a:pPr algn="l">
              <a:lnSpc>
                <a:spcPct val="104000"/>
              </a:lnSpc>
              <a:spcBef>
                <a:spcPts val="0"/>
              </a:spcBef>
              <a:spcAft>
                <a:spcPts val="0"/>
              </a:spcAft>
              <a:defRPr sz="1720" b="0" i="0">
                <a:solidFill>
                  <a:srgbClr val="5D5B55"/>
                </a:solidFill>
                <a:latin typeface="Times New Roman" panose="02020603050405020304"/>
              </a:defRPr>
            </a:pPr>
            <a:r>
              <a:rPr sz="1720" b="0" i="0">
                <a:solidFill>
                  <a:srgbClr val="5D5B55"/>
                </a:solidFill>
                <a:latin typeface="Times New Roman" panose="02020603050405020304"/>
              </a:rPr>
              <a:t>Gemini judge summary: attributed the restriction to</a:t>
            </a:r>
            <a:endParaRPr sz="1720" b="0" i="0">
              <a:solidFill>
                <a:srgbClr val="5D5B55"/>
              </a:solidFill>
              <a:latin typeface="Times New Roman" panose="02020603050405020304"/>
            </a:endParaRPr>
          </a:p>
          <a:p>
            <a:pPr algn="l">
              <a:lnSpc>
                <a:spcPct val="104000"/>
              </a:lnSpc>
              <a:spcBef>
                <a:spcPts val="0"/>
              </a:spcBef>
              <a:spcAft>
                <a:spcPts val="0"/>
              </a:spcAft>
              <a:defRPr sz="1720" b="0" i="0">
                <a:solidFill>
                  <a:srgbClr val="5D5B55"/>
                </a:solidFill>
                <a:latin typeface="Times New Roman" panose="02020603050405020304"/>
              </a:defRPr>
            </a:pPr>
            <a:r>
              <a:rPr sz="1720" b="0" i="0">
                <a:solidFill>
                  <a:srgbClr val="5D5B55"/>
                </a:solidFill>
                <a:latin typeface="Times New Roman" panose="02020603050405020304"/>
              </a:rPr>
              <a:t>radiation fibrosis; both criteria received 0.</a:t>
            </a:r>
            <a:endParaRPr sz="1720" b="0" i="0">
              <a:solidFill>
                <a:srgbClr val="5D5B55"/>
              </a:solidFill>
              <a:latin typeface="Times New Roman" panose="02020603050405020304"/>
            </a:endParaRPr>
          </a:p>
        </p:txBody>
      </p:sp>
      <p:sp>
        <p:nvSpPr>
          <p:cNvPr id="51" name="Current rubric highlights"/>
          <p:cNvSpPr/>
          <p:nvPr/>
        </p:nvSpPr>
        <p:spPr>
          <a:xfrm>
            <a:off x="393760" y="8045942"/>
            <a:ext cx="17500478" cy="1115062"/>
          </a:xfrm>
          <a:prstGeom prst="roundRect">
            <a:avLst>
              <a:gd name="adj" fmla="val 4000"/>
            </a:avLst>
          </a:prstGeom>
          <a:solidFill>
            <a:srgbClr val="F6F4EE"/>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ubric 6 pts"/>
          <p:cNvSpPr txBox="1"/>
          <p:nvPr/>
        </p:nvSpPr>
        <p:spPr>
          <a:xfrm>
            <a:off x="634392" y="8133398"/>
            <a:ext cx="5009511" cy="382619"/>
          </a:xfrm>
          <a:prstGeom prst="rect">
            <a:avLst/>
          </a:prstGeom>
          <a:noFill/>
          <a:effectLst/>
        </p:spPr>
        <p:txBody>
          <a:bodyPr wrap="square" lIns="0" tIns="0" rIns="0" bIns="0" anchor="t">
            <a:noAutofit/>
          </a:bodyPr>
          <a:lstStyle/>
          <a:p>
            <a:pPr algn="l">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6 pts</a:t>
            </a:r>
            <a:endParaRPr sz="2325" b="1" i="0">
              <a:solidFill>
                <a:srgbClr val="124936"/>
              </a:solidFill>
              <a:latin typeface="Times New Roman" panose="02020603050405020304"/>
            </a:endParaRPr>
          </a:p>
        </p:txBody>
      </p:sp>
      <p:sp>
        <p:nvSpPr>
          <p:cNvPr id="53" name="Rubric 6 pts meaning"/>
          <p:cNvSpPr txBox="1"/>
          <p:nvPr/>
        </p:nvSpPr>
        <p:spPr>
          <a:xfrm>
            <a:off x="634392" y="8526950"/>
            <a:ext cx="5009511" cy="579395"/>
          </a:xfrm>
          <a:prstGeom prst="rect">
            <a:avLst/>
          </a:prstGeom>
          <a:noFill/>
          <a:effectLst/>
        </p:spPr>
        <p:txBody>
          <a:bodyPr wrap="square" lIns="0" tIns="0" rIns="0" bIns="0" anchor="t">
            <a:noAutofit/>
          </a:bodyPr>
          <a:lstStyle/>
          <a:p>
            <a:pPr algn="l">
              <a:lnSpc>
                <a:spcPct val="104000"/>
              </a:lnSpc>
              <a:spcBef>
                <a:spcPts val="0"/>
              </a:spcBef>
              <a:spcAft>
                <a:spcPts val="0"/>
              </a:spcAft>
              <a:defRPr sz="1980" b="0" i="0">
                <a:solidFill>
                  <a:srgbClr val="10243C"/>
                </a:solidFill>
                <a:latin typeface="Times New Roman" panose="02020603050405020304"/>
              </a:defRPr>
            </a:pPr>
            <a:r>
              <a:rPr sz="1980" b="0" i="0">
                <a:solidFill>
                  <a:srgbClr val="10243C"/>
                </a:solidFill>
                <a:latin typeface="Times New Roman" panose="02020603050405020304"/>
              </a:rPr>
              <a:t>Identify malignant encasement</a:t>
            </a:r>
            <a:endParaRPr sz="1980" b="0" i="0">
              <a:solidFill>
                <a:srgbClr val="10243C"/>
              </a:solidFill>
              <a:latin typeface="Times New Roman" panose="02020603050405020304"/>
            </a:endParaRPr>
          </a:p>
          <a:p>
            <a:pPr algn="l">
              <a:lnSpc>
                <a:spcPct val="104000"/>
              </a:lnSpc>
              <a:spcBef>
                <a:spcPts val="0"/>
              </a:spcBef>
              <a:spcAft>
                <a:spcPts val="0"/>
              </a:spcAft>
              <a:defRPr sz="1980" b="0" i="0">
                <a:solidFill>
                  <a:srgbClr val="10243C"/>
                </a:solidFill>
                <a:latin typeface="Times New Roman" panose="02020603050405020304"/>
              </a:defRPr>
            </a:pPr>
            <a:r>
              <a:rPr sz="1980" b="0" i="0">
                <a:solidFill>
                  <a:srgbClr val="10243C"/>
                </a:solidFill>
                <a:latin typeface="Times New Roman" panose="02020603050405020304"/>
              </a:rPr>
              <a:t>as the mechanical cause.</a:t>
            </a:r>
            <a:endParaRPr sz="1980" b="0" i="0">
              <a:solidFill>
                <a:srgbClr val="10243C"/>
              </a:solidFill>
              <a:latin typeface="Times New Roman" panose="02020603050405020304"/>
            </a:endParaRPr>
          </a:p>
        </p:txBody>
      </p:sp>
      <p:sp>
        <p:nvSpPr>
          <p:cNvPr id="54" name="Rubric 4 pts"/>
          <p:cNvSpPr txBox="1"/>
          <p:nvPr/>
        </p:nvSpPr>
        <p:spPr>
          <a:xfrm>
            <a:off x="6562679" y="8133398"/>
            <a:ext cx="5009511" cy="382619"/>
          </a:xfrm>
          <a:prstGeom prst="rect">
            <a:avLst/>
          </a:prstGeom>
          <a:noFill/>
          <a:effectLst/>
        </p:spPr>
        <p:txBody>
          <a:bodyPr wrap="square" lIns="0" tIns="0" rIns="0" bIns="0" anchor="t">
            <a:noAutofit/>
          </a:bodyPr>
          <a:lstStyle/>
          <a:p>
            <a:pPr algn="l">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4 pts</a:t>
            </a:r>
            <a:endParaRPr sz="2325" b="1" i="0">
              <a:solidFill>
                <a:srgbClr val="124936"/>
              </a:solidFill>
              <a:latin typeface="Times New Roman" panose="02020603050405020304"/>
            </a:endParaRPr>
          </a:p>
        </p:txBody>
      </p:sp>
      <p:sp>
        <p:nvSpPr>
          <p:cNvPr id="55" name="Rubric 4 pts meaning"/>
          <p:cNvSpPr txBox="1"/>
          <p:nvPr/>
        </p:nvSpPr>
        <p:spPr>
          <a:xfrm>
            <a:off x="6562679" y="8526950"/>
            <a:ext cx="5009511" cy="579395"/>
          </a:xfrm>
          <a:prstGeom prst="rect">
            <a:avLst/>
          </a:prstGeom>
          <a:noFill/>
          <a:effectLst/>
        </p:spPr>
        <p:txBody>
          <a:bodyPr wrap="square" lIns="0" tIns="0" rIns="0" bIns="0" anchor="t">
            <a:noAutofit/>
          </a:bodyPr>
          <a:lstStyle/>
          <a:p>
            <a:pPr algn="l">
              <a:lnSpc>
                <a:spcPct val="104000"/>
              </a:lnSpc>
              <a:spcBef>
                <a:spcPts val="0"/>
              </a:spcBef>
              <a:spcAft>
                <a:spcPts val="0"/>
              </a:spcAft>
              <a:defRPr sz="1980" b="0" i="0">
                <a:solidFill>
                  <a:srgbClr val="10243C"/>
                </a:solidFill>
                <a:latin typeface="Times New Roman" panose="02020603050405020304"/>
              </a:defRPr>
            </a:pPr>
            <a:r>
              <a:rPr sz="1980" b="0" i="0">
                <a:solidFill>
                  <a:srgbClr val="10243C"/>
                </a:solidFill>
                <a:latin typeface="Times New Roman" panose="02020603050405020304"/>
              </a:rPr>
              <a:t>Explain why anti-inflammatory</a:t>
            </a:r>
            <a:endParaRPr sz="1980" b="0" i="0">
              <a:solidFill>
                <a:srgbClr val="10243C"/>
              </a:solidFill>
              <a:latin typeface="Times New Roman" panose="02020603050405020304"/>
            </a:endParaRPr>
          </a:p>
          <a:p>
            <a:pPr algn="l">
              <a:lnSpc>
                <a:spcPct val="104000"/>
              </a:lnSpc>
              <a:spcBef>
                <a:spcPts val="0"/>
              </a:spcBef>
              <a:spcAft>
                <a:spcPts val="0"/>
              </a:spcAft>
              <a:defRPr sz="1980" b="0" i="0">
                <a:solidFill>
                  <a:srgbClr val="10243C"/>
                </a:solidFill>
                <a:latin typeface="Times New Roman" panose="02020603050405020304"/>
              </a:defRPr>
            </a:pPr>
            <a:r>
              <a:rPr sz="1980" b="0" i="0">
                <a:solidFill>
                  <a:srgbClr val="10243C"/>
                </a:solidFill>
                <a:latin typeface="Times New Roman" panose="02020603050405020304"/>
              </a:rPr>
              <a:t>treatment cannot remove it.</a:t>
            </a:r>
            <a:endParaRPr sz="1980" b="0" i="0">
              <a:solidFill>
                <a:srgbClr val="10243C"/>
              </a:solidFill>
              <a:latin typeface="Times New Roman" panose="02020603050405020304"/>
            </a:endParaRPr>
          </a:p>
        </p:txBody>
      </p:sp>
      <p:sp>
        <p:nvSpPr>
          <p:cNvPr id="56" name="Rubric Cap: 3/10"/>
          <p:cNvSpPr txBox="1"/>
          <p:nvPr/>
        </p:nvSpPr>
        <p:spPr>
          <a:xfrm>
            <a:off x="12490966" y="8133398"/>
            <a:ext cx="5009511" cy="382619"/>
          </a:xfrm>
          <a:prstGeom prst="rect">
            <a:avLst/>
          </a:prstGeom>
          <a:noFill/>
          <a:effectLst/>
        </p:spPr>
        <p:txBody>
          <a:bodyPr wrap="square" lIns="0" tIns="0" rIns="0" bIns="0" anchor="t">
            <a:noAutofit/>
          </a:bodyPr>
          <a:lstStyle/>
          <a:p>
            <a:pPr algn="l">
              <a:lnSpc>
                <a:spcPct val="104000"/>
              </a:lnSpc>
              <a:spcBef>
                <a:spcPts val="0"/>
              </a:spcBef>
              <a:spcAft>
                <a:spcPts val="0"/>
              </a:spcAft>
              <a:defRPr sz="2325" b="1" i="0">
                <a:solidFill>
                  <a:srgbClr val="831C20"/>
                </a:solidFill>
                <a:latin typeface="Times New Roman" panose="02020603050405020304"/>
              </a:defRPr>
            </a:pPr>
            <a:r>
              <a:rPr sz="2325" b="1" i="0">
                <a:solidFill>
                  <a:srgbClr val="831C20"/>
                </a:solidFill>
                <a:latin typeface="Times New Roman" panose="02020603050405020304"/>
              </a:rPr>
              <a:t>Cap: 3/10</a:t>
            </a:r>
            <a:endParaRPr sz="2325" b="1" i="0">
              <a:solidFill>
                <a:srgbClr val="831C20"/>
              </a:solidFill>
              <a:latin typeface="Times New Roman" panose="02020603050405020304"/>
            </a:endParaRPr>
          </a:p>
        </p:txBody>
      </p:sp>
      <p:sp>
        <p:nvSpPr>
          <p:cNvPr id="57" name="Rubric Cap: 3/10 meaning"/>
          <p:cNvSpPr txBox="1"/>
          <p:nvPr/>
        </p:nvSpPr>
        <p:spPr>
          <a:xfrm>
            <a:off x="12490966" y="8526950"/>
            <a:ext cx="5009511" cy="579395"/>
          </a:xfrm>
          <a:prstGeom prst="rect">
            <a:avLst/>
          </a:prstGeom>
          <a:noFill/>
          <a:effectLst/>
        </p:spPr>
        <p:txBody>
          <a:bodyPr wrap="square" lIns="0" tIns="0" rIns="0" bIns="0" anchor="t">
            <a:noAutofit/>
          </a:bodyPr>
          <a:lstStyle/>
          <a:p>
            <a:pPr algn="l">
              <a:lnSpc>
                <a:spcPct val="104000"/>
              </a:lnSpc>
              <a:spcBef>
                <a:spcPts val="0"/>
              </a:spcBef>
              <a:spcAft>
                <a:spcPts val="0"/>
              </a:spcAft>
              <a:defRPr sz="1980" b="0" i="0">
                <a:solidFill>
                  <a:srgbClr val="10243C"/>
                </a:solidFill>
                <a:latin typeface="Times New Roman" panose="02020603050405020304"/>
              </a:defRPr>
            </a:pPr>
            <a:r>
              <a:rPr sz="1980" b="0" i="0">
                <a:solidFill>
                  <a:srgbClr val="10243C"/>
                </a:solidFill>
                <a:latin typeface="Times New Roman" panose="02020603050405020304"/>
              </a:rPr>
              <a:t>Miss tumor encasement; attribute</a:t>
            </a:r>
            <a:endParaRPr sz="1980" b="0" i="0">
              <a:solidFill>
                <a:srgbClr val="10243C"/>
              </a:solidFill>
              <a:latin typeface="Times New Roman" panose="02020603050405020304"/>
            </a:endParaRPr>
          </a:p>
          <a:p>
            <a:pPr algn="l">
              <a:lnSpc>
                <a:spcPct val="104000"/>
              </a:lnSpc>
              <a:spcBef>
                <a:spcPts val="0"/>
              </a:spcBef>
              <a:spcAft>
                <a:spcPts val="0"/>
              </a:spcAft>
              <a:defRPr sz="1980" b="0" i="0">
                <a:solidFill>
                  <a:srgbClr val="10243C"/>
                </a:solidFill>
                <a:latin typeface="Times New Roman" panose="02020603050405020304"/>
              </a:defRPr>
            </a:pPr>
            <a:r>
              <a:rPr sz="1980" b="0" i="0">
                <a:solidFill>
                  <a:srgbClr val="10243C"/>
                </a:solidFill>
                <a:latin typeface="Times New Roman" panose="02020603050405020304"/>
              </a:rPr>
              <a:t>the cause to primary pericardial disease.</a:t>
            </a:r>
            <a:endParaRPr sz="1980" b="0" i="0">
              <a:solidFill>
                <a:srgbClr val="10243C"/>
              </a:solidFill>
              <a:latin typeface="Times New Roman" panose="02020603050405020304"/>
            </a:endParaRPr>
          </a:p>
        </p:txBody>
      </p:sp>
      <p:cxnSp>
        <p:nvCxnSpPr>
          <p:cNvPr id="58" name="Rubric first divider"/>
          <p:cNvCxnSpPr/>
          <p:nvPr/>
        </p:nvCxnSpPr>
        <p:spPr>
          <a:xfrm>
            <a:off x="6212669" y="8209922"/>
            <a:ext cx="0" cy="819899"/>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59" name="Rubric second divider"/>
          <p:cNvCxnSpPr/>
          <p:nvPr/>
        </p:nvCxnSpPr>
        <p:spPr>
          <a:xfrm>
            <a:off x="12162832" y="8209922"/>
            <a:ext cx="0" cy="819899"/>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60" name="Dataset and score versions"/>
          <p:cNvSpPr txBox="1"/>
          <p:nvPr/>
        </p:nvSpPr>
        <p:spPr>
          <a:xfrm>
            <a:off x="415636" y="9204733"/>
            <a:ext cx="11922200" cy="251435"/>
          </a:xfrm>
          <a:prstGeom prst="rect">
            <a:avLst/>
          </a:prstGeom>
          <a:noFill/>
          <a:effectLst/>
        </p:spPr>
        <p:txBody>
          <a:bodyPr wrap="square" lIns="0" tIns="0" rIns="0" bIns="0" anchor="t">
            <a:noAutofit/>
          </a:bodyPr>
          <a:lstStyle/>
          <a:p>
            <a:pPr algn="l">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Dataset v1.3.0 · Question v1.2.1 · Historical scores v1.1.0; revised question not rerun.</a:t>
            </a:r>
            <a:endParaRPr sz="1375" b="0" i="0">
              <a:solidFill>
                <a:srgbClr val="10243C"/>
              </a:solidFill>
              <a:latin typeface="Times New Roman" panose="02020603050405020304"/>
            </a:endParaRPr>
          </a:p>
        </p:txBody>
      </p:sp>
      <p:sp>
        <p:nvSpPr>
          <p:cNvPr id="61" name="Clinical source credit">
            <a:hlinkClick r:id="rId3"/>
          </p:cNvPr>
          <p:cNvSpPr txBox="1"/>
          <p:nvPr/>
        </p:nvSpPr>
        <p:spPr>
          <a:xfrm>
            <a:off x="12359712" y="9204733"/>
            <a:ext cx="5501712" cy="251435"/>
          </a:xfrm>
          <a:prstGeom prst="rect">
            <a:avLst/>
          </a:prstGeom>
          <a:noFill/>
          <a:effectLst/>
        </p:spPr>
        <p:txBody>
          <a:bodyPr wrap="square" lIns="0" tIns="0" rIns="0" bIns="0" anchor="t">
            <a:noAutofit/>
          </a:bodyPr>
          <a:lstStyle/>
          <a:p>
            <a:pPr algn="r">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Dawelbeit et al. · Cureus 2026 · CC BY</a:t>
            </a:r>
            <a:endParaRPr sz="1375" b="0" i="0">
              <a:solidFill>
                <a:srgbClr val="10243C"/>
              </a:solidFill>
              <a:latin typeface="Times New Roman" panose="02020603050405020304"/>
            </a:endParaRPr>
          </a:p>
        </p:txBody>
      </p:sp>
      <p:sp>
        <p:nvSpPr>
          <p:cNvPr id="62" name="Dataset item identifier"/>
          <p:cNvSpPr txBox="1"/>
          <p:nvPr/>
        </p:nvSpPr>
        <p:spPr>
          <a:xfrm>
            <a:off x="415636" y="9445236"/>
            <a:ext cx="9187751" cy="196775"/>
          </a:xfrm>
          <a:prstGeom prst="rect">
            <a:avLst/>
          </a:prstGeom>
          <a:noFill/>
          <a:effectLst/>
        </p:spPr>
        <p:txBody>
          <a:bodyPr wrap="square" lIns="0" tIns="0" rIns="0" bIns="0" anchor="t">
            <a:noAutofit/>
          </a:bodyPr>
          <a:lstStyle/>
          <a:p>
            <a:pPr algn="l">
              <a:lnSpc>
                <a:spcPct val="104000"/>
              </a:lnSpc>
              <a:spcBef>
                <a:spcPts val="0"/>
              </a:spcBef>
              <a:spcAft>
                <a:spcPts val="0"/>
              </a:spcAft>
              <a:defRPr sz="1120" b="0" i="0">
                <a:solidFill>
                  <a:srgbClr val="5D5B55"/>
                </a:solidFill>
                <a:latin typeface="Times New Roman" panose="02020603050405020304"/>
              </a:defRPr>
            </a:pPr>
            <a:r>
              <a:rPr sz="1120" b="0" i="0">
                <a:solidFill>
                  <a:srgbClr val="5D5B55"/>
                </a:solidFill>
                <a:latin typeface="Times New Roman" panose="02020603050405020304"/>
              </a:rPr>
              <a:t>Item: q01-55ea587e1ed2f1dc · Mechanism</a:t>
            </a:r>
            <a:endParaRPr sz="1120" b="0" i="0">
              <a:solidFill>
                <a:srgbClr val="5D5B55"/>
              </a:solidFill>
              <a:latin typeface="Times New Roman" panose="02020603050405020304"/>
            </a:endParaRPr>
          </a:p>
        </p:txBody>
      </p:sp>
      <p:sp>
        <p:nvSpPr>
          <p:cNvPr id="63" name="Source DOI"/>
          <p:cNvSpPr txBox="1"/>
          <p:nvPr/>
        </p:nvSpPr>
        <p:spPr>
          <a:xfrm>
            <a:off x="11375311" y="9445236"/>
            <a:ext cx="6486114" cy="196775"/>
          </a:xfrm>
          <a:prstGeom prst="rect">
            <a:avLst/>
          </a:prstGeom>
          <a:noFill/>
          <a:effectLst/>
        </p:spPr>
        <p:txBody>
          <a:bodyPr wrap="square" lIns="0" tIns="0" rIns="0" bIns="0" anchor="t">
            <a:noAutofit/>
          </a:bodyPr>
          <a:lstStyle/>
          <a:p>
            <a:pPr algn="r">
              <a:lnSpc>
                <a:spcPct val="104000"/>
              </a:lnSpc>
              <a:spcBef>
                <a:spcPts val="0"/>
              </a:spcBef>
              <a:spcAft>
                <a:spcPts val="0"/>
              </a:spcAft>
              <a:defRPr sz="1120" b="0" i="0">
                <a:solidFill>
                  <a:srgbClr val="5D5B55"/>
                </a:solidFill>
                <a:latin typeface="Times New Roman" panose="02020603050405020304"/>
              </a:defRPr>
            </a:pPr>
            <a:r>
              <a:rPr sz="1120" b="0" i="0">
                <a:solidFill>
                  <a:srgbClr val="5D5B55"/>
                </a:solidFill>
                <a:latin typeface="Times New Roman" panose="02020603050405020304"/>
              </a:rPr>
              <a:t>doi:10.7759/cureus.105678</a:t>
            </a:r>
            <a:endParaRPr sz="1120" b="0" i="0">
              <a:solidFill>
                <a:srgbClr val="5D5B55"/>
              </a:solidFill>
              <a:latin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BF8F1"/>
        </a:solidFill>
        <a:effectLst/>
      </p:bgPr>
    </p:bg>
    <p:spTree>
      <p:nvGrpSpPr>
        <p:cNvPr id="1" name=""/>
        <p:cNvGrpSpPr/>
        <p:nvPr/>
      </p:nvGrpSpPr>
      <p:grpSpPr/>
      <p:sp>
        <p:nvSpPr>
          <p:cNvPr id="2" name="Masthead gradient"/>
          <p:cNvSpPr/>
          <p:nvPr/>
        </p:nvSpPr>
        <p:spPr>
          <a:xfrm>
            <a:off x="0" y="0"/>
            <a:ext cx="18288000" cy="1530478"/>
          </a:xfrm>
          <a:prstGeom prst="rect">
            <a:avLst/>
          </a:prstGeom>
          <a:blipFill rotWithShape="1">
            <a:blip r:embed="rId1"/>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ain title"/>
          <p:cNvSpPr txBox="1"/>
          <p:nvPr/>
        </p:nvSpPr>
        <p:spPr>
          <a:xfrm>
            <a:off x="503138" y="163979"/>
            <a:ext cx="14656650" cy="830831"/>
          </a:xfrm>
          <a:prstGeom prst="rect">
            <a:avLst/>
          </a:prstGeom>
          <a:noFill/>
          <a:effectLst/>
        </p:spPr>
        <p:txBody>
          <a:bodyPr wrap="square" lIns="0" tIns="0" rIns="0" bIns="0" anchor="t">
            <a:noAutofit/>
          </a:bodyPr>
          <a:lstStyle/>
          <a:p>
            <a:pPr algn="l">
              <a:lnSpc>
                <a:spcPct val="104000"/>
              </a:lnSpc>
              <a:spcBef>
                <a:spcPts val="0"/>
              </a:spcBef>
              <a:spcAft>
                <a:spcPts val="0"/>
              </a:spcAft>
              <a:defRPr sz="5340" b="1" i="0">
                <a:solidFill>
                  <a:srgbClr val="FFFDFA"/>
                </a:solidFill>
                <a:latin typeface="Times New Roman" panose="02020603050405020304"/>
              </a:defRPr>
            </a:pPr>
            <a:r>
              <a:rPr sz="5340" b="1" i="0">
                <a:solidFill>
                  <a:srgbClr val="FFFDFA"/>
                </a:solidFill>
                <a:latin typeface="Times New Roman" panose="02020603050405020304"/>
              </a:rPr>
              <a:t>Medical Doctor’s Last Exam</a:t>
            </a:r>
            <a:endParaRPr sz="5340" b="1" i="0">
              <a:solidFill>
                <a:srgbClr val="FFFDFA"/>
              </a:solidFill>
              <a:latin typeface="Times New Roman" panose="02020603050405020304"/>
            </a:endParaRPr>
          </a:p>
        </p:txBody>
      </p:sp>
      <p:sp>
        <p:nvSpPr>
          <p:cNvPr id="4" name="Page subtitle"/>
          <p:cNvSpPr txBox="1"/>
          <p:nvPr/>
        </p:nvSpPr>
        <p:spPr>
          <a:xfrm>
            <a:off x="503138" y="951082"/>
            <a:ext cx="14711339" cy="513803"/>
          </a:xfrm>
          <a:prstGeom prst="rect">
            <a:avLst/>
          </a:prstGeom>
          <a:noFill/>
          <a:effectLst/>
        </p:spPr>
        <p:txBody>
          <a:bodyPr wrap="square" lIns="0" tIns="0" rIns="0" bIns="0" anchor="t">
            <a:noAutofit/>
          </a:bodyPr>
          <a:lstStyle/>
          <a:p>
            <a:pPr algn="l">
              <a:lnSpc>
                <a:spcPct val="104000"/>
              </a:lnSpc>
              <a:spcBef>
                <a:spcPts val="0"/>
              </a:spcBef>
              <a:spcAft>
                <a:spcPts val="0"/>
              </a:spcAft>
              <a:defRPr sz="2755" b="0" i="1">
                <a:solidFill>
                  <a:srgbClr val="FFFDFA"/>
                </a:solidFill>
                <a:latin typeface="Times New Roman" panose="02020603050405020304"/>
              </a:defRPr>
            </a:pPr>
            <a:r>
              <a:rPr sz="2755" b="0" i="1">
                <a:solidFill>
                  <a:srgbClr val="FFFDFA"/>
                </a:solidFill>
                <a:latin typeface="Times New Roman" panose="02020603050405020304"/>
              </a:rPr>
              <a:t>Case 04 · Surgical judgment: how much tumor should be removed?</a:t>
            </a:r>
            <a:endParaRPr sz="2755" b="0" i="1">
              <a:solidFill>
                <a:srgbClr val="FFFDFA"/>
              </a:solidFill>
              <a:latin typeface="Times New Roman" panose="02020603050405020304"/>
            </a:endParaRPr>
          </a:p>
        </p:txBody>
      </p:sp>
      <p:sp>
        <p:nvSpPr>
          <p:cNvPr id="5" name="MDLE wordmark frame"/>
          <p:cNvSpPr/>
          <p:nvPr/>
        </p:nvSpPr>
        <p:spPr>
          <a:xfrm>
            <a:off x="16023875" y="242765"/>
            <a:ext cx="1782861" cy="1161052"/>
          </a:xfrm>
          <a:prstGeom prst="rect">
            <a:avLst/>
          </a:prstGeom>
          <a:noFill/>
          <a:ln w="10937">
            <a:solidFill>
              <a:srgbClr val="EADA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MDLE wordmark"/>
          <p:cNvSpPr txBox="1"/>
          <p:nvPr/>
        </p:nvSpPr>
        <p:spPr>
          <a:xfrm>
            <a:off x="16144191" y="411645"/>
            <a:ext cx="1542229" cy="833846"/>
          </a:xfrm>
          <a:prstGeom prst="rect">
            <a:avLst/>
          </a:prstGeom>
          <a:noFill/>
          <a:effectLst/>
        </p:spPr>
        <p:txBody>
          <a:bodyPr wrap="square" lIns="0" tIns="0" rIns="0" bIns="0" anchor="t">
            <a:noAutofit/>
          </a:bodyPr>
          <a:lstStyle/>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MEDICAL</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DOCTOR’S</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LAST EXAM</a:t>
            </a:r>
            <a:endParaRPr sz="1830" b="1" i="0">
              <a:solidFill>
                <a:srgbClr val="FFFDFA"/>
              </a:solidFill>
              <a:latin typeface="Times New Roman" panose="02020603050405020304"/>
            </a:endParaRPr>
          </a:p>
        </p:txBody>
      </p:sp>
      <p:sp>
        <p:nvSpPr>
          <p:cNvPr id="7" name="Footer gradient"/>
          <p:cNvSpPr/>
          <p:nvPr/>
        </p:nvSpPr>
        <p:spPr>
          <a:xfrm>
            <a:off x="0" y="9642012"/>
            <a:ext cx="18288000" cy="644987"/>
          </a:xfrm>
          <a:prstGeom prst="rect">
            <a:avLst/>
          </a:prstGeom>
          <a:blipFill rotWithShape="1">
            <a:blip r:embed="rId2"/>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Footer left rule"/>
          <p:cNvCxnSpPr/>
          <p:nvPr/>
        </p:nvCxnSpPr>
        <p:spPr>
          <a:xfrm>
            <a:off x="2275062" y="9964506"/>
            <a:ext cx="2811014"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9" name="Footer left diamond"/>
          <p:cNvSpPr/>
          <p:nvPr/>
        </p:nvSpPr>
        <p:spPr>
          <a:xfrm>
            <a:off x="5173578" y="9898914"/>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Footer right rule"/>
          <p:cNvCxnSpPr/>
          <p:nvPr/>
        </p:nvCxnSpPr>
        <p:spPr>
          <a:xfrm>
            <a:off x="13136296" y="9964506"/>
            <a:ext cx="2887579"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 name="Footer right diamond"/>
          <p:cNvSpPr/>
          <p:nvPr/>
        </p:nvSpPr>
        <p:spPr>
          <a:xfrm>
            <a:off x="12928478" y="9898914"/>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ooter tagline"/>
          <p:cNvSpPr txBox="1"/>
          <p:nvPr/>
        </p:nvSpPr>
        <p:spPr>
          <a:xfrm>
            <a:off x="5665779" y="9751332"/>
            <a:ext cx="7109569"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495" b="0" i="1">
                <a:solidFill>
                  <a:srgbClr val="FFFDFA"/>
                </a:solidFill>
                <a:latin typeface="Times New Roman" panose="02020603050405020304"/>
              </a:defRPr>
            </a:pPr>
            <a:r>
              <a:rPr sz="2495" b="0" i="1">
                <a:solidFill>
                  <a:srgbClr val="FFFDFA"/>
                </a:solidFill>
                <a:latin typeface="Times New Roman" panose="02020603050405020304"/>
              </a:rPr>
              <a:t>A living benchmark for next-generation medical AI</a:t>
            </a:r>
            <a:endParaRPr sz="2495" b="0" i="1">
              <a:solidFill>
                <a:srgbClr val="FFFDFA"/>
              </a:solidFill>
              <a:latin typeface="Times New Roman" panose="02020603050405020304"/>
            </a:endParaRPr>
          </a:p>
        </p:txBody>
      </p:sp>
      <p:sp>
        <p:nvSpPr>
          <p:cNvPr id="13" name="Treatment case context strip"/>
          <p:cNvSpPr/>
          <p:nvPr/>
        </p:nvSpPr>
        <p:spPr>
          <a:xfrm>
            <a:off x="404698" y="1683526"/>
            <a:ext cx="17478602" cy="743375"/>
          </a:xfrm>
          <a:prstGeom prst="roundRect">
            <a:avLst>
              <a:gd name="adj" fmla="val 5000"/>
            </a:avLst>
          </a:prstGeom>
          <a:solidFill>
            <a:srgbClr val="F0F3E9"/>
          </a:solidFill>
          <a:ln w="10937">
            <a:solidFill>
              <a:srgbClr val="BBC6B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reatment task label"/>
          <p:cNvSpPr txBox="1"/>
          <p:nvPr/>
        </p:nvSpPr>
        <p:spPr>
          <a:xfrm>
            <a:off x="667205" y="1902165"/>
            <a:ext cx="2242248" cy="349823"/>
          </a:xfrm>
          <a:prstGeom prst="rect">
            <a:avLst/>
          </a:prstGeom>
          <a:noFill/>
          <a:effectLst/>
        </p:spPr>
        <p:txBody>
          <a:bodyPr wrap="square" lIns="0" tIns="0" rIns="0" bIns="0" anchor="t">
            <a:noAutofit/>
          </a:bodyPr>
          <a:lstStyle/>
          <a:p>
            <a:pPr algn="l">
              <a:lnSpc>
                <a:spcPct val="104000"/>
              </a:lnSpc>
              <a:spcBef>
                <a:spcPts val="0"/>
              </a:spcBef>
              <a:spcAft>
                <a:spcPts val="0"/>
              </a:spcAft>
              <a:defRPr sz="2155" b="1" i="0">
                <a:solidFill>
                  <a:srgbClr val="124936"/>
                </a:solidFill>
                <a:latin typeface="Times New Roman" panose="02020603050405020304"/>
              </a:defRPr>
            </a:pPr>
            <a:r>
              <a:rPr sz="2155" b="1" i="0">
                <a:solidFill>
                  <a:srgbClr val="124936"/>
                </a:solidFill>
                <a:latin typeface="Times New Roman" panose="02020603050405020304"/>
              </a:rPr>
              <a:t>TREATMENT</a:t>
            </a:r>
            <a:endParaRPr sz="2155" b="1" i="0">
              <a:solidFill>
                <a:srgbClr val="124936"/>
              </a:solidFill>
              <a:latin typeface="Times New Roman" panose="02020603050405020304"/>
            </a:endParaRPr>
          </a:p>
        </p:txBody>
      </p:sp>
      <p:cxnSp>
        <p:nvCxnSpPr>
          <p:cNvPr id="15" name="Task specialty separator"/>
          <p:cNvCxnSpPr/>
          <p:nvPr/>
        </p:nvCxnSpPr>
        <p:spPr>
          <a:xfrm>
            <a:off x="2909454" y="1858437"/>
            <a:ext cx="0" cy="404484"/>
          </a:xfrm>
          <a:prstGeom prst="line">
            <a:avLst/>
          </a:prstGeom>
          <a:ln w="10937">
            <a:solidFill>
              <a:srgbClr val="BCA68D"/>
            </a:solidFill>
          </a:ln>
          <a:effectLst/>
        </p:spPr>
        <p:style>
          <a:lnRef idx="2">
            <a:schemeClr val="accent1"/>
          </a:lnRef>
          <a:fillRef idx="0">
            <a:schemeClr val="accent1"/>
          </a:fillRef>
          <a:effectRef idx="0">
            <a:schemeClr val="accent1"/>
          </a:effectRef>
          <a:fontRef idx="minor">
            <a:schemeClr val="tx1"/>
          </a:fontRef>
        </p:style>
      </p:cxnSp>
      <p:sp>
        <p:nvSpPr>
          <p:cNvPr id="16" name="Treatment case description"/>
          <p:cNvSpPr txBox="1"/>
          <p:nvPr/>
        </p:nvSpPr>
        <p:spPr>
          <a:xfrm>
            <a:off x="3171961" y="1902165"/>
            <a:ext cx="13891004" cy="382619"/>
          </a:xfrm>
          <a:prstGeom prst="rect">
            <a:avLst/>
          </a:prstGeom>
          <a:noFill/>
          <a:effectLst/>
        </p:spPr>
        <p:txBody>
          <a:bodyPr wrap="square" lIns="0" tIns="0" rIns="0" bIns="0" anchor="t">
            <a:noAutofit/>
          </a:bodyPr>
          <a:lstStyle/>
          <a:p>
            <a:pPr algn="l">
              <a:lnSpc>
                <a:spcPct val="104000"/>
              </a:lnSpc>
              <a:spcBef>
                <a:spcPts val="0"/>
              </a:spcBef>
              <a:spcAft>
                <a:spcPts val="0"/>
              </a:spcAft>
              <a:defRPr sz="2410" b="0" i="0">
                <a:solidFill>
                  <a:srgbClr val="10243C"/>
                </a:solidFill>
                <a:latin typeface="Times New Roman" panose="02020603050405020304"/>
              </a:defRPr>
            </a:pPr>
            <a:r>
              <a:rPr sz="2410" b="0" i="0">
                <a:solidFill>
                  <a:srgbClr val="10243C"/>
                </a:solidFill>
                <a:latin typeface="Times New Roman" panose="02020603050405020304"/>
              </a:rPr>
              <a:t>Skull-base surgery · Extent of resection · Nerve preservation</a:t>
            </a:r>
            <a:endParaRPr sz="2410" b="0" i="0">
              <a:solidFill>
                <a:srgbClr val="10243C"/>
              </a:solidFill>
              <a:latin typeface="Times New Roman" panose="02020603050405020304"/>
            </a:endParaRPr>
          </a:p>
        </p:txBody>
      </p:sp>
      <p:sp>
        <p:nvSpPr>
          <p:cNvPr id="17" name="Current surgical case panel"/>
          <p:cNvSpPr/>
          <p:nvPr/>
        </p:nvSpPr>
        <p:spPr>
          <a:xfrm>
            <a:off x="404698" y="2569017"/>
            <a:ext cx="8520545" cy="5039646"/>
          </a:xfrm>
          <a:prstGeom prst="roundRect">
            <a:avLst>
              <a:gd name="adj" fmla="val 2500"/>
            </a:avLst>
          </a:prstGeom>
          <a:noFill/>
          <a:ln w="10937">
            <a:solidFill>
              <a:srgbClr val="BCA6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urrent surgical case heading"/>
          <p:cNvSpPr txBox="1"/>
          <p:nvPr/>
        </p:nvSpPr>
        <p:spPr>
          <a:xfrm>
            <a:off x="415636" y="2700200"/>
            <a:ext cx="8498669"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CURRENT CASE</a:t>
            </a:r>
            <a:endParaRPr sz="2325" b="1" i="0">
              <a:solidFill>
                <a:srgbClr val="124936"/>
              </a:solidFill>
              <a:latin typeface="Times New Roman" panose="02020603050405020304"/>
            </a:endParaRPr>
          </a:p>
        </p:txBody>
      </p:sp>
      <p:cxnSp>
        <p:nvCxnSpPr>
          <p:cNvPr id="19" name="Current surgical case left divider"/>
          <p:cNvCxnSpPr/>
          <p:nvPr/>
        </p:nvCxnSpPr>
        <p:spPr>
          <a:xfrm>
            <a:off x="656267" y="3060956"/>
            <a:ext cx="3866512"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cxnSp>
        <p:nvCxnSpPr>
          <p:cNvPr id="20" name="Current surgical case right divider"/>
          <p:cNvCxnSpPr/>
          <p:nvPr/>
        </p:nvCxnSpPr>
        <p:spPr>
          <a:xfrm>
            <a:off x="4807162" y="3060956"/>
            <a:ext cx="3866512"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sp>
        <p:nvSpPr>
          <p:cNvPr id="21" name="Current surgical case diamond"/>
          <p:cNvSpPr/>
          <p:nvPr/>
        </p:nvSpPr>
        <p:spPr>
          <a:xfrm>
            <a:off x="4593875" y="2989898"/>
            <a:ext cx="142191" cy="142115"/>
          </a:xfrm>
          <a:prstGeom prst="diamond">
            <a:avLst/>
          </a:prstGeom>
          <a:solidFill>
            <a:srgbClr val="B9A0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omplete current case text"/>
          <p:cNvSpPr txBox="1"/>
          <p:nvPr/>
        </p:nvSpPr>
        <p:spPr>
          <a:xfrm>
            <a:off x="732832" y="3388916"/>
            <a:ext cx="7831464" cy="3115616"/>
          </a:xfrm>
          <a:prstGeom prst="rect">
            <a:avLst/>
          </a:prstGeom>
          <a:noFill/>
          <a:effectLst/>
        </p:spPr>
        <p:txBody>
          <a:bodyPr wrap="square" lIns="0" tIns="0" rIns="0" bIns="0" anchor="t">
            <a:noAutofit/>
          </a:bodyPr>
          <a:lstStyle/>
          <a:p>
            <a:pPr algn="l">
              <a:lnSpc>
                <a:spcPct val="104000"/>
              </a:lnSpc>
              <a:spcBef>
                <a:spcPts val="0"/>
              </a:spcBef>
              <a:spcAft>
                <a:spcPts val="0"/>
              </a:spcAft>
              <a:defRPr sz="2585" b="0" i="0">
                <a:solidFill>
                  <a:srgbClr val="10243C"/>
                </a:solidFill>
                <a:latin typeface="Times New Roman" panose="02020603050405020304"/>
              </a:defRPr>
            </a:pPr>
            <a:r>
              <a:rPr sz="2585" b="0" i="0">
                <a:solidFill>
                  <a:srgbClr val="10243C"/>
                </a:solidFill>
                <a:latin typeface="Times New Roman" panose="02020603050405020304"/>
              </a:rPr>
              <a:t>A jugular-foramen tumor arises from the accessory nerve. It extends laterally through the extracranial hypoglossal canal to the level of C1. It compresses, but does not invade, the hypoglossal nerve. Adjacent lower cranial nerve territories are also involved. Surgical resection is planned.</a:t>
            </a:r>
            <a:endParaRPr sz="2585" b="0" i="0">
              <a:solidFill>
                <a:srgbClr val="10243C"/>
              </a:solidFill>
              <a:latin typeface="Times New Roman" panose="02020603050405020304"/>
            </a:endParaRPr>
          </a:p>
        </p:txBody>
      </p:sp>
      <p:sp>
        <p:nvSpPr>
          <p:cNvPr id="23" name="Nerve of origin emphasis"/>
          <p:cNvSpPr/>
          <p:nvPr/>
        </p:nvSpPr>
        <p:spPr>
          <a:xfrm>
            <a:off x="667205" y="6613852"/>
            <a:ext cx="7995531" cy="732443"/>
          </a:xfrm>
          <a:prstGeom prst="roundRect">
            <a:avLst>
              <a:gd name="adj" fmla="val 6000"/>
            </a:avLst>
          </a:prstGeom>
          <a:solidFill>
            <a:srgbClr val="F7F5EF"/>
          </a:solidFill>
          <a:ln w="10937">
            <a:solidFill>
              <a:srgbClr val="CCC0A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24" name="Surgical reasoning icon"/>
          <p:cNvGrpSpPr/>
          <p:nvPr/>
        </p:nvGrpSpPr>
        <p:grpSpPr>
          <a:xfrm>
            <a:off x="923806" y="6821997"/>
            <a:ext cx="226849" cy="327085"/>
            <a:chOff x="923806" y="6821997"/>
            <a:chExt cx="226849" cy="327085"/>
          </a:xfrm>
        </p:grpSpPr>
        <p:sp>
          <p:nvSpPr>
            <p:cNvPr id="25" name="Surgical reasoning icon outline"/>
            <p:cNvSpPr/>
            <p:nvPr/>
          </p:nvSpPr>
          <p:spPr>
            <a:xfrm>
              <a:off x="923806" y="6821997"/>
              <a:ext cx="226849" cy="327085"/>
            </a:xfrm>
            <a:prstGeom prst="rect">
              <a:avLst/>
            </a:prstGeom>
            <a:noFill/>
            <a:ln w="21875">
              <a:solidFill>
                <a:srgbClr val="1249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Surgical reasoning icon stroke"/>
            <p:cNvCxnSpPr/>
            <p:nvPr/>
          </p:nvCxnSpPr>
          <p:spPr>
            <a:xfrm>
              <a:off x="968432" y="6918636"/>
              <a:ext cx="141317" cy="0"/>
            </a:xfrm>
            <a:prstGeom prst="line">
              <a:avLst/>
            </a:prstGeom>
            <a:ln w="21875">
              <a:solidFill>
                <a:srgbClr val="124936"/>
              </a:solidFill>
            </a:ln>
            <a:effectLst/>
          </p:spPr>
          <p:style>
            <a:lnRef idx="2">
              <a:schemeClr val="accent1"/>
            </a:lnRef>
            <a:fillRef idx="0">
              <a:schemeClr val="accent1"/>
            </a:fillRef>
            <a:effectRef idx="0">
              <a:schemeClr val="accent1"/>
            </a:effectRef>
            <a:fontRef idx="minor">
              <a:schemeClr val="tx1"/>
            </a:fontRef>
          </p:style>
        </p:cxnSp>
        <p:cxnSp>
          <p:nvCxnSpPr>
            <p:cNvPr id="27" name="Surgical reasoning icon stroke"/>
            <p:cNvCxnSpPr/>
            <p:nvPr/>
          </p:nvCxnSpPr>
          <p:spPr>
            <a:xfrm>
              <a:off x="968432" y="6981822"/>
              <a:ext cx="141317" cy="0"/>
            </a:xfrm>
            <a:prstGeom prst="line">
              <a:avLst/>
            </a:prstGeom>
            <a:ln w="21875">
              <a:solidFill>
                <a:srgbClr val="124936"/>
              </a:solidFill>
            </a:ln>
            <a:effectLst/>
          </p:spPr>
          <p:style>
            <a:lnRef idx="2">
              <a:schemeClr val="accent1"/>
            </a:lnRef>
            <a:fillRef idx="0">
              <a:schemeClr val="accent1"/>
            </a:fillRef>
            <a:effectRef idx="0">
              <a:schemeClr val="accent1"/>
            </a:effectRef>
            <a:fontRef idx="minor">
              <a:schemeClr val="tx1"/>
            </a:fontRef>
          </p:style>
        </p:cxnSp>
        <p:cxnSp>
          <p:nvCxnSpPr>
            <p:cNvPr id="28" name="Surgical reasoning icon stroke"/>
            <p:cNvCxnSpPr/>
            <p:nvPr/>
          </p:nvCxnSpPr>
          <p:spPr>
            <a:xfrm>
              <a:off x="968432" y="7045009"/>
              <a:ext cx="141317" cy="0"/>
            </a:xfrm>
            <a:prstGeom prst="line">
              <a:avLst/>
            </a:prstGeom>
            <a:ln w="21875">
              <a:solidFill>
                <a:srgbClr val="124936"/>
              </a:solidFill>
            </a:ln>
            <a:effectLst/>
          </p:spPr>
          <p:style>
            <a:lnRef idx="2">
              <a:schemeClr val="accent1"/>
            </a:lnRef>
            <a:fillRef idx="0">
              <a:schemeClr val="accent1"/>
            </a:fillRef>
            <a:effectRef idx="0">
              <a:schemeClr val="accent1"/>
            </a:effectRef>
            <a:fontRef idx="minor">
              <a:schemeClr val="tx1"/>
            </a:fontRef>
          </p:style>
        </p:cxnSp>
      </p:grpSp>
      <p:sp>
        <p:nvSpPr>
          <p:cNvPr id="29" name="Nerve of origin emphasis text"/>
          <p:cNvSpPr txBox="1"/>
          <p:nvPr/>
        </p:nvSpPr>
        <p:spPr>
          <a:xfrm>
            <a:off x="1432851" y="6810628"/>
            <a:ext cx="7033004" cy="426347"/>
          </a:xfrm>
          <a:prstGeom prst="rect">
            <a:avLst/>
          </a:prstGeom>
          <a:noFill/>
          <a:effectLst/>
        </p:spPr>
        <p:txBody>
          <a:bodyPr wrap="square" lIns="0" tIns="0" rIns="0" bIns="0" anchor="t">
            <a:noAutofit/>
          </a:bodyPr>
          <a:lstStyle/>
          <a:p>
            <a:pPr algn="l">
              <a:lnSpc>
                <a:spcPct val="104000"/>
              </a:lnSpc>
              <a:spcBef>
                <a:spcPts val="0"/>
              </a:spcBef>
              <a:spcAft>
                <a:spcPts val="0"/>
              </a:spcAft>
              <a:defRPr sz="2155" b="1" i="0">
                <a:solidFill>
                  <a:srgbClr val="124936"/>
                </a:solidFill>
                <a:latin typeface="Times New Roman" panose="02020603050405020304"/>
              </a:defRPr>
            </a:pPr>
            <a:r>
              <a:rPr sz="2155" b="1" i="0">
                <a:solidFill>
                  <a:srgbClr val="124936"/>
                </a:solidFill>
                <a:latin typeface="Times New Roman" panose="02020603050405020304"/>
              </a:rPr>
              <a:t>The nerve of origin is the accessory nerve (CN XI).</a:t>
            </a:r>
            <a:endParaRPr sz="2155" b="1" i="0">
              <a:solidFill>
                <a:srgbClr val="124936"/>
              </a:solidFill>
              <a:latin typeface="Times New Roman" panose="02020603050405020304"/>
            </a:endParaRPr>
          </a:p>
        </p:txBody>
      </p:sp>
      <p:sp>
        <p:nvSpPr>
          <p:cNvPr id="30" name="Anatomical relationship schematic panel"/>
          <p:cNvSpPr/>
          <p:nvPr/>
        </p:nvSpPr>
        <p:spPr>
          <a:xfrm>
            <a:off x="9122124" y="2569017"/>
            <a:ext cx="8761177" cy="5039646"/>
          </a:xfrm>
          <a:prstGeom prst="roundRect">
            <a:avLst>
              <a:gd name="adj" fmla="val 2500"/>
            </a:avLst>
          </a:prstGeom>
          <a:noFill/>
          <a:ln w="10937">
            <a:solidFill>
              <a:srgbClr val="BCA6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Surgical relationship schematic heading"/>
          <p:cNvSpPr txBox="1"/>
          <p:nvPr/>
        </p:nvSpPr>
        <p:spPr>
          <a:xfrm>
            <a:off x="9144000" y="2700200"/>
            <a:ext cx="8717425"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KEY RELATIONSHIPS</a:t>
            </a:r>
            <a:endParaRPr sz="2325" b="1" i="0">
              <a:solidFill>
                <a:srgbClr val="124936"/>
              </a:solidFill>
              <a:latin typeface="Times New Roman" panose="02020603050405020304"/>
            </a:endParaRPr>
          </a:p>
        </p:txBody>
      </p:sp>
      <p:cxnSp>
        <p:nvCxnSpPr>
          <p:cNvPr id="32" name="Surgical relationship schematic left divider"/>
          <p:cNvCxnSpPr/>
          <p:nvPr/>
        </p:nvCxnSpPr>
        <p:spPr>
          <a:xfrm>
            <a:off x="9384631" y="3060956"/>
            <a:ext cx="3975890"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cxnSp>
        <p:nvCxnSpPr>
          <p:cNvPr id="33" name="Surgical relationship schematic right divider"/>
          <p:cNvCxnSpPr/>
          <p:nvPr/>
        </p:nvCxnSpPr>
        <p:spPr>
          <a:xfrm>
            <a:off x="13644904" y="3060956"/>
            <a:ext cx="3975890"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sp>
        <p:nvSpPr>
          <p:cNvPr id="34" name="Surgical relationship schematic diamond"/>
          <p:cNvSpPr/>
          <p:nvPr/>
        </p:nvSpPr>
        <p:spPr>
          <a:xfrm>
            <a:off x="13431617" y="2989898"/>
            <a:ext cx="142191" cy="142115"/>
          </a:xfrm>
          <a:prstGeom prst="diamond">
            <a:avLst/>
          </a:prstGeom>
          <a:solidFill>
            <a:srgbClr val="B9A0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5" name="Relationship schematic spine"/>
          <p:cNvCxnSpPr/>
          <p:nvPr/>
        </p:nvCxnSpPr>
        <p:spPr>
          <a:xfrm>
            <a:off x="9548698" y="3684079"/>
            <a:ext cx="0" cy="2918841"/>
          </a:xfrm>
          <a:prstGeom prst="line">
            <a:avLst/>
          </a:prstGeom>
          <a:ln w="21875">
            <a:solidFill>
              <a:srgbClr val="B69F7A"/>
            </a:solidFill>
          </a:ln>
          <a:effectLst/>
        </p:spPr>
        <p:style>
          <a:lnRef idx="2">
            <a:schemeClr val="accent1"/>
          </a:lnRef>
          <a:fillRef idx="0">
            <a:schemeClr val="accent1"/>
          </a:fillRef>
          <a:effectRef idx="0">
            <a:schemeClr val="accent1"/>
          </a:effectRef>
          <a:fontRef idx="minor">
            <a:schemeClr val="tx1"/>
          </a:fontRef>
        </p:style>
      </p:cxnSp>
      <p:cxnSp>
        <p:nvCxnSpPr>
          <p:cNvPr id="36" name="Relationship schematic connection"/>
          <p:cNvCxnSpPr/>
          <p:nvPr/>
        </p:nvCxnSpPr>
        <p:spPr>
          <a:xfrm>
            <a:off x="9548698" y="3684079"/>
            <a:ext cx="262507" cy="0"/>
          </a:xfrm>
          <a:prstGeom prst="line">
            <a:avLst/>
          </a:prstGeom>
          <a:ln w="21875">
            <a:solidFill>
              <a:srgbClr val="B69F7A"/>
            </a:solidFill>
          </a:ln>
          <a:effectLst/>
        </p:spPr>
        <p:style>
          <a:lnRef idx="2">
            <a:schemeClr val="accent1"/>
          </a:lnRef>
          <a:fillRef idx="0">
            <a:schemeClr val="accent1"/>
          </a:fillRef>
          <a:effectRef idx="0">
            <a:schemeClr val="accent1"/>
          </a:effectRef>
          <a:fontRef idx="minor">
            <a:schemeClr val="tx1"/>
          </a:fontRef>
        </p:style>
      </p:cxnSp>
      <p:cxnSp>
        <p:nvCxnSpPr>
          <p:cNvPr id="37" name="Relationship schematic connection"/>
          <p:cNvCxnSpPr/>
          <p:nvPr/>
        </p:nvCxnSpPr>
        <p:spPr>
          <a:xfrm>
            <a:off x="9548698" y="4689822"/>
            <a:ext cx="262507" cy="0"/>
          </a:xfrm>
          <a:prstGeom prst="line">
            <a:avLst/>
          </a:prstGeom>
          <a:ln w="21875">
            <a:solidFill>
              <a:srgbClr val="B69F7A"/>
            </a:solidFill>
          </a:ln>
          <a:effectLst/>
        </p:spPr>
        <p:style>
          <a:lnRef idx="2">
            <a:schemeClr val="accent1"/>
          </a:lnRef>
          <a:fillRef idx="0">
            <a:schemeClr val="accent1"/>
          </a:fillRef>
          <a:effectRef idx="0">
            <a:schemeClr val="accent1"/>
          </a:effectRef>
          <a:fontRef idx="minor">
            <a:schemeClr val="tx1"/>
          </a:fontRef>
        </p:style>
      </p:cxnSp>
      <p:cxnSp>
        <p:nvCxnSpPr>
          <p:cNvPr id="38" name="Relationship schematic connection"/>
          <p:cNvCxnSpPr/>
          <p:nvPr/>
        </p:nvCxnSpPr>
        <p:spPr>
          <a:xfrm>
            <a:off x="9548698" y="5629973"/>
            <a:ext cx="262507" cy="0"/>
          </a:xfrm>
          <a:prstGeom prst="line">
            <a:avLst/>
          </a:prstGeom>
          <a:ln w="21875">
            <a:solidFill>
              <a:srgbClr val="B69F7A"/>
            </a:solidFill>
          </a:ln>
          <a:effectLst/>
        </p:spPr>
        <p:style>
          <a:lnRef idx="2">
            <a:schemeClr val="accent1"/>
          </a:lnRef>
          <a:fillRef idx="0">
            <a:schemeClr val="accent1"/>
          </a:fillRef>
          <a:effectRef idx="0">
            <a:schemeClr val="accent1"/>
          </a:effectRef>
          <a:fontRef idx="minor">
            <a:schemeClr val="tx1"/>
          </a:fontRef>
        </p:style>
      </p:cxnSp>
      <p:cxnSp>
        <p:nvCxnSpPr>
          <p:cNvPr id="39" name="Relationship schematic connection"/>
          <p:cNvCxnSpPr/>
          <p:nvPr/>
        </p:nvCxnSpPr>
        <p:spPr>
          <a:xfrm>
            <a:off x="9548698" y="6570124"/>
            <a:ext cx="262507" cy="0"/>
          </a:xfrm>
          <a:prstGeom prst="line">
            <a:avLst/>
          </a:prstGeom>
          <a:ln w="21875">
            <a:solidFill>
              <a:srgbClr val="B69F7A"/>
            </a:solidFill>
          </a:ln>
          <a:effectLst/>
        </p:spPr>
        <p:style>
          <a:lnRef idx="2">
            <a:schemeClr val="accent1"/>
          </a:lnRef>
          <a:fillRef idx="0">
            <a:schemeClr val="accent1"/>
          </a:fillRef>
          <a:effectRef idx="0">
            <a:schemeClr val="accent1"/>
          </a:effectRef>
          <a:fontRef idx="minor">
            <a:schemeClr val="tx1"/>
          </a:fontRef>
        </p:style>
      </p:cxnSp>
      <p:sp>
        <p:nvSpPr>
          <p:cNvPr id="40" name="Jugular foramen tumor node"/>
          <p:cNvSpPr/>
          <p:nvPr/>
        </p:nvSpPr>
        <p:spPr>
          <a:xfrm>
            <a:off x="9811205" y="3323324"/>
            <a:ext cx="7568956" cy="710579"/>
          </a:xfrm>
          <a:prstGeom prst="roundRect">
            <a:avLst>
              <a:gd name="adj" fmla="val 7500"/>
            </a:avLst>
          </a:prstGeom>
          <a:solidFill>
            <a:srgbClr val="831C20"/>
          </a:solidFill>
          <a:ln w="10937">
            <a:solidFill>
              <a:srgbClr val="7D252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Jugular foramen tumor label"/>
          <p:cNvSpPr txBox="1"/>
          <p:nvPr/>
        </p:nvSpPr>
        <p:spPr>
          <a:xfrm>
            <a:off x="9986210" y="3465439"/>
            <a:ext cx="7208009" cy="459143"/>
          </a:xfrm>
          <a:prstGeom prst="rect">
            <a:avLst/>
          </a:prstGeom>
          <a:noFill/>
          <a:effectLst/>
        </p:spPr>
        <p:txBody>
          <a:bodyPr wrap="square" lIns="0" tIns="0" rIns="0" bIns="0" anchor="t">
            <a:noAutofit/>
          </a:bodyPr>
          <a:lstStyle/>
          <a:p>
            <a:pPr algn="ctr">
              <a:lnSpc>
                <a:spcPct val="104000"/>
              </a:lnSpc>
              <a:spcBef>
                <a:spcPts val="0"/>
              </a:spcBef>
              <a:spcAft>
                <a:spcPts val="0"/>
              </a:spcAft>
              <a:defRPr sz="2670" b="1" i="0">
                <a:solidFill>
                  <a:srgbClr val="FFFDFA"/>
                </a:solidFill>
                <a:latin typeface="Times New Roman" panose="02020603050405020304"/>
              </a:defRPr>
            </a:pPr>
            <a:r>
              <a:rPr sz="2670" b="1" i="0">
                <a:solidFill>
                  <a:srgbClr val="FFFDFA"/>
                </a:solidFill>
                <a:latin typeface="Times New Roman" panose="02020603050405020304"/>
              </a:rPr>
              <a:t>Jugular-foramen tumor</a:t>
            </a:r>
            <a:endParaRPr sz="2670" b="1" i="0">
              <a:solidFill>
                <a:srgbClr val="FFFDFA"/>
              </a:solidFill>
              <a:latin typeface="Times New Roman" panose="02020603050405020304"/>
            </a:endParaRPr>
          </a:p>
        </p:txBody>
      </p:sp>
      <p:sp>
        <p:nvSpPr>
          <p:cNvPr id="42" name="CN XI · Accessory nerve relationship node"/>
          <p:cNvSpPr/>
          <p:nvPr/>
        </p:nvSpPr>
        <p:spPr>
          <a:xfrm>
            <a:off x="9811205" y="4296270"/>
            <a:ext cx="7568956" cy="787103"/>
          </a:xfrm>
          <a:prstGeom prst="roundRect">
            <a:avLst>
              <a:gd name="adj" fmla="val 6000"/>
            </a:avLst>
          </a:prstGeom>
          <a:solidFill>
            <a:srgbClr val="F7F5EF"/>
          </a:solidFill>
          <a:ln w="10937">
            <a:solidFill>
              <a:srgbClr val="C7B9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CN XI · Accessory nerve label"/>
          <p:cNvSpPr txBox="1"/>
          <p:nvPr/>
        </p:nvSpPr>
        <p:spPr>
          <a:xfrm>
            <a:off x="10019023" y="4350930"/>
            <a:ext cx="7153320" cy="360755"/>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CN XI · Accessory nerve</a:t>
            </a:r>
            <a:endParaRPr sz="2325" b="1" i="0">
              <a:solidFill>
                <a:srgbClr val="124936"/>
              </a:solidFill>
              <a:latin typeface="Times New Roman" panose="02020603050405020304"/>
            </a:endParaRPr>
          </a:p>
        </p:txBody>
      </p:sp>
      <p:sp>
        <p:nvSpPr>
          <p:cNvPr id="44" name="CN XI · Accessory nerve relation"/>
          <p:cNvSpPr txBox="1"/>
          <p:nvPr/>
        </p:nvSpPr>
        <p:spPr>
          <a:xfrm>
            <a:off x="10019023" y="4711686"/>
            <a:ext cx="7153320" cy="317027"/>
          </a:xfrm>
          <a:prstGeom prst="rect">
            <a:avLst/>
          </a:prstGeom>
          <a:noFill/>
          <a:effectLst/>
        </p:spPr>
        <p:txBody>
          <a:bodyPr wrap="square" lIns="0" tIns="0" rIns="0" bIns="0" anchor="t">
            <a:noAutofit/>
          </a:bodyPr>
          <a:lstStyle/>
          <a:p>
            <a:pPr algn="ctr">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Nerve of origin</a:t>
            </a:r>
            <a:endParaRPr sz="2065" b="0" i="0">
              <a:solidFill>
                <a:srgbClr val="10243C"/>
              </a:solidFill>
              <a:latin typeface="Times New Roman" panose="02020603050405020304"/>
            </a:endParaRPr>
          </a:p>
        </p:txBody>
      </p:sp>
      <p:sp>
        <p:nvSpPr>
          <p:cNvPr id="45" name="CN XII · Hypoglossal nerve relationship node"/>
          <p:cNvSpPr/>
          <p:nvPr/>
        </p:nvSpPr>
        <p:spPr>
          <a:xfrm>
            <a:off x="9811205" y="5236421"/>
            <a:ext cx="7568956" cy="787103"/>
          </a:xfrm>
          <a:prstGeom prst="roundRect">
            <a:avLst>
              <a:gd name="adj" fmla="val 6000"/>
            </a:avLst>
          </a:prstGeom>
          <a:solidFill>
            <a:srgbClr val="F7F5EF"/>
          </a:solidFill>
          <a:ln w="10937">
            <a:solidFill>
              <a:srgbClr val="C7B9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CN XII · Hypoglossal nerve label"/>
          <p:cNvSpPr txBox="1"/>
          <p:nvPr/>
        </p:nvSpPr>
        <p:spPr>
          <a:xfrm>
            <a:off x="10019023" y="5291081"/>
            <a:ext cx="7153320" cy="360755"/>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CN XII · Hypoglossal nerve</a:t>
            </a:r>
            <a:endParaRPr sz="2325" b="1" i="0">
              <a:solidFill>
                <a:srgbClr val="124936"/>
              </a:solidFill>
              <a:latin typeface="Times New Roman" panose="02020603050405020304"/>
            </a:endParaRPr>
          </a:p>
        </p:txBody>
      </p:sp>
      <p:sp>
        <p:nvSpPr>
          <p:cNvPr id="47" name="CN XII · Hypoglossal nerve relation"/>
          <p:cNvSpPr txBox="1"/>
          <p:nvPr/>
        </p:nvSpPr>
        <p:spPr>
          <a:xfrm>
            <a:off x="10019023" y="5651837"/>
            <a:ext cx="7153320" cy="317027"/>
          </a:xfrm>
          <a:prstGeom prst="rect">
            <a:avLst/>
          </a:prstGeom>
          <a:noFill/>
          <a:effectLst/>
        </p:spPr>
        <p:txBody>
          <a:bodyPr wrap="square" lIns="0" tIns="0" rIns="0" bIns="0" anchor="t">
            <a:noAutofit/>
          </a:bodyPr>
          <a:lstStyle/>
          <a:p>
            <a:pPr algn="ctr">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Compressed, but not invaded</a:t>
            </a:r>
            <a:endParaRPr sz="2065" b="0" i="0">
              <a:solidFill>
                <a:srgbClr val="10243C"/>
              </a:solidFill>
              <a:latin typeface="Times New Roman" panose="02020603050405020304"/>
            </a:endParaRPr>
          </a:p>
        </p:txBody>
      </p:sp>
      <p:sp>
        <p:nvSpPr>
          <p:cNvPr id="48" name="Extension to C1 relationship node"/>
          <p:cNvSpPr/>
          <p:nvPr/>
        </p:nvSpPr>
        <p:spPr>
          <a:xfrm>
            <a:off x="9811205" y="6176572"/>
            <a:ext cx="7568956" cy="787103"/>
          </a:xfrm>
          <a:prstGeom prst="roundRect">
            <a:avLst>
              <a:gd name="adj" fmla="val 6000"/>
            </a:avLst>
          </a:prstGeom>
          <a:solidFill>
            <a:srgbClr val="F7F5EF"/>
          </a:solidFill>
          <a:ln w="10937">
            <a:solidFill>
              <a:srgbClr val="C7B9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Extension to C1 label"/>
          <p:cNvSpPr txBox="1"/>
          <p:nvPr/>
        </p:nvSpPr>
        <p:spPr>
          <a:xfrm>
            <a:off x="10019023" y="6231232"/>
            <a:ext cx="7153320" cy="360755"/>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Extension to C1</a:t>
            </a:r>
            <a:endParaRPr sz="2325" b="1" i="0">
              <a:solidFill>
                <a:srgbClr val="124936"/>
              </a:solidFill>
              <a:latin typeface="Times New Roman" panose="02020603050405020304"/>
            </a:endParaRPr>
          </a:p>
        </p:txBody>
      </p:sp>
      <p:sp>
        <p:nvSpPr>
          <p:cNvPr id="50" name="Extension to C1 relation"/>
          <p:cNvSpPr txBox="1"/>
          <p:nvPr/>
        </p:nvSpPr>
        <p:spPr>
          <a:xfrm>
            <a:off x="10019023" y="6591988"/>
            <a:ext cx="7153320" cy="317027"/>
          </a:xfrm>
          <a:prstGeom prst="rect">
            <a:avLst/>
          </a:prstGeom>
          <a:noFill/>
          <a:effectLst/>
        </p:spPr>
        <p:txBody>
          <a:bodyPr wrap="square" lIns="0" tIns="0" rIns="0" bIns="0" anchor="t">
            <a:noAutofit/>
          </a:bodyPr>
          <a:lstStyle/>
          <a:p>
            <a:pPr algn="ctr">
              <a:lnSpc>
                <a:spcPct val="104000"/>
              </a:lnSpc>
              <a:spcBef>
                <a:spcPts val="0"/>
              </a:spcBef>
              <a:spcAft>
                <a:spcPts val="0"/>
              </a:spcAft>
              <a:defRPr sz="2065" b="0" i="0">
                <a:solidFill>
                  <a:srgbClr val="10243C"/>
                </a:solidFill>
                <a:latin typeface="Times New Roman" panose="02020603050405020304"/>
              </a:defRPr>
            </a:pPr>
            <a:r>
              <a:rPr sz="2065" b="0" i="0">
                <a:solidFill>
                  <a:srgbClr val="10243C"/>
                </a:solidFill>
                <a:latin typeface="Times New Roman" panose="02020603050405020304"/>
              </a:rPr>
              <a:t>Through the extracranial hypoglossal canal</a:t>
            </a:r>
            <a:endParaRPr sz="2065" b="0" i="0">
              <a:solidFill>
                <a:srgbClr val="10243C"/>
              </a:solidFill>
              <a:latin typeface="Times New Roman" panose="02020603050405020304"/>
            </a:endParaRPr>
          </a:p>
        </p:txBody>
      </p:sp>
      <p:sp>
        <p:nvSpPr>
          <p:cNvPr id="51" name="Schematic designation"/>
          <p:cNvSpPr txBox="1"/>
          <p:nvPr/>
        </p:nvSpPr>
        <p:spPr>
          <a:xfrm>
            <a:off x="9417444" y="7182315"/>
            <a:ext cx="8170535" cy="273299"/>
          </a:xfrm>
          <a:prstGeom prst="rect">
            <a:avLst/>
          </a:prstGeom>
          <a:noFill/>
          <a:effectLst/>
        </p:spPr>
        <p:txBody>
          <a:bodyPr wrap="square" lIns="0" tIns="0" rIns="0" bIns="0" anchor="t">
            <a:noAutofit/>
          </a:bodyPr>
          <a:lstStyle/>
          <a:p>
            <a:pPr algn="ctr">
              <a:lnSpc>
                <a:spcPct val="104000"/>
              </a:lnSpc>
              <a:spcBef>
                <a:spcPts val="0"/>
              </a:spcBef>
              <a:spcAft>
                <a:spcPts val="0"/>
              </a:spcAft>
              <a:defRPr sz="1550" b="0" i="0">
                <a:solidFill>
                  <a:srgbClr val="5D5B55"/>
                </a:solidFill>
                <a:latin typeface="Times New Roman" panose="02020603050405020304"/>
              </a:defRPr>
            </a:pPr>
            <a:r>
              <a:rPr sz="1550" b="0" i="0">
                <a:solidFill>
                  <a:srgbClr val="5D5B55"/>
                </a:solidFill>
                <a:latin typeface="Times New Roman" panose="02020603050405020304"/>
              </a:rPr>
              <a:t>Relationship schematic · not an anatomical image</a:t>
            </a:r>
            <a:endParaRPr sz="1550" b="0" i="0">
              <a:solidFill>
                <a:srgbClr val="5D5B55"/>
              </a:solidFill>
              <a:latin typeface="Times New Roman" panose="02020603050405020304"/>
            </a:endParaRPr>
          </a:p>
        </p:txBody>
      </p:sp>
      <p:sp>
        <p:nvSpPr>
          <p:cNvPr id="52" name="Current surgical question card"/>
          <p:cNvSpPr/>
          <p:nvPr/>
        </p:nvSpPr>
        <p:spPr>
          <a:xfrm>
            <a:off x="404698" y="7783574"/>
            <a:ext cx="17478602" cy="1432090"/>
          </a:xfrm>
          <a:prstGeom prst="roundRect">
            <a:avLst>
              <a:gd name="adj" fmla="val 4000"/>
            </a:avLst>
          </a:prstGeom>
          <a:solidFill>
            <a:srgbClr val="F7F5EF"/>
          </a:solidFill>
          <a:ln w="10937">
            <a:solidFill>
              <a:srgbClr val="BCA6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Surgical question icon disc"/>
          <p:cNvSpPr/>
          <p:nvPr/>
        </p:nvSpPr>
        <p:spPr>
          <a:xfrm>
            <a:off x="689081" y="8231786"/>
            <a:ext cx="656267" cy="655919"/>
          </a:xfrm>
          <a:prstGeom prst="ellipse">
            <a:avLst/>
          </a:prstGeom>
          <a:solidFill>
            <a:srgbClr val="0052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Surgical question mark"/>
          <p:cNvSpPr txBox="1"/>
          <p:nvPr/>
        </p:nvSpPr>
        <p:spPr>
          <a:xfrm>
            <a:off x="754708" y="8209922"/>
            <a:ext cx="525014" cy="677783"/>
          </a:xfrm>
          <a:prstGeom prst="rect">
            <a:avLst/>
          </a:prstGeom>
          <a:noFill/>
          <a:effectLst/>
        </p:spPr>
        <p:txBody>
          <a:bodyPr wrap="square" lIns="0" tIns="0" rIns="0" bIns="0" anchor="t">
            <a:noAutofit/>
          </a:bodyPr>
          <a:lstStyle/>
          <a:p>
            <a:pPr algn="ctr">
              <a:lnSpc>
                <a:spcPct val="104000"/>
              </a:lnSpc>
              <a:spcBef>
                <a:spcPts val="0"/>
              </a:spcBef>
              <a:spcAft>
                <a:spcPts val="0"/>
              </a:spcAft>
              <a:defRPr sz="4565" b="1" i="0">
                <a:solidFill>
                  <a:srgbClr val="FFFDFA"/>
                </a:solidFill>
                <a:latin typeface="Times New Roman" panose="02020603050405020304"/>
              </a:defRPr>
            </a:pPr>
            <a:r>
              <a:rPr sz="4565" b="1" i="0">
                <a:solidFill>
                  <a:srgbClr val="FFFDFA"/>
                </a:solidFill>
                <a:latin typeface="Times New Roman" panose="02020603050405020304"/>
              </a:rPr>
              <a:t>?</a:t>
            </a:r>
            <a:endParaRPr sz="4565" b="1" i="0">
              <a:solidFill>
                <a:srgbClr val="FFFDFA"/>
              </a:solidFill>
              <a:latin typeface="Times New Roman" panose="02020603050405020304"/>
            </a:endParaRPr>
          </a:p>
        </p:txBody>
      </p:sp>
      <p:sp>
        <p:nvSpPr>
          <p:cNvPr id="55" name="Current surgical question heading"/>
          <p:cNvSpPr txBox="1"/>
          <p:nvPr/>
        </p:nvSpPr>
        <p:spPr>
          <a:xfrm>
            <a:off x="1596918" y="7903826"/>
            <a:ext cx="15958248" cy="360755"/>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CURRENT BENCHMARK QUESTION</a:t>
            </a:r>
            <a:endParaRPr sz="1980" b="1" i="0">
              <a:solidFill>
                <a:srgbClr val="124936"/>
              </a:solidFill>
              <a:latin typeface="Times New Roman" panose="02020603050405020304"/>
            </a:endParaRPr>
          </a:p>
        </p:txBody>
      </p:sp>
      <p:sp>
        <p:nvSpPr>
          <p:cNvPr id="56" name="Complete current surgical question"/>
          <p:cNvSpPr txBox="1"/>
          <p:nvPr/>
        </p:nvSpPr>
        <p:spPr>
          <a:xfrm>
            <a:off x="1596918" y="8330174"/>
            <a:ext cx="15903559" cy="798035"/>
          </a:xfrm>
          <a:prstGeom prst="rect">
            <a:avLst/>
          </a:prstGeom>
          <a:noFill/>
          <a:effectLst/>
        </p:spPr>
        <p:txBody>
          <a:bodyPr wrap="square" lIns="0" tIns="0" rIns="0" bIns="0" anchor="t">
            <a:noAutofit/>
          </a:bodyPr>
          <a:lstStyle/>
          <a:p>
            <a:pPr algn="l">
              <a:lnSpc>
                <a:spcPct val="104000"/>
              </a:lnSpc>
              <a:spcBef>
                <a:spcPts val="0"/>
              </a:spcBef>
              <a:spcAft>
                <a:spcPts val="0"/>
              </a:spcAft>
              <a:defRPr sz="2670" b="0" i="0">
                <a:solidFill>
                  <a:srgbClr val="10243C"/>
                </a:solidFill>
                <a:latin typeface="Times New Roman" panose="02020603050405020304"/>
              </a:defRPr>
            </a:pPr>
            <a:r>
              <a:rPr sz="2670" b="0" i="0">
                <a:solidFill>
                  <a:srgbClr val="10243C"/>
                </a:solidFill>
                <a:latin typeface="Times New Roman" panose="02020603050405020304"/>
              </a:rPr>
              <a:t>What extent-of-resection approach for the intracranial portion best balances tumor removal with preservation of the nerve of origin?</a:t>
            </a:r>
            <a:endParaRPr sz="2670" b="0" i="0">
              <a:solidFill>
                <a:srgbClr val="10243C"/>
              </a:solidFill>
              <a:latin typeface="Times New Roman" panose="02020603050405020304"/>
            </a:endParaRPr>
          </a:p>
        </p:txBody>
      </p:sp>
      <p:sp>
        <p:nvSpPr>
          <p:cNvPr id="57" name="Question and score version note"/>
          <p:cNvSpPr txBox="1"/>
          <p:nvPr/>
        </p:nvSpPr>
        <p:spPr>
          <a:xfrm>
            <a:off x="426574" y="9357781"/>
            <a:ext cx="9329942" cy="262367"/>
          </a:xfrm>
          <a:prstGeom prst="rect">
            <a:avLst/>
          </a:prstGeom>
          <a:noFill/>
          <a:effectLst/>
        </p:spPr>
        <p:txBody>
          <a:bodyPr wrap="square" lIns="0" tIns="0" rIns="0" bIns="0" anchor="t">
            <a:noAutofit/>
          </a:bodyPr>
          <a:lstStyle/>
          <a:p>
            <a:pPr algn="l">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Dataset v1.3.0 · Question v1.2.1 · Scores v1.1.0; revised question not rerun.</a:t>
            </a:r>
            <a:endParaRPr sz="1375" b="0" i="0">
              <a:solidFill>
                <a:srgbClr val="10243C"/>
              </a:solidFill>
              <a:latin typeface="Times New Roman" panose="02020603050405020304"/>
            </a:endParaRPr>
          </a:p>
        </p:txBody>
      </p:sp>
      <p:sp>
        <p:nvSpPr>
          <p:cNvPr id="58" name="Surgical case source credit"/>
          <p:cNvSpPr txBox="1"/>
          <p:nvPr/>
        </p:nvSpPr>
        <p:spPr>
          <a:xfrm>
            <a:off x="9854956" y="9357781"/>
            <a:ext cx="7995531" cy="262367"/>
          </a:xfrm>
          <a:prstGeom prst="rect">
            <a:avLst/>
          </a:prstGeom>
          <a:noFill/>
          <a:effectLst/>
        </p:spPr>
        <p:txBody>
          <a:bodyPr wrap="square" lIns="0" tIns="0" rIns="0" bIns="0" anchor="t">
            <a:noAutofit/>
          </a:bodyPr>
          <a:lstStyle/>
          <a:p>
            <a:pPr algn="r">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Futamura et al., Life (2026) · doi:10.3390/life16040655 · CC BY</a:t>
            </a:r>
            <a:endParaRPr sz="1375" b="0" i="0">
              <a:solidFill>
                <a:srgbClr val="10243C"/>
              </a:solidFill>
              <a:latin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BF8F1"/>
        </a:solidFill>
        <a:effectLst/>
      </p:bgPr>
    </p:bg>
    <p:spTree>
      <p:nvGrpSpPr>
        <p:cNvPr id="1" name=""/>
        <p:cNvGrpSpPr/>
        <p:nvPr/>
      </p:nvGrpSpPr>
      <p:grpSpPr/>
      <p:sp>
        <p:nvSpPr>
          <p:cNvPr id="2" name="Masthead gradient"/>
          <p:cNvSpPr/>
          <p:nvPr/>
        </p:nvSpPr>
        <p:spPr>
          <a:xfrm>
            <a:off x="0" y="0"/>
            <a:ext cx="18288000" cy="1530478"/>
          </a:xfrm>
          <a:prstGeom prst="rect">
            <a:avLst/>
          </a:prstGeom>
          <a:blipFill rotWithShape="1">
            <a:blip r:embed="rId1"/>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ain title"/>
          <p:cNvSpPr txBox="1"/>
          <p:nvPr/>
        </p:nvSpPr>
        <p:spPr>
          <a:xfrm>
            <a:off x="503138" y="163979"/>
            <a:ext cx="14656650" cy="830831"/>
          </a:xfrm>
          <a:prstGeom prst="rect">
            <a:avLst/>
          </a:prstGeom>
          <a:noFill/>
          <a:effectLst/>
        </p:spPr>
        <p:txBody>
          <a:bodyPr wrap="square" lIns="0" tIns="0" rIns="0" bIns="0" anchor="t">
            <a:noAutofit/>
          </a:bodyPr>
          <a:lstStyle/>
          <a:p>
            <a:pPr algn="l">
              <a:lnSpc>
                <a:spcPct val="104000"/>
              </a:lnSpc>
              <a:spcBef>
                <a:spcPts val="0"/>
              </a:spcBef>
              <a:spcAft>
                <a:spcPts val="0"/>
              </a:spcAft>
              <a:defRPr sz="5340" b="1" i="0">
                <a:solidFill>
                  <a:srgbClr val="FFFDFA"/>
                </a:solidFill>
                <a:latin typeface="Times New Roman" panose="02020603050405020304"/>
              </a:defRPr>
            </a:pPr>
            <a:r>
              <a:rPr sz="5340" b="1" i="0">
                <a:solidFill>
                  <a:srgbClr val="FFFDFA"/>
                </a:solidFill>
                <a:latin typeface="Times New Roman" panose="02020603050405020304"/>
              </a:rPr>
              <a:t>Medical Doctor’s Last Exam</a:t>
            </a:r>
            <a:endParaRPr sz="5340" b="1" i="0">
              <a:solidFill>
                <a:srgbClr val="FFFDFA"/>
              </a:solidFill>
              <a:latin typeface="Times New Roman" panose="02020603050405020304"/>
            </a:endParaRPr>
          </a:p>
        </p:txBody>
      </p:sp>
      <p:sp>
        <p:nvSpPr>
          <p:cNvPr id="4" name="Page subtitle"/>
          <p:cNvSpPr txBox="1"/>
          <p:nvPr/>
        </p:nvSpPr>
        <p:spPr>
          <a:xfrm>
            <a:off x="503138" y="951082"/>
            <a:ext cx="14711339" cy="513803"/>
          </a:xfrm>
          <a:prstGeom prst="rect">
            <a:avLst/>
          </a:prstGeom>
          <a:noFill/>
          <a:effectLst/>
        </p:spPr>
        <p:txBody>
          <a:bodyPr wrap="square" lIns="0" tIns="0" rIns="0" bIns="0" anchor="t">
            <a:noAutofit/>
          </a:bodyPr>
          <a:lstStyle/>
          <a:p>
            <a:pPr algn="l">
              <a:lnSpc>
                <a:spcPct val="104000"/>
              </a:lnSpc>
              <a:spcBef>
                <a:spcPts val="0"/>
              </a:spcBef>
              <a:spcAft>
                <a:spcPts val="0"/>
              </a:spcAft>
              <a:defRPr sz="2755" b="0" i="1">
                <a:solidFill>
                  <a:srgbClr val="FFFDFA"/>
                </a:solidFill>
                <a:latin typeface="Times New Roman" panose="02020603050405020304"/>
              </a:defRPr>
            </a:pPr>
            <a:r>
              <a:rPr sz="2755" b="0" i="1">
                <a:solidFill>
                  <a:srgbClr val="FFFDFA"/>
                </a:solidFill>
                <a:latin typeface="Times New Roman" panose="02020603050405020304"/>
              </a:rPr>
              <a:t>Case 04 · Reference strategy: preserve the nerve of origin</a:t>
            </a:r>
            <a:endParaRPr sz="2755" b="0" i="1">
              <a:solidFill>
                <a:srgbClr val="FFFDFA"/>
              </a:solidFill>
              <a:latin typeface="Times New Roman" panose="02020603050405020304"/>
            </a:endParaRPr>
          </a:p>
        </p:txBody>
      </p:sp>
      <p:sp>
        <p:nvSpPr>
          <p:cNvPr id="5" name="MDLE wordmark frame"/>
          <p:cNvSpPr/>
          <p:nvPr/>
        </p:nvSpPr>
        <p:spPr>
          <a:xfrm>
            <a:off x="16023875" y="242765"/>
            <a:ext cx="1782861" cy="1161052"/>
          </a:xfrm>
          <a:prstGeom prst="rect">
            <a:avLst/>
          </a:prstGeom>
          <a:noFill/>
          <a:ln w="10937">
            <a:solidFill>
              <a:srgbClr val="EADA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MDLE wordmark"/>
          <p:cNvSpPr txBox="1"/>
          <p:nvPr/>
        </p:nvSpPr>
        <p:spPr>
          <a:xfrm>
            <a:off x="16144191" y="411645"/>
            <a:ext cx="1542229" cy="833846"/>
          </a:xfrm>
          <a:prstGeom prst="rect">
            <a:avLst/>
          </a:prstGeom>
          <a:noFill/>
          <a:effectLst/>
        </p:spPr>
        <p:txBody>
          <a:bodyPr wrap="square" lIns="0" tIns="0" rIns="0" bIns="0" anchor="t">
            <a:noAutofit/>
          </a:bodyPr>
          <a:lstStyle/>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MEDICAL</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DOCTOR’S</a:t>
            </a:r>
            <a:endParaRPr sz="1830" b="1" i="0">
              <a:solidFill>
                <a:srgbClr val="FFFDFA"/>
              </a:solidFill>
              <a:latin typeface="Times New Roman" panose="02020603050405020304"/>
            </a:endParaRPr>
          </a:p>
          <a:p>
            <a:pPr algn="ctr">
              <a:lnSpc>
                <a:spcPct val="104000"/>
              </a:lnSpc>
              <a:spcBef>
                <a:spcPts val="0"/>
              </a:spcBef>
              <a:spcAft>
                <a:spcPts val="0"/>
              </a:spcAft>
              <a:defRPr sz="1830" b="1" i="0">
                <a:solidFill>
                  <a:srgbClr val="FFFDFA"/>
                </a:solidFill>
                <a:latin typeface="Times New Roman" panose="02020603050405020304"/>
              </a:defRPr>
            </a:pPr>
            <a:r>
              <a:rPr sz="1830" b="1" i="0">
                <a:solidFill>
                  <a:srgbClr val="FFFDFA"/>
                </a:solidFill>
                <a:latin typeface="Times New Roman" panose="02020603050405020304"/>
              </a:rPr>
              <a:t>LAST EXAM</a:t>
            </a:r>
            <a:endParaRPr sz="1830" b="1" i="0">
              <a:solidFill>
                <a:srgbClr val="FFFDFA"/>
              </a:solidFill>
              <a:latin typeface="Times New Roman" panose="02020603050405020304"/>
            </a:endParaRPr>
          </a:p>
        </p:txBody>
      </p:sp>
      <p:sp>
        <p:nvSpPr>
          <p:cNvPr id="7" name="Footer gradient"/>
          <p:cNvSpPr/>
          <p:nvPr/>
        </p:nvSpPr>
        <p:spPr>
          <a:xfrm>
            <a:off x="0" y="9642012"/>
            <a:ext cx="18288000" cy="644987"/>
          </a:xfrm>
          <a:prstGeom prst="rect">
            <a:avLst/>
          </a:prstGeom>
          <a:blipFill rotWithShape="1">
            <a:blip r:embed="rId2"/>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Footer left rule"/>
          <p:cNvCxnSpPr/>
          <p:nvPr/>
        </p:nvCxnSpPr>
        <p:spPr>
          <a:xfrm>
            <a:off x="2275062" y="9964506"/>
            <a:ext cx="2811014"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9" name="Footer left diamond"/>
          <p:cNvSpPr/>
          <p:nvPr/>
        </p:nvSpPr>
        <p:spPr>
          <a:xfrm>
            <a:off x="5173578" y="9898914"/>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Footer right rule"/>
          <p:cNvCxnSpPr/>
          <p:nvPr/>
        </p:nvCxnSpPr>
        <p:spPr>
          <a:xfrm>
            <a:off x="13136296" y="9964506"/>
            <a:ext cx="2887579"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 name="Footer right diamond"/>
          <p:cNvSpPr/>
          <p:nvPr/>
        </p:nvSpPr>
        <p:spPr>
          <a:xfrm>
            <a:off x="12928478" y="9898914"/>
            <a:ext cx="131253" cy="131183"/>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ooter tagline"/>
          <p:cNvSpPr txBox="1"/>
          <p:nvPr/>
        </p:nvSpPr>
        <p:spPr>
          <a:xfrm>
            <a:off x="5665779" y="9751332"/>
            <a:ext cx="7109569" cy="426347"/>
          </a:xfrm>
          <a:prstGeom prst="rect">
            <a:avLst/>
          </a:prstGeom>
          <a:noFill/>
          <a:effectLst/>
        </p:spPr>
        <p:txBody>
          <a:bodyPr wrap="square" lIns="0" tIns="0" rIns="0" bIns="0" anchor="t">
            <a:noAutofit/>
          </a:bodyPr>
          <a:lstStyle/>
          <a:p>
            <a:pPr algn="ctr">
              <a:lnSpc>
                <a:spcPct val="104000"/>
              </a:lnSpc>
              <a:spcBef>
                <a:spcPts val="0"/>
              </a:spcBef>
              <a:spcAft>
                <a:spcPts val="0"/>
              </a:spcAft>
              <a:defRPr sz="2495" b="0" i="1">
                <a:solidFill>
                  <a:srgbClr val="FFFDFA"/>
                </a:solidFill>
                <a:latin typeface="Times New Roman" panose="02020603050405020304"/>
              </a:defRPr>
            </a:pPr>
            <a:r>
              <a:rPr sz="2495" b="0" i="1">
                <a:solidFill>
                  <a:srgbClr val="FFFDFA"/>
                </a:solidFill>
                <a:latin typeface="Times New Roman" panose="02020603050405020304"/>
              </a:rPr>
              <a:t>A living benchmark for next-generation medical AI</a:t>
            </a:r>
            <a:endParaRPr sz="2495" b="0" i="1">
              <a:solidFill>
                <a:srgbClr val="FFFDFA"/>
              </a:solidFill>
              <a:latin typeface="Times New Roman" panose="02020603050405020304"/>
            </a:endParaRPr>
          </a:p>
        </p:txBody>
      </p:sp>
      <p:sp>
        <p:nvSpPr>
          <p:cNvPr id="13" name="Surgical reference strategy card"/>
          <p:cNvSpPr/>
          <p:nvPr/>
        </p:nvSpPr>
        <p:spPr>
          <a:xfrm>
            <a:off x="404698" y="1683526"/>
            <a:ext cx="17478602" cy="1464886"/>
          </a:xfrm>
          <a:prstGeom prst="roundRect">
            <a:avLst>
              <a:gd name="adj" fmla="val 4000"/>
            </a:avLst>
          </a:prstGeom>
          <a:solidFill>
            <a:srgbClr val="F0F3E9"/>
          </a:solidFill>
          <a:ln w="10937">
            <a:solidFill>
              <a:srgbClr val="ABC0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se level reference heading"/>
          <p:cNvSpPr txBox="1"/>
          <p:nvPr/>
        </p:nvSpPr>
        <p:spPr>
          <a:xfrm>
            <a:off x="678143" y="1803777"/>
            <a:ext cx="16942650" cy="327959"/>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CASE-LEVEL BENCHMARK REFERENCE</a:t>
            </a:r>
            <a:endParaRPr sz="1980" b="1" i="0">
              <a:solidFill>
                <a:srgbClr val="124936"/>
              </a:solidFill>
              <a:latin typeface="Times New Roman" panose="02020603050405020304"/>
            </a:endParaRPr>
          </a:p>
        </p:txBody>
      </p:sp>
      <p:sp>
        <p:nvSpPr>
          <p:cNvPr id="15" name="Surgical benchmark reference strategy"/>
          <p:cNvSpPr txBox="1"/>
          <p:nvPr/>
        </p:nvSpPr>
        <p:spPr>
          <a:xfrm>
            <a:off x="678143" y="2230125"/>
            <a:ext cx="16942650" cy="459143"/>
          </a:xfrm>
          <a:prstGeom prst="rect">
            <a:avLst/>
          </a:prstGeom>
          <a:noFill/>
          <a:effectLst/>
        </p:spPr>
        <p:txBody>
          <a:bodyPr wrap="square" lIns="0" tIns="0" rIns="0" bIns="0" anchor="t">
            <a:noAutofit/>
          </a:bodyPr>
          <a:lstStyle/>
          <a:p>
            <a:pPr algn="l">
              <a:lnSpc>
                <a:spcPct val="104000"/>
              </a:lnSpc>
              <a:spcBef>
                <a:spcPts val="0"/>
              </a:spcBef>
              <a:spcAft>
                <a:spcPts val="0"/>
              </a:spcAft>
              <a:defRPr sz="2930" b="1" i="0">
                <a:solidFill>
                  <a:srgbClr val="124936"/>
                </a:solidFill>
                <a:latin typeface="Times New Roman" panose="02020603050405020304"/>
              </a:defRPr>
            </a:pPr>
            <a:r>
              <a:rPr sz="2930" b="1" i="0">
                <a:solidFill>
                  <a:srgbClr val="124936"/>
                </a:solidFill>
                <a:latin typeface="Times New Roman" panose="02020603050405020304"/>
              </a:rPr>
              <a:t>Intracapsular resection, retaining a thin capsule adherent to CN XI.</a:t>
            </a:r>
            <a:endParaRPr sz="2930" b="1" i="0">
              <a:solidFill>
                <a:srgbClr val="124936"/>
              </a:solidFill>
              <a:latin typeface="Times New Roman" panose="02020603050405020304"/>
            </a:endParaRPr>
          </a:p>
        </p:txBody>
      </p:sp>
      <p:sp>
        <p:nvSpPr>
          <p:cNvPr id="16" name="Reference surgical strategy detail"/>
          <p:cNvSpPr txBox="1"/>
          <p:nvPr/>
        </p:nvSpPr>
        <p:spPr>
          <a:xfrm>
            <a:off x="678143" y="2711132"/>
            <a:ext cx="16942650" cy="349823"/>
          </a:xfrm>
          <a:prstGeom prst="rect">
            <a:avLst/>
          </a:prstGeom>
          <a:noFill/>
          <a:effectLst/>
        </p:spPr>
        <p:txBody>
          <a:bodyPr wrap="square" lIns="0" tIns="0" rIns="0" bIns="0" anchor="t">
            <a:noAutofit/>
          </a:bodyPr>
          <a:lstStyle/>
          <a:p>
            <a:pPr algn="l">
              <a:lnSpc>
                <a:spcPct val="104000"/>
              </a:lnSpc>
              <a:spcBef>
                <a:spcPts val="0"/>
              </a:spcBef>
              <a:spcAft>
                <a:spcPts val="0"/>
              </a:spcAft>
              <a:defRPr sz="2240" b="0" i="0">
                <a:solidFill>
                  <a:srgbClr val="10243C"/>
                </a:solidFill>
                <a:latin typeface="Times New Roman" panose="02020603050405020304"/>
              </a:defRPr>
            </a:pPr>
            <a:r>
              <a:rPr sz="2240" b="0" i="0">
                <a:solidFill>
                  <a:srgbClr val="10243C"/>
                </a:solidFill>
                <a:latin typeface="Times New Roman" panose="02020603050405020304"/>
              </a:rPr>
              <a:t>Remove the tumor bulk and extracranial extension while preserving the nerve of origin.</a:t>
            </a:r>
            <a:endParaRPr sz="2240" b="0" i="0">
              <a:solidFill>
                <a:srgbClr val="10243C"/>
              </a:solidFill>
              <a:latin typeface="Times New Roman" panose="02020603050405020304"/>
            </a:endParaRPr>
          </a:p>
        </p:txBody>
      </p:sp>
      <p:sp>
        <p:nvSpPr>
          <p:cNvPr id="17" name="Surgical rubric panel"/>
          <p:cNvSpPr/>
          <p:nvPr/>
        </p:nvSpPr>
        <p:spPr>
          <a:xfrm>
            <a:off x="404698" y="3301460"/>
            <a:ext cx="9833081" cy="4941258"/>
          </a:xfrm>
          <a:prstGeom prst="roundRect">
            <a:avLst>
              <a:gd name="adj" fmla="val 2500"/>
            </a:avLst>
          </a:prstGeom>
          <a:noFill/>
          <a:ln w="10937">
            <a:solidFill>
              <a:srgbClr val="BCA6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Surgical rubric heading"/>
          <p:cNvSpPr txBox="1"/>
          <p:nvPr/>
        </p:nvSpPr>
        <p:spPr>
          <a:xfrm>
            <a:off x="415636" y="3399848"/>
            <a:ext cx="9811205"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WHAT THE RUBRIC REWARDS</a:t>
            </a:r>
            <a:endParaRPr sz="2325" b="1" i="0">
              <a:solidFill>
                <a:srgbClr val="124936"/>
              </a:solidFill>
              <a:latin typeface="Times New Roman" panose="02020603050405020304"/>
            </a:endParaRPr>
          </a:p>
        </p:txBody>
      </p:sp>
      <p:cxnSp>
        <p:nvCxnSpPr>
          <p:cNvPr id="19" name="Surgical rubric left divider"/>
          <p:cNvCxnSpPr/>
          <p:nvPr/>
        </p:nvCxnSpPr>
        <p:spPr>
          <a:xfrm>
            <a:off x="656267" y="3760603"/>
            <a:ext cx="4522780"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cxnSp>
        <p:nvCxnSpPr>
          <p:cNvPr id="20" name="Surgical rubric right divider"/>
          <p:cNvCxnSpPr/>
          <p:nvPr/>
        </p:nvCxnSpPr>
        <p:spPr>
          <a:xfrm>
            <a:off x="5463430" y="3760603"/>
            <a:ext cx="4522780"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sp>
        <p:nvSpPr>
          <p:cNvPr id="21" name="Surgical rubric diamond"/>
          <p:cNvSpPr/>
          <p:nvPr/>
        </p:nvSpPr>
        <p:spPr>
          <a:xfrm>
            <a:off x="5250143" y="3689545"/>
            <a:ext cx="142191" cy="142115"/>
          </a:xfrm>
          <a:prstGeom prst="diamond">
            <a:avLst/>
          </a:prstGeom>
          <a:solidFill>
            <a:srgbClr val="B9A0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urgical rubric table"/>
          <p:cNvSpPr/>
          <p:nvPr/>
        </p:nvSpPr>
        <p:spPr>
          <a:xfrm>
            <a:off x="667205" y="3968311"/>
            <a:ext cx="9308066" cy="2448765"/>
          </a:xfrm>
          <a:prstGeom prst="roundRect">
            <a:avLst>
              <a:gd name="adj" fmla="val 2500"/>
            </a:avLst>
          </a:prstGeom>
          <a:solidFill>
            <a:srgbClr val="F7F5EF"/>
          </a:solidFill>
          <a:ln w="10937">
            <a:solidFill>
              <a:srgbClr val="C9BD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3" name="Surgical rubric row rule"/>
          <p:cNvCxnSpPr/>
          <p:nvPr/>
        </p:nvCxnSpPr>
        <p:spPr>
          <a:xfrm>
            <a:off x="667205" y="5192693"/>
            <a:ext cx="9308067" cy="0"/>
          </a:xfrm>
          <a:prstGeom prst="line">
            <a:avLst/>
          </a:prstGeom>
          <a:ln w="10937">
            <a:solidFill>
              <a:srgbClr val="C9BDAD"/>
            </a:solidFill>
          </a:ln>
          <a:effectLst/>
        </p:spPr>
        <p:style>
          <a:lnRef idx="2">
            <a:schemeClr val="accent1"/>
          </a:lnRef>
          <a:fillRef idx="0">
            <a:schemeClr val="accent1"/>
          </a:fillRef>
          <a:effectRef idx="0">
            <a:schemeClr val="accent1"/>
          </a:effectRef>
          <a:fontRef idx="minor">
            <a:schemeClr val="tx1"/>
          </a:fontRef>
        </p:style>
      </p:cxnSp>
      <p:cxnSp>
        <p:nvCxnSpPr>
          <p:cNvPr id="24" name="Surgical rubric score rule"/>
          <p:cNvCxnSpPr/>
          <p:nvPr/>
        </p:nvCxnSpPr>
        <p:spPr>
          <a:xfrm>
            <a:off x="8509607" y="3968311"/>
            <a:ext cx="0" cy="2448765"/>
          </a:xfrm>
          <a:prstGeom prst="line">
            <a:avLst/>
          </a:prstGeom>
          <a:ln w="10937">
            <a:solidFill>
              <a:srgbClr val="C9BDAD"/>
            </a:solidFill>
          </a:ln>
          <a:effectLst/>
        </p:spPr>
        <p:style>
          <a:lnRef idx="2">
            <a:schemeClr val="accent1"/>
          </a:lnRef>
          <a:fillRef idx="0">
            <a:schemeClr val="accent1"/>
          </a:fillRef>
          <a:effectRef idx="0">
            <a:schemeClr val="accent1"/>
          </a:effectRef>
          <a:fontRef idx="minor">
            <a:schemeClr val="tx1"/>
          </a:fontRef>
        </p:style>
      </p:cxnSp>
      <p:sp>
        <p:nvSpPr>
          <p:cNvPr id="25" name="Surgical rubric criterion one"/>
          <p:cNvSpPr txBox="1"/>
          <p:nvPr/>
        </p:nvSpPr>
        <p:spPr>
          <a:xfrm>
            <a:off x="875023" y="4230679"/>
            <a:ext cx="7415827" cy="830831"/>
          </a:xfrm>
          <a:prstGeom prst="rect">
            <a:avLst/>
          </a:prstGeom>
          <a:noFill/>
          <a:effectLst/>
        </p:spPr>
        <p:txBody>
          <a:bodyPr wrap="square" lIns="0" tIns="0" rIns="0" bIns="0" anchor="t">
            <a:noAutofit/>
          </a:bodyPr>
          <a:lstStyle/>
          <a:p>
            <a:pPr algn="l">
              <a:lnSpc>
                <a:spcPct val="104000"/>
              </a:lnSpc>
              <a:spcBef>
                <a:spcPts val="0"/>
              </a:spcBef>
              <a:spcAft>
                <a:spcPts val="0"/>
              </a:spcAft>
              <a:defRPr sz="2325" b="0" i="0">
                <a:solidFill>
                  <a:srgbClr val="10243C"/>
                </a:solidFill>
                <a:latin typeface="Times New Roman" panose="02020603050405020304"/>
              </a:defRPr>
            </a:pPr>
            <a:r>
              <a:rPr sz="2325" b="0" i="0">
                <a:solidFill>
                  <a:srgbClr val="10243C"/>
                </a:solidFill>
                <a:latin typeface="Times New Roman" panose="02020603050405020304"/>
              </a:rPr>
              <a:t>Recommend intracapsular / subtotal resection to preserve</a:t>
            </a:r>
            <a:endParaRPr sz="2325" b="0" i="0">
              <a:solidFill>
                <a:srgbClr val="10243C"/>
              </a:solidFill>
              <a:latin typeface="Times New Roman" panose="02020603050405020304"/>
            </a:endParaRPr>
          </a:p>
          <a:p>
            <a:pPr algn="l">
              <a:lnSpc>
                <a:spcPct val="104000"/>
              </a:lnSpc>
              <a:spcBef>
                <a:spcPts val="0"/>
              </a:spcBef>
              <a:spcAft>
                <a:spcPts val="0"/>
              </a:spcAft>
              <a:defRPr sz="2325" b="0" i="0">
                <a:solidFill>
                  <a:srgbClr val="10243C"/>
                </a:solidFill>
                <a:latin typeface="Times New Roman" panose="02020603050405020304"/>
              </a:defRPr>
            </a:pPr>
            <a:r>
              <a:rPr sz="2325" b="0" i="0">
                <a:solidFill>
                  <a:srgbClr val="10243C"/>
                </a:solidFill>
                <a:latin typeface="Times New Roman" panose="02020603050405020304"/>
              </a:rPr>
              <a:t>CN XI, rather than aggressive gross-total resection.</a:t>
            </a:r>
            <a:endParaRPr sz="2325" b="0" i="0">
              <a:solidFill>
                <a:srgbClr val="10243C"/>
              </a:solidFill>
              <a:latin typeface="Times New Roman" panose="02020603050405020304"/>
            </a:endParaRPr>
          </a:p>
        </p:txBody>
      </p:sp>
      <p:sp>
        <p:nvSpPr>
          <p:cNvPr id="26" name="Surgical rubric criterion one score"/>
          <p:cNvSpPr txBox="1"/>
          <p:nvPr/>
        </p:nvSpPr>
        <p:spPr>
          <a:xfrm>
            <a:off x="8629923" y="4394658"/>
            <a:ext cx="1192220" cy="481007"/>
          </a:xfrm>
          <a:prstGeom prst="rect">
            <a:avLst/>
          </a:prstGeom>
          <a:noFill/>
          <a:effectLst/>
        </p:spPr>
        <p:txBody>
          <a:bodyPr wrap="square" lIns="0" tIns="0" rIns="0" bIns="0" anchor="t">
            <a:noAutofit/>
          </a:bodyPr>
          <a:lstStyle/>
          <a:p>
            <a:pPr algn="ctr">
              <a:lnSpc>
                <a:spcPct val="104000"/>
              </a:lnSpc>
              <a:spcBef>
                <a:spcPts val="0"/>
              </a:spcBef>
              <a:spcAft>
                <a:spcPts val="0"/>
              </a:spcAft>
              <a:defRPr sz="2840" b="1" i="0">
                <a:solidFill>
                  <a:srgbClr val="124936"/>
                </a:solidFill>
                <a:latin typeface="Times New Roman" panose="02020603050405020304"/>
              </a:defRPr>
            </a:pPr>
            <a:r>
              <a:rPr sz="2840" b="1" i="0">
                <a:solidFill>
                  <a:srgbClr val="124936"/>
                </a:solidFill>
                <a:latin typeface="Times New Roman" panose="02020603050405020304"/>
              </a:rPr>
              <a:t>6 pts</a:t>
            </a:r>
            <a:endParaRPr sz="2840" b="1" i="0">
              <a:solidFill>
                <a:srgbClr val="124936"/>
              </a:solidFill>
              <a:latin typeface="Times New Roman" panose="02020603050405020304"/>
            </a:endParaRPr>
          </a:p>
        </p:txBody>
      </p:sp>
      <p:sp>
        <p:nvSpPr>
          <p:cNvPr id="27" name="Surgical rubric criterion two"/>
          <p:cNvSpPr txBox="1"/>
          <p:nvPr/>
        </p:nvSpPr>
        <p:spPr>
          <a:xfrm>
            <a:off x="875023" y="5465993"/>
            <a:ext cx="7415827" cy="830831"/>
          </a:xfrm>
          <a:prstGeom prst="rect">
            <a:avLst/>
          </a:prstGeom>
          <a:noFill/>
          <a:effectLst/>
        </p:spPr>
        <p:txBody>
          <a:bodyPr wrap="square" lIns="0" tIns="0" rIns="0" bIns="0" anchor="t">
            <a:noAutofit/>
          </a:bodyPr>
          <a:lstStyle/>
          <a:p>
            <a:pPr algn="l">
              <a:lnSpc>
                <a:spcPct val="104000"/>
              </a:lnSpc>
              <a:spcBef>
                <a:spcPts val="0"/>
              </a:spcBef>
              <a:spcAft>
                <a:spcPts val="0"/>
              </a:spcAft>
              <a:defRPr sz="2325" b="0" i="0">
                <a:solidFill>
                  <a:srgbClr val="10243C"/>
                </a:solidFill>
                <a:latin typeface="Times New Roman" panose="02020603050405020304"/>
              </a:defRPr>
            </a:pPr>
            <a:r>
              <a:rPr sz="2325" b="0" i="0">
                <a:solidFill>
                  <a:srgbClr val="10243C"/>
                </a:solidFill>
                <a:latin typeface="Times New Roman" panose="02020603050405020304"/>
              </a:rPr>
              <a:t>Balance decompression of secondarily affected nerves</a:t>
            </a:r>
            <a:endParaRPr sz="2325" b="0" i="0">
              <a:solidFill>
                <a:srgbClr val="10243C"/>
              </a:solidFill>
              <a:latin typeface="Times New Roman" panose="02020603050405020304"/>
            </a:endParaRPr>
          </a:p>
          <a:p>
            <a:pPr algn="l">
              <a:lnSpc>
                <a:spcPct val="104000"/>
              </a:lnSpc>
              <a:spcBef>
                <a:spcPts val="0"/>
              </a:spcBef>
              <a:spcAft>
                <a:spcPts val="0"/>
              </a:spcAft>
              <a:defRPr sz="2325" b="0" i="0">
                <a:solidFill>
                  <a:srgbClr val="10243C"/>
                </a:solidFill>
                <a:latin typeface="Times New Roman" panose="02020603050405020304"/>
              </a:defRPr>
            </a:pPr>
            <a:r>
              <a:rPr sz="2325" b="0" i="0">
                <a:solidFill>
                  <a:srgbClr val="10243C"/>
                </a:solidFill>
                <a:latin typeface="Times New Roman" panose="02020603050405020304"/>
              </a:rPr>
              <a:t>against CN XI injury and residual-tumor risk.</a:t>
            </a:r>
            <a:endParaRPr sz="2325" b="0" i="0">
              <a:solidFill>
                <a:srgbClr val="10243C"/>
              </a:solidFill>
              <a:latin typeface="Times New Roman" panose="02020603050405020304"/>
            </a:endParaRPr>
          </a:p>
        </p:txBody>
      </p:sp>
      <p:sp>
        <p:nvSpPr>
          <p:cNvPr id="28" name="Surgical rubric criterion two score"/>
          <p:cNvSpPr txBox="1"/>
          <p:nvPr/>
        </p:nvSpPr>
        <p:spPr>
          <a:xfrm>
            <a:off x="8629923" y="5629973"/>
            <a:ext cx="1192220" cy="481007"/>
          </a:xfrm>
          <a:prstGeom prst="rect">
            <a:avLst/>
          </a:prstGeom>
          <a:noFill/>
          <a:effectLst/>
        </p:spPr>
        <p:txBody>
          <a:bodyPr wrap="square" lIns="0" tIns="0" rIns="0" bIns="0" anchor="t">
            <a:noAutofit/>
          </a:bodyPr>
          <a:lstStyle/>
          <a:p>
            <a:pPr algn="ctr">
              <a:lnSpc>
                <a:spcPct val="104000"/>
              </a:lnSpc>
              <a:spcBef>
                <a:spcPts val="0"/>
              </a:spcBef>
              <a:spcAft>
                <a:spcPts val="0"/>
              </a:spcAft>
              <a:defRPr sz="2840" b="1" i="0">
                <a:solidFill>
                  <a:srgbClr val="124936"/>
                </a:solidFill>
                <a:latin typeface="Times New Roman" panose="02020603050405020304"/>
              </a:defRPr>
            </a:pPr>
            <a:r>
              <a:rPr sz="2840" b="1" i="0">
                <a:solidFill>
                  <a:srgbClr val="124936"/>
                </a:solidFill>
                <a:latin typeface="Times New Roman" panose="02020603050405020304"/>
              </a:rPr>
              <a:t>4 pts</a:t>
            </a:r>
            <a:endParaRPr sz="2840" b="1" i="0">
              <a:solidFill>
                <a:srgbClr val="124936"/>
              </a:solidFill>
              <a:latin typeface="Times New Roman" panose="02020603050405020304"/>
            </a:endParaRPr>
          </a:p>
        </p:txBody>
      </p:sp>
      <p:sp>
        <p:nvSpPr>
          <p:cNvPr id="29" name="Surgical critical error card"/>
          <p:cNvSpPr/>
          <p:nvPr/>
        </p:nvSpPr>
        <p:spPr>
          <a:xfrm>
            <a:off x="667205" y="6613852"/>
            <a:ext cx="9308066" cy="1366498"/>
          </a:xfrm>
          <a:prstGeom prst="roundRect">
            <a:avLst>
              <a:gd name="adj" fmla="val 4000"/>
            </a:avLst>
          </a:prstGeom>
          <a:solidFill>
            <a:srgbClr val="FBE8E3"/>
          </a:solidFill>
          <a:ln w="10937">
            <a:solidFill>
              <a:srgbClr val="DFAD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0" name="Surgical critical error icon"/>
          <p:cNvGrpSpPr/>
          <p:nvPr/>
        </p:nvGrpSpPr>
        <p:grpSpPr>
          <a:xfrm>
            <a:off x="853148" y="6810628"/>
            <a:ext cx="350009" cy="349823"/>
            <a:chOff x="853148" y="6810628"/>
            <a:chExt cx="350009" cy="349823"/>
          </a:xfrm>
        </p:grpSpPr>
        <p:sp>
          <p:nvSpPr>
            <p:cNvPr id="31" name="Surgical critical error icon triangle"/>
            <p:cNvSpPr/>
            <p:nvPr/>
          </p:nvSpPr>
          <p:spPr>
            <a:xfrm>
              <a:off x="853148" y="6810628"/>
              <a:ext cx="350009" cy="349823"/>
            </a:xfrm>
            <a:prstGeom prst="triangle">
              <a:avLst/>
            </a:prstGeom>
            <a:noFill/>
            <a:ln w="32813">
              <a:solidFill>
                <a:srgbClr val="91082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Surgical critical error icon stroke"/>
            <p:cNvCxnSpPr/>
            <p:nvPr/>
          </p:nvCxnSpPr>
          <p:spPr>
            <a:xfrm>
              <a:off x="1028153" y="6922571"/>
              <a:ext cx="0" cy="104947"/>
            </a:xfrm>
            <a:prstGeom prst="line">
              <a:avLst/>
            </a:prstGeom>
            <a:ln w="54688" cap="rnd">
              <a:solidFill>
                <a:srgbClr val="910825"/>
              </a:solidFill>
            </a:ln>
            <a:effectLst/>
          </p:spPr>
          <p:style>
            <a:lnRef idx="2">
              <a:schemeClr val="accent1"/>
            </a:lnRef>
            <a:fillRef idx="0">
              <a:schemeClr val="accent1"/>
            </a:fillRef>
            <a:effectRef idx="0">
              <a:schemeClr val="accent1"/>
            </a:effectRef>
            <a:fontRef idx="minor">
              <a:schemeClr val="tx1"/>
            </a:fontRef>
          </p:style>
        </p:cxnSp>
        <p:sp>
          <p:nvSpPr>
            <p:cNvPr id="33" name="Surgical critical error icon dot"/>
            <p:cNvSpPr/>
            <p:nvPr/>
          </p:nvSpPr>
          <p:spPr>
            <a:xfrm>
              <a:off x="1007152" y="7062501"/>
              <a:ext cx="42001" cy="41978"/>
            </a:xfrm>
            <a:prstGeom prst="ellipse">
              <a:avLst/>
            </a:prstGeom>
            <a:solidFill>
              <a:srgbClr val="91082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34" name="Surgical critical error heading"/>
          <p:cNvSpPr txBox="1"/>
          <p:nvPr/>
        </p:nvSpPr>
        <p:spPr>
          <a:xfrm>
            <a:off x="1421913" y="6777832"/>
            <a:ext cx="8312727" cy="360755"/>
          </a:xfrm>
          <a:prstGeom prst="rect">
            <a:avLst/>
          </a:prstGeom>
          <a:noFill/>
          <a:effectLst/>
        </p:spPr>
        <p:txBody>
          <a:bodyPr wrap="square" lIns="0" tIns="0" rIns="0" bIns="0" anchor="t">
            <a:noAutofit/>
          </a:bodyPr>
          <a:lstStyle/>
          <a:p>
            <a:pPr algn="l">
              <a:lnSpc>
                <a:spcPct val="104000"/>
              </a:lnSpc>
              <a:spcBef>
                <a:spcPts val="0"/>
              </a:spcBef>
              <a:spcAft>
                <a:spcPts val="0"/>
              </a:spcAft>
              <a:defRPr sz="2065" b="1" i="0">
                <a:solidFill>
                  <a:srgbClr val="910825"/>
                </a:solidFill>
                <a:latin typeface="Times New Roman" panose="02020603050405020304"/>
              </a:defRPr>
            </a:pPr>
            <a:r>
              <a:rPr sz="2065" b="1" i="0">
                <a:solidFill>
                  <a:srgbClr val="910825"/>
                </a:solidFill>
                <a:latin typeface="Times New Roman" panose="02020603050405020304"/>
              </a:rPr>
              <a:t>CRITICAL ERROR · SCORE CAP 3 / 10</a:t>
            </a:r>
            <a:endParaRPr sz="2065" b="1" i="0">
              <a:solidFill>
                <a:srgbClr val="910825"/>
              </a:solidFill>
              <a:latin typeface="Times New Roman" panose="02020603050405020304"/>
            </a:endParaRPr>
          </a:p>
        </p:txBody>
      </p:sp>
      <p:sp>
        <p:nvSpPr>
          <p:cNvPr id="35" name="Surgical critical error condition"/>
          <p:cNvSpPr txBox="1"/>
          <p:nvPr/>
        </p:nvSpPr>
        <p:spPr>
          <a:xfrm>
            <a:off x="864086" y="7280703"/>
            <a:ext cx="8870555" cy="634055"/>
          </a:xfrm>
          <a:prstGeom prst="rect">
            <a:avLst/>
          </a:prstGeom>
          <a:noFill/>
          <a:effectLst/>
        </p:spPr>
        <p:txBody>
          <a:bodyPr wrap="square" lIns="0" tIns="0" rIns="0" bIns="0" anchor="t">
            <a:noAutofit/>
          </a:bodyPr>
          <a:lstStyle/>
          <a:p>
            <a:pPr algn="l">
              <a:lnSpc>
                <a:spcPct val="104000"/>
              </a:lnSpc>
              <a:spcBef>
                <a:spcPts val="0"/>
              </a:spcBef>
              <a:spcAft>
                <a:spcPts val="0"/>
              </a:spcAft>
              <a:defRPr sz="2155" b="0" i="0">
                <a:solidFill>
                  <a:srgbClr val="622D2B"/>
                </a:solidFill>
                <a:latin typeface="Times New Roman" panose="02020603050405020304"/>
              </a:defRPr>
            </a:pPr>
            <a:r>
              <a:rPr sz="2155" b="0" i="0">
                <a:solidFill>
                  <a:srgbClr val="622D2B"/>
                </a:solidFill>
                <a:latin typeface="Times New Roman" panose="02020603050405020304"/>
              </a:rPr>
              <a:t>Deliberately sacrifice CN XI, or claim that no trade-off</a:t>
            </a:r>
            <a:endParaRPr sz="2155" b="0" i="0">
              <a:solidFill>
                <a:srgbClr val="622D2B"/>
              </a:solidFill>
              <a:latin typeface="Times New Roman" panose="02020603050405020304"/>
            </a:endParaRPr>
          </a:p>
          <a:p>
            <a:pPr algn="l">
              <a:lnSpc>
                <a:spcPct val="104000"/>
              </a:lnSpc>
              <a:spcBef>
                <a:spcPts val="0"/>
              </a:spcBef>
              <a:spcAft>
                <a:spcPts val="0"/>
              </a:spcAft>
              <a:defRPr sz="2155" b="0" i="0">
                <a:solidFill>
                  <a:srgbClr val="622D2B"/>
                </a:solidFill>
                <a:latin typeface="Times New Roman" panose="02020603050405020304"/>
              </a:defRPr>
            </a:pPr>
            <a:r>
              <a:rPr sz="2155" b="0" i="0">
                <a:solidFill>
                  <a:srgbClr val="622D2B"/>
                </a:solidFill>
                <a:latin typeface="Times New Roman" panose="02020603050405020304"/>
              </a:rPr>
              <a:t>exists between resection and nerve preservation.</a:t>
            </a:r>
            <a:endParaRPr sz="2155" b="0" i="0">
              <a:solidFill>
                <a:srgbClr val="622D2B"/>
              </a:solidFill>
              <a:latin typeface="Times New Roman" panose="02020603050405020304"/>
            </a:endParaRPr>
          </a:p>
        </p:txBody>
      </p:sp>
      <p:sp>
        <p:nvSpPr>
          <p:cNvPr id="36" name="Surgical historical model assessment panel"/>
          <p:cNvSpPr/>
          <p:nvPr/>
        </p:nvSpPr>
        <p:spPr>
          <a:xfrm>
            <a:off x="10434660" y="3301460"/>
            <a:ext cx="7448641" cy="4941258"/>
          </a:xfrm>
          <a:prstGeom prst="roundRect">
            <a:avLst>
              <a:gd name="adj" fmla="val 2500"/>
            </a:avLst>
          </a:prstGeom>
          <a:noFill/>
          <a:ln w="10937">
            <a:solidFill>
              <a:srgbClr val="BCA6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Surgical model score heading"/>
          <p:cNvSpPr txBox="1"/>
          <p:nvPr/>
        </p:nvSpPr>
        <p:spPr>
          <a:xfrm>
            <a:off x="10445598" y="3399848"/>
            <a:ext cx="7426765" cy="393551"/>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910825"/>
                </a:solidFill>
                <a:latin typeface="Times New Roman" panose="02020603050405020304"/>
              </a:defRPr>
            </a:pPr>
            <a:r>
              <a:rPr sz="2325" b="1" i="0">
                <a:solidFill>
                  <a:srgbClr val="910825"/>
                </a:solidFill>
                <a:latin typeface="Times New Roman" panose="02020603050405020304"/>
              </a:rPr>
              <a:t>HISTORICAL MODEL SCORES</a:t>
            </a:r>
            <a:endParaRPr sz="2325" b="1" i="0">
              <a:solidFill>
                <a:srgbClr val="910825"/>
              </a:solidFill>
              <a:latin typeface="Times New Roman" panose="02020603050405020304"/>
            </a:endParaRPr>
          </a:p>
        </p:txBody>
      </p:sp>
      <p:cxnSp>
        <p:nvCxnSpPr>
          <p:cNvPr id="38" name="Surgical model score left divider"/>
          <p:cNvCxnSpPr/>
          <p:nvPr/>
        </p:nvCxnSpPr>
        <p:spPr>
          <a:xfrm>
            <a:off x="10686229" y="3760603"/>
            <a:ext cx="3330560"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cxnSp>
        <p:nvCxnSpPr>
          <p:cNvPr id="39" name="Surgical model score right divider"/>
          <p:cNvCxnSpPr/>
          <p:nvPr/>
        </p:nvCxnSpPr>
        <p:spPr>
          <a:xfrm>
            <a:off x="14301172" y="3760603"/>
            <a:ext cx="3330560" cy="0"/>
          </a:xfrm>
          <a:prstGeom prst="line">
            <a:avLst/>
          </a:prstGeom>
          <a:ln w="19688">
            <a:solidFill>
              <a:srgbClr val="9E9E9A"/>
            </a:solidFill>
          </a:ln>
          <a:effectLst/>
        </p:spPr>
        <p:style>
          <a:lnRef idx="2">
            <a:schemeClr val="accent1"/>
          </a:lnRef>
          <a:fillRef idx="0">
            <a:schemeClr val="accent1"/>
          </a:fillRef>
          <a:effectRef idx="0">
            <a:schemeClr val="accent1"/>
          </a:effectRef>
          <a:fontRef idx="minor">
            <a:schemeClr val="tx1"/>
          </a:fontRef>
        </p:style>
      </p:cxnSp>
      <p:sp>
        <p:nvSpPr>
          <p:cNvPr id="40" name="Surgical model score diamond"/>
          <p:cNvSpPr/>
          <p:nvPr/>
        </p:nvSpPr>
        <p:spPr>
          <a:xfrm>
            <a:off x="14087885" y="3689545"/>
            <a:ext cx="142191" cy="142115"/>
          </a:xfrm>
          <a:prstGeom prst="diamond">
            <a:avLst/>
          </a:prstGeom>
          <a:solidFill>
            <a:srgbClr val="B9A0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Surgical historical score table"/>
          <p:cNvSpPr/>
          <p:nvPr/>
        </p:nvSpPr>
        <p:spPr>
          <a:xfrm>
            <a:off x="10697167" y="3968311"/>
            <a:ext cx="6923626" cy="1224382"/>
          </a:xfrm>
          <a:prstGeom prst="roundRect">
            <a:avLst>
              <a:gd name="adj" fmla="val 4000"/>
            </a:avLst>
          </a:prstGeom>
          <a:solidFill>
            <a:srgbClr val="F7F5EF"/>
          </a:solidFill>
          <a:ln w="10937">
            <a:solidFill>
              <a:srgbClr val="C9BD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Surgical score row rule"/>
          <p:cNvCxnSpPr/>
          <p:nvPr/>
        </p:nvCxnSpPr>
        <p:spPr>
          <a:xfrm>
            <a:off x="10697167" y="4580502"/>
            <a:ext cx="6923627" cy="0"/>
          </a:xfrm>
          <a:prstGeom prst="line">
            <a:avLst/>
          </a:prstGeom>
          <a:ln w="10937">
            <a:solidFill>
              <a:srgbClr val="C9BDAD"/>
            </a:solidFill>
          </a:ln>
          <a:effectLst/>
        </p:spPr>
        <p:style>
          <a:lnRef idx="2">
            <a:schemeClr val="accent1"/>
          </a:lnRef>
          <a:fillRef idx="0">
            <a:schemeClr val="accent1"/>
          </a:fillRef>
          <a:effectRef idx="0">
            <a:schemeClr val="accent1"/>
          </a:effectRef>
          <a:fontRef idx="minor">
            <a:schemeClr val="tx1"/>
          </a:fontRef>
        </p:style>
      </p:cxnSp>
      <p:cxnSp>
        <p:nvCxnSpPr>
          <p:cNvPr id="43" name="Surgical score column rule"/>
          <p:cNvCxnSpPr/>
          <p:nvPr/>
        </p:nvCxnSpPr>
        <p:spPr>
          <a:xfrm>
            <a:off x="16078564" y="3968311"/>
            <a:ext cx="0" cy="1224382"/>
          </a:xfrm>
          <a:prstGeom prst="line">
            <a:avLst/>
          </a:prstGeom>
          <a:ln w="10937">
            <a:solidFill>
              <a:srgbClr val="C9BDAD"/>
            </a:solidFill>
          </a:ln>
          <a:effectLst/>
        </p:spPr>
        <p:style>
          <a:lnRef idx="2">
            <a:schemeClr val="accent1"/>
          </a:lnRef>
          <a:fillRef idx="0">
            <a:schemeClr val="accent1"/>
          </a:fillRef>
          <a:effectRef idx="0">
            <a:schemeClr val="accent1"/>
          </a:effectRef>
          <a:fontRef idx="minor">
            <a:schemeClr val="tx1"/>
          </a:fontRef>
        </p:style>
      </p:cxnSp>
      <p:sp>
        <p:nvSpPr>
          <p:cNvPr id="44" name="Gemini 3.1 Pro Preview surgical score model label"/>
          <p:cNvSpPr txBox="1"/>
          <p:nvPr/>
        </p:nvSpPr>
        <p:spPr>
          <a:xfrm>
            <a:off x="10883110" y="4088563"/>
            <a:ext cx="5031387" cy="415415"/>
          </a:xfrm>
          <a:prstGeom prst="rect">
            <a:avLst/>
          </a:prstGeom>
          <a:noFill/>
          <a:effectLst/>
        </p:spPr>
        <p:txBody>
          <a:bodyPr wrap="square" lIns="0" tIns="0" rIns="0" bIns="0" anchor="t">
            <a:noAutofit/>
          </a:bodyPr>
          <a:lstStyle/>
          <a:p>
            <a:pPr algn="l">
              <a:lnSpc>
                <a:spcPct val="104000"/>
              </a:lnSpc>
              <a:spcBef>
                <a:spcPts val="0"/>
              </a:spcBef>
              <a:spcAft>
                <a:spcPts val="0"/>
              </a:spcAft>
              <a:defRPr sz="2240" b="1" i="0">
                <a:solidFill>
                  <a:srgbClr val="10243C"/>
                </a:solidFill>
                <a:latin typeface="Times New Roman" panose="02020603050405020304"/>
              </a:defRPr>
            </a:pPr>
            <a:r>
              <a:rPr sz="2240" b="1" i="0">
                <a:solidFill>
                  <a:srgbClr val="10243C"/>
                </a:solidFill>
                <a:latin typeface="Times New Roman" panose="02020603050405020304"/>
              </a:rPr>
              <a:t>Gemini 3.1 Pro Preview</a:t>
            </a:r>
            <a:endParaRPr sz="2240" b="1" i="0">
              <a:solidFill>
                <a:srgbClr val="10243C"/>
              </a:solidFill>
              <a:latin typeface="Times New Roman" panose="02020603050405020304"/>
            </a:endParaRPr>
          </a:p>
        </p:txBody>
      </p:sp>
      <p:sp>
        <p:nvSpPr>
          <p:cNvPr id="45" name="Gemini 3.1 Pro Preview surgical historical score"/>
          <p:cNvSpPr txBox="1"/>
          <p:nvPr/>
        </p:nvSpPr>
        <p:spPr>
          <a:xfrm>
            <a:off x="16166066" y="4077631"/>
            <a:ext cx="1334411" cy="459143"/>
          </a:xfrm>
          <a:prstGeom prst="rect">
            <a:avLst/>
          </a:prstGeom>
          <a:noFill/>
          <a:effectLst/>
        </p:spPr>
        <p:txBody>
          <a:bodyPr wrap="square" lIns="0" tIns="0" rIns="0" bIns="0" anchor="t">
            <a:noAutofit/>
          </a:bodyPr>
          <a:lstStyle/>
          <a:p>
            <a:pPr algn="ctr">
              <a:lnSpc>
                <a:spcPct val="104000"/>
              </a:lnSpc>
              <a:spcBef>
                <a:spcPts val="0"/>
              </a:spcBef>
              <a:spcAft>
                <a:spcPts val="0"/>
              </a:spcAft>
              <a:defRPr sz="2755" b="1" i="0">
                <a:solidFill>
                  <a:srgbClr val="97041D"/>
                </a:solidFill>
                <a:latin typeface="Times New Roman" panose="02020603050405020304"/>
              </a:defRPr>
            </a:pPr>
            <a:r>
              <a:rPr sz="2755" b="1" i="0">
                <a:solidFill>
                  <a:srgbClr val="97041D"/>
                </a:solidFill>
                <a:latin typeface="Times New Roman" panose="02020603050405020304"/>
              </a:rPr>
              <a:t>0 / 10</a:t>
            </a:r>
            <a:endParaRPr sz="2755" b="1" i="0">
              <a:solidFill>
                <a:srgbClr val="97041D"/>
              </a:solidFill>
              <a:latin typeface="Times New Roman" panose="02020603050405020304"/>
            </a:endParaRPr>
          </a:p>
        </p:txBody>
      </p:sp>
      <p:sp>
        <p:nvSpPr>
          <p:cNvPr id="46" name="Claude Opus 5 surgical score model label"/>
          <p:cNvSpPr txBox="1"/>
          <p:nvPr/>
        </p:nvSpPr>
        <p:spPr>
          <a:xfrm>
            <a:off x="10883110" y="4700754"/>
            <a:ext cx="5031387" cy="415415"/>
          </a:xfrm>
          <a:prstGeom prst="rect">
            <a:avLst/>
          </a:prstGeom>
          <a:noFill/>
          <a:effectLst/>
        </p:spPr>
        <p:txBody>
          <a:bodyPr wrap="square" lIns="0" tIns="0" rIns="0" bIns="0" anchor="t">
            <a:noAutofit/>
          </a:bodyPr>
          <a:lstStyle/>
          <a:p>
            <a:pPr algn="l">
              <a:lnSpc>
                <a:spcPct val="104000"/>
              </a:lnSpc>
              <a:spcBef>
                <a:spcPts val="0"/>
              </a:spcBef>
              <a:spcAft>
                <a:spcPts val="0"/>
              </a:spcAft>
              <a:defRPr sz="2240" b="1" i="0">
                <a:solidFill>
                  <a:srgbClr val="10243C"/>
                </a:solidFill>
                <a:latin typeface="Times New Roman" panose="02020603050405020304"/>
              </a:defRPr>
            </a:pPr>
            <a:r>
              <a:rPr sz="2240" b="1" i="0">
                <a:solidFill>
                  <a:srgbClr val="10243C"/>
                </a:solidFill>
                <a:latin typeface="Times New Roman" panose="02020603050405020304"/>
              </a:rPr>
              <a:t>Claude Opus 5</a:t>
            </a:r>
            <a:endParaRPr sz="2240" b="1" i="0">
              <a:solidFill>
                <a:srgbClr val="10243C"/>
              </a:solidFill>
              <a:latin typeface="Times New Roman" panose="02020603050405020304"/>
            </a:endParaRPr>
          </a:p>
        </p:txBody>
      </p:sp>
      <p:sp>
        <p:nvSpPr>
          <p:cNvPr id="47" name="Claude Opus 5 surgical historical score"/>
          <p:cNvSpPr txBox="1"/>
          <p:nvPr/>
        </p:nvSpPr>
        <p:spPr>
          <a:xfrm>
            <a:off x="16166066" y="4689822"/>
            <a:ext cx="1334411" cy="459143"/>
          </a:xfrm>
          <a:prstGeom prst="rect">
            <a:avLst/>
          </a:prstGeom>
          <a:noFill/>
          <a:effectLst/>
        </p:spPr>
        <p:txBody>
          <a:bodyPr wrap="square" lIns="0" tIns="0" rIns="0" bIns="0" anchor="t">
            <a:noAutofit/>
          </a:bodyPr>
          <a:lstStyle/>
          <a:p>
            <a:pPr algn="ctr">
              <a:lnSpc>
                <a:spcPct val="104000"/>
              </a:lnSpc>
              <a:spcBef>
                <a:spcPts val="0"/>
              </a:spcBef>
              <a:spcAft>
                <a:spcPts val="0"/>
              </a:spcAft>
              <a:defRPr sz="2755" b="1" i="0">
                <a:solidFill>
                  <a:srgbClr val="97041D"/>
                </a:solidFill>
                <a:latin typeface="Times New Roman" panose="02020603050405020304"/>
              </a:defRPr>
            </a:pPr>
            <a:r>
              <a:rPr sz="2755" b="1" i="0">
                <a:solidFill>
                  <a:srgbClr val="97041D"/>
                </a:solidFill>
                <a:latin typeface="Times New Roman" panose="02020603050405020304"/>
              </a:rPr>
              <a:t>0 / 10</a:t>
            </a:r>
            <a:endParaRPr sz="2755" b="1" i="0">
              <a:solidFill>
                <a:srgbClr val="97041D"/>
              </a:solidFill>
              <a:latin typeface="Times New Roman" panose="02020603050405020304"/>
            </a:endParaRPr>
          </a:p>
        </p:txBody>
      </p:sp>
      <p:sp>
        <p:nvSpPr>
          <p:cNvPr id="48" name="Gemini surgical judge summary label"/>
          <p:cNvSpPr txBox="1"/>
          <p:nvPr/>
        </p:nvSpPr>
        <p:spPr>
          <a:xfrm>
            <a:off x="10719043" y="5422265"/>
            <a:ext cx="6858000" cy="317027"/>
          </a:xfrm>
          <a:prstGeom prst="rect">
            <a:avLst/>
          </a:prstGeom>
          <a:noFill/>
          <a:effectLst/>
        </p:spPr>
        <p:txBody>
          <a:bodyPr wrap="square" lIns="0" tIns="0" rIns="0" bIns="0" anchor="t">
            <a:noAutofit/>
          </a:bodyPr>
          <a:lstStyle/>
          <a:p>
            <a:pPr algn="l">
              <a:lnSpc>
                <a:spcPct val="104000"/>
              </a:lnSpc>
              <a:spcBef>
                <a:spcPts val="0"/>
              </a:spcBef>
              <a:spcAft>
                <a:spcPts val="0"/>
              </a:spcAft>
              <a:defRPr sz="1810" b="1" i="0">
                <a:solidFill>
                  <a:srgbClr val="910825"/>
                </a:solidFill>
                <a:latin typeface="Times New Roman" panose="02020603050405020304"/>
              </a:defRPr>
            </a:pPr>
            <a:r>
              <a:rPr sz="1810" b="1" i="0">
                <a:solidFill>
                  <a:srgbClr val="910825"/>
                </a:solidFill>
                <a:latin typeface="Times New Roman" panose="02020603050405020304"/>
              </a:rPr>
              <a:t>RECORDED GEMINI JUDGE SUMMARY</a:t>
            </a:r>
            <a:endParaRPr sz="1810" b="1" i="0">
              <a:solidFill>
                <a:srgbClr val="910825"/>
              </a:solidFill>
              <a:latin typeface="Times New Roman" panose="02020603050405020304"/>
            </a:endParaRPr>
          </a:p>
        </p:txBody>
      </p:sp>
      <p:sp>
        <p:nvSpPr>
          <p:cNvPr id="49" name="Gemini surgical judge summary"/>
          <p:cNvSpPr txBox="1"/>
          <p:nvPr/>
        </p:nvSpPr>
        <p:spPr>
          <a:xfrm>
            <a:off x="10719043" y="5837681"/>
            <a:ext cx="6858000" cy="808967"/>
          </a:xfrm>
          <a:prstGeom prst="rect">
            <a:avLst/>
          </a:prstGeom>
          <a:noFill/>
          <a:effectLst/>
        </p:spPr>
        <p:txBody>
          <a:bodyPr wrap="square" lIns="0" tIns="0" rIns="0" bIns="0" anchor="t">
            <a:noAutofit/>
          </a:bodyPr>
          <a:lstStyle/>
          <a:p>
            <a:pPr algn="l">
              <a:lnSpc>
                <a:spcPct val="104000"/>
              </a:lnSpc>
              <a:spcBef>
                <a:spcPts val="0"/>
              </a:spcBef>
              <a:spcAft>
                <a:spcPts val="0"/>
              </a:spcAft>
              <a:defRPr sz="2240" b="0" i="0">
                <a:solidFill>
                  <a:srgbClr val="10243C"/>
                </a:solidFill>
                <a:latin typeface="Times New Roman" panose="02020603050405020304"/>
              </a:defRPr>
            </a:pPr>
            <a:r>
              <a:rPr sz="2240" b="0" i="0">
                <a:solidFill>
                  <a:srgbClr val="10243C"/>
                </a:solidFill>
                <a:latin typeface="Times New Roman" panose="02020603050405020304"/>
              </a:rPr>
              <a:t>The judge recorded a recommendation for gross-total</a:t>
            </a:r>
            <a:endParaRPr sz="2240" b="0" i="0">
              <a:solidFill>
                <a:srgbClr val="10243C"/>
              </a:solidFill>
              <a:latin typeface="Times New Roman" panose="02020603050405020304"/>
            </a:endParaRPr>
          </a:p>
          <a:p>
            <a:pPr algn="l">
              <a:lnSpc>
                <a:spcPct val="104000"/>
              </a:lnSpc>
              <a:spcBef>
                <a:spcPts val="0"/>
              </a:spcBef>
              <a:spcAft>
                <a:spcPts val="0"/>
              </a:spcAft>
              <a:defRPr sz="2240" b="0" i="0">
                <a:solidFill>
                  <a:srgbClr val="10243C"/>
                </a:solidFill>
                <a:latin typeface="Times New Roman" panose="02020603050405020304"/>
              </a:defRPr>
            </a:pPr>
            <a:r>
              <a:rPr sz="2240" b="0" i="0">
                <a:solidFill>
                  <a:srgbClr val="10243C"/>
                </a:solidFill>
                <a:latin typeface="Times New Roman" panose="02020603050405020304"/>
              </a:rPr>
              <a:t>removal with deliberate CN XI sacrifice.</a:t>
            </a:r>
            <a:endParaRPr sz="2240" b="0" i="0">
              <a:solidFill>
                <a:srgbClr val="10243C"/>
              </a:solidFill>
              <a:latin typeface="Times New Roman" panose="02020603050405020304"/>
            </a:endParaRPr>
          </a:p>
        </p:txBody>
      </p:sp>
      <p:sp>
        <p:nvSpPr>
          <p:cNvPr id="50" name="Gemini raw response availability"/>
          <p:cNvSpPr txBox="1"/>
          <p:nvPr/>
        </p:nvSpPr>
        <p:spPr>
          <a:xfrm>
            <a:off x="10719043" y="6657580"/>
            <a:ext cx="6858000" cy="317027"/>
          </a:xfrm>
          <a:prstGeom prst="rect">
            <a:avLst/>
          </a:prstGeom>
          <a:noFill/>
          <a:effectLst/>
        </p:spPr>
        <p:txBody>
          <a:bodyPr wrap="square" lIns="0" tIns="0" rIns="0" bIns="0" anchor="t">
            <a:noAutofit/>
          </a:bodyPr>
          <a:lstStyle/>
          <a:p>
            <a:pPr algn="l">
              <a:lnSpc>
                <a:spcPct val="104000"/>
              </a:lnSpc>
              <a:spcBef>
                <a:spcPts val="0"/>
              </a:spcBef>
              <a:spcAft>
                <a:spcPts val="0"/>
              </a:spcAft>
              <a:defRPr sz="1810" b="0" i="0">
                <a:solidFill>
                  <a:srgbClr val="5D5B55"/>
                </a:solidFill>
                <a:latin typeface="Times New Roman" panose="02020603050405020304"/>
              </a:defRPr>
            </a:pPr>
            <a:r>
              <a:rPr sz="1810" b="0" i="0">
                <a:solidFill>
                  <a:srgbClr val="5D5B55"/>
                </a:solidFill>
                <a:latin typeface="Times New Roman" panose="02020603050405020304"/>
              </a:rPr>
              <a:t>Gemini raw response unavailable.</a:t>
            </a:r>
            <a:endParaRPr sz="1810" b="0" i="0">
              <a:solidFill>
                <a:srgbClr val="5D5B55"/>
              </a:solidFill>
              <a:latin typeface="Times New Roman" panose="02020603050405020304"/>
            </a:endParaRPr>
          </a:p>
        </p:txBody>
      </p:sp>
      <p:cxnSp>
        <p:nvCxnSpPr>
          <p:cNvPr id="51" name="Historical assessment availability divider"/>
          <p:cNvCxnSpPr/>
          <p:nvPr/>
        </p:nvCxnSpPr>
        <p:spPr>
          <a:xfrm>
            <a:off x="10729980" y="7105791"/>
            <a:ext cx="6868938" cy="0"/>
          </a:xfrm>
          <a:prstGeom prst="line">
            <a:avLst/>
          </a:prstGeom>
          <a:ln w="10937">
            <a:solidFill>
              <a:srgbClr val="C9BDAD"/>
            </a:solidFill>
          </a:ln>
          <a:effectLst/>
        </p:spPr>
        <p:style>
          <a:lnRef idx="2">
            <a:schemeClr val="accent1"/>
          </a:lnRef>
          <a:fillRef idx="0">
            <a:schemeClr val="accent1"/>
          </a:fillRef>
          <a:effectRef idx="0">
            <a:schemeClr val="accent1"/>
          </a:effectRef>
          <a:fontRef idx="minor">
            <a:schemeClr val="tx1"/>
          </a:fontRef>
        </p:style>
      </p:cxnSp>
      <p:sp>
        <p:nvSpPr>
          <p:cNvPr id="52" name="Claude raw response and rationale availability"/>
          <p:cNvSpPr txBox="1"/>
          <p:nvPr/>
        </p:nvSpPr>
        <p:spPr>
          <a:xfrm>
            <a:off x="10719043" y="7335363"/>
            <a:ext cx="6858000" cy="666851"/>
          </a:xfrm>
          <a:prstGeom prst="rect">
            <a:avLst/>
          </a:prstGeom>
          <a:noFill/>
          <a:effectLst/>
        </p:spPr>
        <p:txBody>
          <a:bodyPr wrap="square" lIns="0" tIns="0" rIns="0" bIns="0" anchor="t">
            <a:noAutofit/>
          </a:bodyPr>
          <a:lstStyle/>
          <a:p>
            <a:pPr algn="l">
              <a:lnSpc>
                <a:spcPct val="104000"/>
              </a:lnSpc>
              <a:spcBef>
                <a:spcPts val="0"/>
              </a:spcBef>
              <a:spcAft>
                <a:spcPts val="0"/>
              </a:spcAft>
              <a:defRPr sz="1895" b="0" i="0">
                <a:solidFill>
                  <a:srgbClr val="5D5B55"/>
                </a:solidFill>
                <a:latin typeface="Times New Roman" panose="02020603050405020304"/>
              </a:defRPr>
            </a:pPr>
            <a:r>
              <a:rPr sz="1895" b="0" i="0">
                <a:solidFill>
                  <a:srgbClr val="5D5B55"/>
                </a:solidFill>
                <a:latin typeface="Times New Roman" panose="02020603050405020304"/>
              </a:rPr>
              <a:t>Claude: score only; raw response and judge</a:t>
            </a:r>
            <a:endParaRPr sz="1895" b="0" i="0">
              <a:solidFill>
                <a:srgbClr val="5D5B55"/>
              </a:solidFill>
              <a:latin typeface="Times New Roman" panose="02020603050405020304"/>
            </a:endParaRPr>
          </a:p>
          <a:p>
            <a:pPr algn="l">
              <a:lnSpc>
                <a:spcPct val="104000"/>
              </a:lnSpc>
              <a:spcBef>
                <a:spcPts val="0"/>
              </a:spcBef>
              <a:spcAft>
                <a:spcPts val="0"/>
              </a:spcAft>
              <a:defRPr sz="1895" b="0" i="0">
                <a:solidFill>
                  <a:srgbClr val="5D5B55"/>
                </a:solidFill>
                <a:latin typeface="Times New Roman" panose="02020603050405020304"/>
              </a:defRPr>
            </a:pPr>
            <a:r>
              <a:rPr sz="1895" b="0" i="0">
                <a:solidFill>
                  <a:srgbClr val="5D5B55"/>
                </a:solidFill>
                <a:latin typeface="Times New Roman" panose="02020603050405020304"/>
              </a:rPr>
              <a:t>rationale unavailable.</a:t>
            </a:r>
            <a:endParaRPr sz="1895" b="0" i="0">
              <a:solidFill>
                <a:srgbClr val="5D5B55"/>
              </a:solidFill>
              <a:latin typeface="Times New Roman" panose="02020603050405020304"/>
            </a:endParaRPr>
          </a:p>
        </p:txBody>
      </p:sp>
      <p:sp>
        <p:nvSpPr>
          <p:cNvPr id="53" name="Surgical tradeoff takeaway banner"/>
          <p:cNvSpPr/>
          <p:nvPr/>
        </p:nvSpPr>
        <p:spPr>
          <a:xfrm>
            <a:off x="404698" y="8406698"/>
            <a:ext cx="17478602" cy="743375"/>
          </a:xfrm>
          <a:prstGeom prst="roundRect">
            <a:avLst>
              <a:gd name="adj" fmla="val 7000"/>
            </a:avLst>
          </a:prstGeom>
          <a:solidFill>
            <a:srgbClr val="EDF1E9"/>
          </a:solidFill>
          <a:ln w="10937">
            <a:solidFill>
              <a:srgbClr val="96B3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Surgical judgment takeaway"/>
          <p:cNvSpPr txBox="1"/>
          <p:nvPr/>
        </p:nvSpPr>
        <p:spPr>
          <a:xfrm>
            <a:off x="667205" y="8603473"/>
            <a:ext cx="16953588" cy="437279"/>
          </a:xfrm>
          <a:prstGeom prst="rect">
            <a:avLst/>
          </a:prstGeom>
          <a:noFill/>
          <a:effectLst/>
        </p:spPr>
        <p:txBody>
          <a:bodyPr wrap="square" lIns="0" tIns="0" rIns="0" bIns="0" anchor="t">
            <a:noAutofit/>
          </a:bodyPr>
          <a:lstStyle/>
          <a:p>
            <a:pPr algn="ctr">
              <a:lnSpc>
                <a:spcPct val="104000"/>
              </a:lnSpc>
              <a:spcBef>
                <a:spcPts val="0"/>
              </a:spcBef>
              <a:spcAft>
                <a:spcPts val="0"/>
              </a:spcAft>
              <a:defRPr sz="2495" b="1" i="0">
                <a:solidFill>
                  <a:srgbClr val="124936"/>
                </a:solidFill>
                <a:latin typeface="Times New Roman" panose="02020603050405020304"/>
              </a:defRPr>
            </a:pPr>
            <a:r>
              <a:rPr sz="2495" b="1" i="0">
                <a:solidFill>
                  <a:srgbClr val="124936"/>
                </a:solidFill>
                <a:latin typeface="Times New Roman" panose="02020603050405020304"/>
              </a:rPr>
              <a:t>The decision weighs decompression against new CN XI injury and residual / recurrence risk.</a:t>
            </a:r>
            <a:endParaRPr sz="2495" b="1" i="0">
              <a:solidFill>
                <a:srgbClr val="124936"/>
              </a:solidFill>
              <a:latin typeface="Times New Roman" panose="02020603050405020304"/>
            </a:endParaRPr>
          </a:p>
        </p:txBody>
      </p:sp>
      <p:sp>
        <p:nvSpPr>
          <p:cNvPr id="55" name="Question and score version note"/>
          <p:cNvSpPr txBox="1"/>
          <p:nvPr/>
        </p:nvSpPr>
        <p:spPr>
          <a:xfrm>
            <a:off x="426574" y="9357781"/>
            <a:ext cx="9329942" cy="262367"/>
          </a:xfrm>
          <a:prstGeom prst="rect">
            <a:avLst/>
          </a:prstGeom>
          <a:noFill/>
          <a:effectLst/>
        </p:spPr>
        <p:txBody>
          <a:bodyPr wrap="square" lIns="0" tIns="0" rIns="0" bIns="0" anchor="t">
            <a:noAutofit/>
          </a:bodyPr>
          <a:lstStyle/>
          <a:p>
            <a:pPr algn="l">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Dataset v1.3.0 · Question v1.2.1 · Scores v1.1.0; revised question not rerun.</a:t>
            </a:r>
            <a:endParaRPr sz="1375" b="0" i="0">
              <a:solidFill>
                <a:srgbClr val="10243C"/>
              </a:solidFill>
              <a:latin typeface="Times New Roman" panose="02020603050405020304"/>
            </a:endParaRPr>
          </a:p>
        </p:txBody>
      </p:sp>
      <p:sp>
        <p:nvSpPr>
          <p:cNvPr id="56" name="Surgical case source credit"/>
          <p:cNvSpPr txBox="1"/>
          <p:nvPr/>
        </p:nvSpPr>
        <p:spPr>
          <a:xfrm>
            <a:off x="9854956" y="9357781"/>
            <a:ext cx="7995531" cy="262367"/>
          </a:xfrm>
          <a:prstGeom prst="rect">
            <a:avLst/>
          </a:prstGeom>
          <a:noFill/>
          <a:effectLst/>
        </p:spPr>
        <p:txBody>
          <a:bodyPr wrap="square" lIns="0" tIns="0" rIns="0" bIns="0" anchor="t">
            <a:noAutofit/>
          </a:bodyPr>
          <a:lstStyle/>
          <a:p>
            <a:pPr algn="r">
              <a:lnSpc>
                <a:spcPct val="104000"/>
              </a:lnSpc>
              <a:spcBef>
                <a:spcPts val="0"/>
              </a:spcBef>
              <a:spcAft>
                <a:spcPts val="0"/>
              </a:spcAft>
              <a:defRPr sz="1375" b="0" i="0">
                <a:solidFill>
                  <a:srgbClr val="10243C"/>
                </a:solidFill>
                <a:latin typeface="Times New Roman" panose="02020603050405020304"/>
              </a:defRPr>
            </a:pPr>
            <a:r>
              <a:rPr sz="1375" b="0" i="0">
                <a:solidFill>
                  <a:srgbClr val="10243C"/>
                </a:solidFill>
                <a:latin typeface="Times New Roman" panose="02020603050405020304"/>
              </a:rPr>
              <a:t>Futamura et al., Life (2026) · doi:10.3390/life16040655 · CC BY</a:t>
            </a:r>
            <a:endParaRPr sz="1375" b="0" i="0">
              <a:solidFill>
                <a:srgbClr val="10243C"/>
              </a:solidFill>
              <a:latin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BF8F1"/>
        </a:solidFill>
        <a:effectLst/>
      </p:bgPr>
    </p:bg>
    <p:spTree>
      <p:nvGrpSpPr>
        <p:cNvPr id="1" name=""/>
        <p:cNvGrpSpPr/>
        <p:nvPr/>
      </p:nvGrpSpPr>
      <p:grpSpPr/>
      <p:sp>
        <p:nvSpPr>
          <p:cNvPr id="2" name="Website masthead"/>
          <p:cNvSpPr/>
          <p:nvPr/>
        </p:nvSpPr>
        <p:spPr>
          <a:xfrm>
            <a:off x="0" y="0"/>
            <a:ext cx="18288000" cy="1344634"/>
          </a:xfrm>
          <a:prstGeom prst="rect">
            <a:avLst/>
          </a:prstGeom>
          <a:blipFill rotWithShape="1">
            <a:blip r:embed="rId1"/>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ain title"/>
          <p:cNvSpPr txBox="1"/>
          <p:nvPr/>
        </p:nvSpPr>
        <p:spPr>
          <a:xfrm>
            <a:off x="503138" y="131183"/>
            <a:ext cx="14875406" cy="765239"/>
          </a:xfrm>
          <a:prstGeom prst="rect">
            <a:avLst/>
          </a:prstGeom>
          <a:noFill/>
          <a:effectLst/>
        </p:spPr>
        <p:txBody>
          <a:bodyPr wrap="square" lIns="0" tIns="0" rIns="0" bIns="0" anchor="t">
            <a:noAutofit/>
          </a:bodyPr>
          <a:lstStyle/>
          <a:p>
            <a:pPr algn="l">
              <a:lnSpc>
                <a:spcPct val="104000"/>
              </a:lnSpc>
              <a:spcBef>
                <a:spcPts val="0"/>
              </a:spcBef>
              <a:spcAft>
                <a:spcPts val="0"/>
              </a:spcAft>
              <a:defRPr sz="5165" b="1" i="0">
                <a:solidFill>
                  <a:srgbClr val="FFFDFA"/>
                </a:solidFill>
                <a:latin typeface="Times New Roman" panose="02020603050405020304"/>
              </a:defRPr>
            </a:pPr>
            <a:r>
              <a:rPr sz="5165" b="1" i="0">
                <a:solidFill>
                  <a:srgbClr val="FFFDFA"/>
                </a:solidFill>
                <a:latin typeface="Times New Roman" panose="02020603050405020304"/>
              </a:rPr>
              <a:t>Medical Doctor’s Last Exam</a:t>
            </a:r>
            <a:endParaRPr sz="5165" b="1" i="0">
              <a:solidFill>
                <a:srgbClr val="FFFDFA"/>
              </a:solidFill>
              <a:latin typeface="Times New Roman" panose="02020603050405020304"/>
            </a:endParaRPr>
          </a:p>
        </p:txBody>
      </p:sp>
      <p:sp>
        <p:nvSpPr>
          <p:cNvPr id="4" name="Website subtitle"/>
          <p:cNvSpPr txBox="1"/>
          <p:nvPr/>
        </p:nvSpPr>
        <p:spPr>
          <a:xfrm>
            <a:off x="503138" y="841763"/>
            <a:ext cx="14656650" cy="437279"/>
          </a:xfrm>
          <a:prstGeom prst="rect">
            <a:avLst/>
          </a:prstGeom>
          <a:noFill/>
          <a:effectLst/>
        </p:spPr>
        <p:txBody>
          <a:bodyPr wrap="square" lIns="0" tIns="0" rIns="0" bIns="0" anchor="t">
            <a:noAutofit/>
          </a:bodyPr>
          <a:lstStyle/>
          <a:p>
            <a:pPr algn="l">
              <a:lnSpc>
                <a:spcPct val="104000"/>
              </a:lnSpc>
              <a:spcBef>
                <a:spcPts val="0"/>
              </a:spcBef>
              <a:spcAft>
                <a:spcPts val="0"/>
              </a:spcAft>
              <a:defRPr sz="2670" b="0" i="1">
                <a:solidFill>
                  <a:srgbClr val="FFFDFA"/>
                </a:solidFill>
                <a:latin typeface="Times New Roman" panose="02020603050405020304"/>
              </a:defRPr>
            </a:pPr>
            <a:r>
              <a:rPr sz="2670" b="0" i="1">
                <a:solidFill>
                  <a:srgbClr val="FFFDFA"/>
                </a:solidFill>
                <a:latin typeface="Times New Roman" panose="02020603050405020304"/>
              </a:rPr>
              <a:t>A living benchmark, built through community contributions</a:t>
            </a:r>
            <a:endParaRPr sz="2670" b="0" i="1">
              <a:solidFill>
                <a:srgbClr val="FFFDFA"/>
              </a:solidFill>
              <a:latin typeface="Times New Roman" panose="02020603050405020304"/>
            </a:endParaRPr>
          </a:p>
        </p:txBody>
      </p:sp>
      <p:sp>
        <p:nvSpPr>
          <p:cNvPr id="5" name="MDLE wordmark frame"/>
          <p:cNvSpPr/>
          <p:nvPr/>
        </p:nvSpPr>
        <p:spPr>
          <a:xfrm>
            <a:off x="16034813" y="153047"/>
            <a:ext cx="1782861" cy="1071334"/>
          </a:xfrm>
          <a:prstGeom prst="rect">
            <a:avLst/>
          </a:prstGeom>
          <a:noFill/>
          <a:ln w="10937">
            <a:solidFill>
              <a:srgbClr val="EADA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MDLE wordmark"/>
          <p:cNvSpPr txBox="1"/>
          <p:nvPr/>
        </p:nvSpPr>
        <p:spPr>
          <a:xfrm>
            <a:off x="16122315" y="295163"/>
            <a:ext cx="1618794" cy="819899"/>
          </a:xfrm>
          <a:prstGeom prst="rect">
            <a:avLst/>
          </a:prstGeom>
          <a:noFill/>
          <a:effectLst/>
        </p:spPr>
        <p:txBody>
          <a:bodyPr wrap="square" lIns="0" tIns="0" rIns="0" bIns="0" anchor="t">
            <a:noAutofit/>
          </a:bodyPr>
          <a:lstStyle/>
          <a:p>
            <a:pPr algn="ctr">
              <a:lnSpc>
                <a:spcPct val="104000"/>
              </a:lnSpc>
              <a:spcBef>
                <a:spcPts val="0"/>
              </a:spcBef>
              <a:spcAft>
                <a:spcPts val="0"/>
              </a:spcAft>
              <a:defRPr sz="1895" b="1" i="0">
                <a:solidFill>
                  <a:srgbClr val="FFFDFA"/>
                </a:solidFill>
                <a:latin typeface="Times New Roman" panose="02020603050405020304"/>
              </a:defRPr>
            </a:pPr>
            <a:r>
              <a:rPr sz="1895" b="1" i="0">
                <a:solidFill>
                  <a:srgbClr val="FFFDFA"/>
                </a:solidFill>
                <a:latin typeface="Times New Roman" panose="02020603050405020304"/>
              </a:rPr>
              <a:t>MEDICAL</a:t>
            </a:r>
            <a:endParaRPr sz="1895" b="1" i="0">
              <a:solidFill>
                <a:srgbClr val="FFFDFA"/>
              </a:solidFill>
              <a:latin typeface="Times New Roman" panose="02020603050405020304"/>
            </a:endParaRPr>
          </a:p>
          <a:p>
            <a:pPr algn="ctr">
              <a:lnSpc>
                <a:spcPct val="104000"/>
              </a:lnSpc>
              <a:spcBef>
                <a:spcPts val="0"/>
              </a:spcBef>
              <a:spcAft>
                <a:spcPts val="0"/>
              </a:spcAft>
              <a:defRPr sz="1895" b="1" i="0">
                <a:solidFill>
                  <a:srgbClr val="FFFDFA"/>
                </a:solidFill>
                <a:latin typeface="Times New Roman" panose="02020603050405020304"/>
              </a:defRPr>
            </a:pPr>
            <a:r>
              <a:rPr sz="1895" b="1" i="0">
                <a:solidFill>
                  <a:srgbClr val="FFFDFA"/>
                </a:solidFill>
                <a:latin typeface="Times New Roman" panose="02020603050405020304"/>
              </a:rPr>
              <a:t>DOCTOR’S</a:t>
            </a:r>
            <a:endParaRPr sz="1895" b="1" i="0">
              <a:solidFill>
                <a:srgbClr val="FFFDFA"/>
              </a:solidFill>
              <a:latin typeface="Times New Roman" panose="02020603050405020304"/>
            </a:endParaRPr>
          </a:p>
          <a:p>
            <a:pPr algn="ctr">
              <a:lnSpc>
                <a:spcPct val="104000"/>
              </a:lnSpc>
              <a:spcBef>
                <a:spcPts val="0"/>
              </a:spcBef>
              <a:spcAft>
                <a:spcPts val="0"/>
              </a:spcAft>
              <a:defRPr sz="1895" b="1" i="0">
                <a:solidFill>
                  <a:srgbClr val="FFFDFA"/>
                </a:solidFill>
                <a:latin typeface="Times New Roman" panose="02020603050405020304"/>
              </a:defRPr>
            </a:pPr>
            <a:r>
              <a:rPr sz="1895" b="1" i="0">
                <a:solidFill>
                  <a:srgbClr val="FFFDFA"/>
                </a:solidFill>
                <a:latin typeface="Times New Roman" panose="02020603050405020304"/>
              </a:rPr>
              <a:t>LAST EXAM</a:t>
            </a:r>
            <a:endParaRPr sz="1895" b="1" i="0">
              <a:solidFill>
                <a:srgbClr val="FFFDFA"/>
              </a:solidFill>
              <a:latin typeface="Times New Roman" panose="02020603050405020304"/>
            </a:endParaRPr>
          </a:p>
        </p:txBody>
      </p:sp>
      <p:sp>
        <p:nvSpPr>
          <p:cNvPr id="7" name="Website footer"/>
          <p:cNvSpPr/>
          <p:nvPr/>
        </p:nvSpPr>
        <p:spPr>
          <a:xfrm>
            <a:off x="0" y="9674808"/>
            <a:ext cx="18288000" cy="612191"/>
          </a:xfrm>
          <a:prstGeom prst="rect">
            <a:avLst/>
          </a:prstGeom>
          <a:blipFill rotWithShape="1">
            <a:blip r:embed="rId2"/>
            <a:stretch>
              <a:fillRect/>
            </a:stretch>
          </a:blip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Footer left rule"/>
          <p:cNvCxnSpPr/>
          <p:nvPr/>
        </p:nvCxnSpPr>
        <p:spPr>
          <a:xfrm>
            <a:off x="2275062" y="9980904"/>
            <a:ext cx="2811014"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9" name="Footer left diamond"/>
          <p:cNvSpPr/>
          <p:nvPr/>
        </p:nvSpPr>
        <p:spPr>
          <a:xfrm>
            <a:off x="5179047" y="9909846"/>
            <a:ext cx="142191" cy="142115"/>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Footer right rule"/>
          <p:cNvCxnSpPr/>
          <p:nvPr/>
        </p:nvCxnSpPr>
        <p:spPr>
          <a:xfrm>
            <a:off x="13136296" y="9980904"/>
            <a:ext cx="1837550" cy="0"/>
          </a:xfrm>
          <a:prstGeom prst="line">
            <a:avLst/>
          </a:prstGeom>
          <a:ln w="10937">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11" name="Footer right diamond"/>
          <p:cNvSpPr/>
          <p:nvPr/>
        </p:nvSpPr>
        <p:spPr>
          <a:xfrm>
            <a:off x="12923009" y="9909846"/>
            <a:ext cx="142191" cy="142115"/>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ooter tagline"/>
          <p:cNvSpPr txBox="1"/>
          <p:nvPr/>
        </p:nvSpPr>
        <p:spPr>
          <a:xfrm>
            <a:off x="5698593" y="9795060"/>
            <a:ext cx="7186133" cy="404483"/>
          </a:xfrm>
          <a:prstGeom prst="rect">
            <a:avLst/>
          </a:prstGeom>
          <a:noFill/>
          <a:effectLst/>
        </p:spPr>
        <p:txBody>
          <a:bodyPr wrap="square" lIns="0" tIns="0" rIns="0" bIns="0" anchor="t">
            <a:noAutofit/>
          </a:bodyPr>
          <a:lstStyle/>
          <a:p>
            <a:pPr algn="ctr">
              <a:lnSpc>
                <a:spcPct val="104000"/>
              </a:lnSpc>
              <a:spcBef>
                <a:spcPts val="0"/>
              </a:spcBef>
              <a:spcAft>
                <a:spcPts val="0"/>
              </a:spcAft>
              <a:defRPr sz="2240" b="0" i="1">
                <a:solidFill>
                  <a:srgbClr val="FFFDFA"/>
                </a:solidFill>
                <a:latin typeface="Times New Roman" panose="02020603050405020304"/>
              </a:defRPr>
            </a:pPr>
            <a:r>
              <a:rPr sz="2240" b="0" i="1">
                <a:solidFill>
                  <a:srgbClr val="FFFDFA"/>
                </a:solidFill>
                <a:latin typeface="Times New Roman" panose="02020603050405020304"/>
              </a:rPr>
              <a:t>A living benchmark for next-generation medical AI</a:t>
            </a:r>
            <a:endParaRPr sz="2240" b="0" i="1">
              <a:solidFill>
                <a:srgbClr val="FFFDFA"/>
              </a:solidFill>
              <a:latin typeface="Times New Roman" panose="02020603050405020304"/>
            </a:endParaRPr>
          </a:p>
        </p:txBody>
      </p:sp>
      <p:sp>
        <p:nvSpPr>
          <p:cNvPr id="13" name="Verification note"/>
          <p:cNvSpPr txBox="1"/>
          <p:nvPr/>
        </p:nvSpPr>
        <p:spPr>
          <a:xfrm>
            <a:off x="15247291" y="9882516"/>
            <a:ext cx="2636009" cy="284231"/>
          </a:xfrm>
          <a:prstGeom prst="rect">
            <a:avLst/>
          </a:prstGeom>
          <a:noFill/>
          <a:effectLst/>
        </p:spPr>
        <p:txBody>
          <a:bodyPr wrap="square" lIns="0" tIns="0" rIns="0" bIns="0" anchor="t">
            <a:noAutofit/>
          </a:bodyPr>
          <a:lstStyle/>
          <a:p>
            <a:pPr algn="r">
              <a:lnSpc>
                <a:spcPct val="104000"/>
              </a:lnSpc>
              <a:spcBef>
                <a:spcPts val="0"/>
              </a:spcBef>
              <a:spcAft>
                <a:spcPts val="0"/>
              </a:spcAft>
              <a:defRPr sz="1035" b="0" i="0">
                <a:solidFill>
                  <a:srgbClr val="FFFDFA"/>
                </a:solidFill>
                <a:latin typeface="Times New Roman" panose="02020603050405020304"/>
              </a:defRPr>
            </a:pPr>
            <a:r>
              <a:rPr sz="1035" b="0" i="0">
                <a:solidFill>
                  <a:srgbClr val="FFFDFA"/>
                </a:solidFill>
                <a:latin typeface="Times New Roman" panose="02020603050405020304"/>
              </a:rPr>
              <a:t>Live public pages verified 5 October 2026.</a:t>
            </a:r>
            <a:endParaRPr sz="1035" b="0" i="0">
              <a:solidFill>
                <a:srgbClr val="FFFDFA"/>
              </a:solidFill>
              <a:latin typeface="Times New Roman" panose="02020603050405020304"/>
            </a:endParaRPr>
          </a:p>
        </p:txBody>
      </p:sp>
      <p:sp>
        <p:nvSpPr>
          <p:cNvPr id="14" name="Explorer panel"/>
          <p:cNvSpPr/>
          <p:nvPr/>
        </p:nvSpPr>
        <p:spPr>
          <a:xfrm>
            <a:off x="415636" y="1464886"/>
            <a:ext cx="8684612" cy="6012592"/>
          </a:xfrm>
          <a:prstGeom prst="roundRect">
            <a:avLst>
              <a:gd name="adj" fmla="val 1799"/>
            </a:avLst>
          </a:prstGeom>
          <a:solidFill>
            <a:srgbClr val="FCFAF5"/>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Contribution panel"/>
          <p:cNvSpPr/>
          <p:nvPr/>
        </p:nvSpPr>
        <p:spPr>
          <a:xfrm>
            <a:off x="9220564" y="1464886"/>
            <a:ext cx="8662736" cy="6012592"/>
          </a:xfrm>
          <a:prstGeom prst="roundRect">
            <a:avLst>
              <a:gd name="adj" fmla="val 1799"/>
            </a:avLst>
          </a:prstGeom>
          <a:solidFill>
            <a:srgbClr val="FCFAF5"/>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Explorer heading"/>
          <p:cNvSpPr txBox="1"/>
          <p:nvPr/>
        </p:nvSpPr>
        <p:spPr>
          <a:xfrm>
            <a:off x="787521" y="1530478"/>
            <a:ext cx="7940842" cy="371687"/>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EXPLORE THE BENCHMARK</a:t>
            </a:r>
            <a:endParaRPr sz="2325" b="1" i="0">
              <a:solidFill>
                <a:srgbClr val="124936"/>
              </a:solidFill>
              <a:latin typeface="Times New Roman" panose="02020603050405020304"/>
            </a:endParaRPr>
          </a:p>
        </p:txBody>
      </p:sp>
      <p:sp>
        <p:nvSpPr>
          <p:cNvPr id="17" name="Contribution heading"/>
          <p:cNvSpPr txBox="1"/>
          <p:nvPr/>
        </p:nvSpPr>
        <p:spPr>
          <a:xfrm>
            <a:off x="9603387" y="1530478"/>
            <a:ext cx="7886153" cy="371687"/>
          </a:xfrm>
          <a:prstGeom prst="rect">
            <a:avLst/>
          </a:prstGeom>
          <a:noFill/>
          <a:effectLst/>
        </p:spPr>
        <p:txBody>
          <a:bodyPr wrap="square" lIns="0" tIns="0" rIns="0" bIns="0" anchor="t">
            <a:noAutofit/>
          </a:bodyPr>
          <a:lstStyle/>
          <a:p>
            <a:pPr algn="ctr">
              <a:lnSpc>
                <a:spcPct val="104000"/>
              </a:lnSpc>
              <a:spcBef>
                <a:spcPts val="0"/>
              </a:spcBef>
              <a:spcAft>
                <a:spcPts val="0"/>
              </a:spcAft>
              <a:defRPr sz="2325" b="1" i="0">
                <a:solidFill>
                  <a:srgbClr val="124936"/>
                </a:solidFill>
                <a:latin typeface="Times New Roman" panose="02020603050405020304"/>
              </a:defRPr>
            </a:pPr>
            <a:r>
              <a:rPr sz="2325" b="1" i="0">
                <a:solidFill>
                  <a:srgbClr val="124936"/>
                </a:solidFill>
                <a:latin typeface="Times New Roman" panose="02020603050405020304"/>
              </a:rPr>
              <a:t>CONTRIBUTE A QUESTION</a:t>
            </a:r>
            <a:endParaRPr sz="2325" b="1" i="0">
              <a:solidFill>
                <a:srgbClr val="124936"/>
              </a:solidFill>
              <a:latin typeface="Times New Roman" panose="02020603050405020304"/>
            </a:endParaRPr>
          </a:p>
        </p:txBody>
      </p:sp>
      <p:cxnSp>
        <p:nvCxnSpPr>
          <p:cNvPr id="18" name="Explorer heading divider left"/>
          <p:cNvCxnSpPr/>
          <p:nvPr/>
        </p:nvCxnSpPr>
        <p:spPr>
          <a:xfrm>
            <a:off x="656267" y="1880301"/>
            <a:ext cx="3954015"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19" name="Explorer heading divider right"/>
          <p:cNvCxnSpPr/>
          <p:nvPr/>
        </p:nvCxnSpPr>
        <p:spPr>
          <a:xfrm>
            <a:off x="4872789" y="1880301"/>
            <a:ext cx="3954014"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20" name="Explorer heading divider diamond"/>
          <p:cNvSpPr/>
          <p:nvPr/>
        </p:nvSpPr>
        <p:spPr>
          <a:xfrm>
            <a:off x="4681377" y="1820175"/>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tribution heading divider left"/>
          <p:cNvCxnSpPr/>
          <p:nvPr/>
        </p:nvCxnSpPr>
        <p:spPr>
          <a:xfrm>
            <a:off x="9461196" y="1880301"/>
            <a:ext cx="3964952"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cxnSp>
        <p:nvCxnSpPr>
          <p:cNvPr id="22" name="Contribution heading divider right"/>
          <p:cNvCxnSpPr/>
          <p:nvPr/>
        </p:nvCxnSpPr>
        <p:spPr>
          <a:xfrm>
            <a:off x="13688655" y="1880301"/>
            <a:ext cx="3964952" cy="0"/>
          </a:xfrm>
          <a:prstGeom prst="line">
            <a:avLst/>
          </a:prstGeom>
          <a:ln w="10937">
            <a:solidFill>
              <a:srgbClr val="CEB99B"/>
            </a:solidFill>
          </a:ln>
          <a:effectLst/>
        </p:spPr>
        <p:style>
          <a:lnRef idx="2">
            <a:schemeClr val="accent1"/>
          </a:lnRef>
          <a:fillRef idx="0">
            <a:schemeClr val="accent1"/>
          </a:fillRef>
          <a:effectRef idx="0">
            <a:schemeClr val="accent1"/>
          </a:effectRef>
          <a:fontRef idx="minor">
            <a:schemeClr val="tx1"/>
          </a:fontRef>
        </p:style>
      </p:cxnSp>
      <p:sp>
        <p:nvSpPr>
          <p:cNvPr id="23" name="Contribution heading divider diamond"/>
          <p:cNvSpPr/>
          <p:nvPr/>
        </p:nvSpPr>
        <p:spPr>
          <a:xfrm>
            <a:off x="13497244" y="1820175"/>
            <a:ext cx="120315" cy="120251"/>
          </a:xfrm>
          <a:prstGeom prst="diamond">
            <a:avLst/>
          </a:prstGeom>
          <a:solidFill>
            <a:srgbClr val="B58F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Explorer screenshot frame"/>
          <p:cNvSpPr/>
          <p:nvPr/>
        </p:nvSpPr>
        <p:spPr>
          <a:xfrm>
            <a:off x="612516" y="2011485"/>
            <a:ext cx="8279913" cy="4580502"/>
          </a:xfrm>
          <a:prstGeom prst="roundRect">
            <a:avLst>
              <a:gd name="adj" fmla="val 800"/>
            </a:avLst>
          </a:prstGeom>
          <a:solidFill>
            <a:srgbClr val="FFFFFF"/>
          </a:solidFill>
          <a:ln w="8750">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Contribution screenshot frame"/>
          <p:cNvSpPr/>
          <p:nvPr/>
        </p:nvSpPr>
        <p:spPr>
          <a:xfrm>
            <a:off x="9417444" y="2011485"/>
            <a:ext cx="8279913" cy="4580502"/>
          </a:xfrm>
          <a:prstGeom prst="roundRect">
            <a:avLst>
              <a:gd name="adj" fmla="val 800"/>
            </a:avLst>
          </a:prstGeom>
          <a:solidFill>
            <a:srgbClr val="FBF9F6"/>
          </a:solidFill>
          <a:ln w="8750">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Authentic MDLE explorer screenshot" descr="explorer-v1.3.0.png"/>
          <p:cNvPicPr>
            <a:picLocks noChangeAspect="1"/>
          </p:cNvPicPr>
          <p:nvPr/>
        </p:nvPicPr>
        <p:blipFill>
          <a:blip r:embed="rId3"/>
          <a:srcRect/>
          <a:stretch>
            <a:fillRect/>
          </a:stretch>
        </p:blipFill>
        <p:spPr>
          <a:xfrm>
            <a:off x="645330" y="2055213"/>
            <a:ext cx="8214287" cy="4492651"/>
          </a:xfrm>
          <a:prstGeom prst="rect">
            <a:avLst/>
          </a:prstGeom>
          <a:effectLst/>
        </p:spPr>
      </p:pic>
      <p:pic>
        <p:nvPicPr>
          <p:cNvPr id="27" name="Authentic question submission landing screenshot" descr="image.png"/>
          <p:cNvPicPr>
            <a:picLocks noChangeAspect="1"/>
          </p:cNvPicPr>
          <p:nvPr/>
        </p:nvPicPr>
        <p:blipFill>
          <a:blip r:embed="rId4"/>
          <a:srcRect b="24200"/>
          <a:stretch>
            <a:fillRect/>
          </a:stretch>
        </p:blipFill>
        <p:spPr>
          <a:xfrm>
            <a:off x="9450258" y="2055213"/>
            <a:ext cx="8214287" cy="3874257"/>
          </a:xfrm>
          <a:prstGeom prst="rect">
            <a:avLst/>
          </a:prstGeom>
          <a:effectLst/>
        </p:spPr>
      </p:pic>
      <p:sp>
        <p:nvSpPr>
          <p:cNvPr id="28" name="Explorer description"/>
          <p:cNvSpPr txBox="1"/>
          <p:nvPr/>
        </p:nvSpPr>
        <p:spPr>
          <a:xfrm>
            <a:off x="809397" y="6657580"/>
            <a:ext cx="7918966" cy="306095"/>
          </a:xfrm>
          <a:prstGeom prst="rect">
            <a:avLst/>
          </a:prstGeom>
          <a:noFill/>
          <a:effectLst/>
        </p:spPr>
        <p:txBody>
          <a:bodyPr wrap="square" lIns="0" tIns="0" rIns="0" bIns="0" anchor="t">
            <a:noAutofit/>
          </a:bodyPr>
          <a:lstStyle/>
          <a:p>
            <a:pPr algn="ctr">
              <a:lnSpc>
                <a:spcPct val="104000"/>
              </a:lnSpc>
              <a:spcBef>
                <a:spcPts val="0"/>
              </a:spcBef>
              <a:spcAft>
                <a:spcPts val="0"/>
              </a:spcAft>
              <a:defRPr sz="1810" b="0" i="0">
                <a:solidFill>
                  <a:srgbClr val="10243C"/>
                </a:solidFill>
                <a:latin typeface="Times New Roman" panose="02020603050405020304"/>
              </a:defRPr>
            </a:pPr>
            <a:r>
              <a:rPr sz="1810" b="0" i="0">
                <a:solidFill>
                  <a:srgbClr val="10243C"/>
                </a:solidFill>
                <a:latin typeface="Times New Roman" panose="02020603050405020304"/>
              </a:rPr>
              <a:t>Questions, evidence, reference answers and rubrics.</a:t>
            </a:r>
            <a:endParaRPr sz="1810" b="0" i="0">
              <a:solidFill>
                <a:srgbClr val="10243C"/>
              </a:solidFill>
              <a:latin typeface="Times New Roman" panose="02020603050405020304"/>
            </a:endParaRPr>
          </a:p>
        </p:txBody>
      </p:sp>
      <p:sp>
        <p:nvSpPr>
          <p:cNvPr id="29" name="Contribution description"/>
          <p:cNvSpPr txBox="1"/>
          <p:nvPr/>
        </p:nvSpPr>
        <p:spPr>
          <a:xfrm>
            <a:off x="9603387" y="6657580"/>
            <a:ext cx="7886153" cy="306095"/>
          </a:xfrm>
          <a:prstGeom prst="rect">
            <a:avLst/>
          </a:prstGeom>
          <a:noFill/>
          <a:effectLst/>
        </p:spPr>
        <p:txBody>
          <a:bodyPr wrap="square" lIns="0" tIns="0" rIns="0" bIns="0" anchor="t">
            <a:noAutofit/>
          </a:bodyPr>
          <a:lstStyle/>
          <a:p>
            <a:pPr algn="ctr">
              <a:lnSpc>
                <a:spcPct val="104000"/>
              </a:lnSpc>
              <a:spcBef>
                <a:spcPts val="0"/>
              </a:spcBef>
              <a:spcAft>
                <a:spcPts val="0"/>
              </a:spcAft>
              <a:defRPr sz="1810" b="0" i="0">
                <a:solidFill>
                  <a:srgbClr val="10243C"/>
                </a:solidFill>
                <a:latin typeface="Times New Roman" panose="02020603050405020304"/>
              </a:defRPr>
            </a:pPr>
            <a:r>
              <a:rPr sz="1810" b="0" i="0">
                <a:solidFill>
                  <a:srgbClr val="10243C"/>
                </a:solidFill>
                <a:latin typeface="Times New Roman" panose="02020603050405020304"/>
              </a:rPr>
              <a:t>Submit a question, answer, reasoning and images.</a:t>
            </a:r>
            <a:endParaRPr sz="1810" b="0" i="0">
              <a:solidFill>
                <a:srgbClr val="10243C"/>
              </a:solidFill>
              <a:latin typeface="Times New Roman" panose="02020603050405020304"/>
            </a:endParaRPr>
          </a:p>
        </p:txBody>
      </p:sp>
      <p:sp>
        <p:nvSpPr>
          <p:cNvPr id="30" name="Explorer URL capsule"/>
          <p:cNvSpPr/>
          <p:nvPr/>
        </p:nvSpPr>
        <p:spPr>
          <a:xfrm>
            <a:off x="2614133" y="6996471"/>
            <a:ext cx="4101674" cy="382619"/>
          </a:xfrm>
          <a:prstGeom prst="roundRect">
            <a:avLst>
              <a:gd name="adj" fmla="val 49000"/>
            </a:avLst>
          </a:prstGeom>
          <a:solidFill>
            <a:srgbClr val="F2EBDE"/>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Explorer URL">
            <a:hlinkClick r:id="rId5"/>
          </p:cNvPr>
          <p:cNvSpPr txBox="1"/>
          <p:nvPr/>
        </p:nvSpPr>
        <p:spPr>
          <a:xfrm>
            <a:off x="2734449" y="7040199"/>
            <a:ext cx="3839167" cy="327959"/>
          </a:xfrm>
          <a:prstGeom prst="rect">
            <a:avLst/>
          </a:prstGeom>
          <a:noFill/>
          <a:effectLst/>
        </p:spPr>
        <p:txBody>
          <a:bodyPr wrap="square" lIns="0" tIns="0" rIns="0" bIns="0" anchor="t">
            <a:noAutofit/>
          </a:bodyPr>
          <a:lstStyle/>
          <a:p>
            <a:pPr algn="ctr">
              <a:lnSpc>
                <a:spcPct val="104000"/>
              </a:lnSpc>
              <a:spcBef>
                <a:spcPts val="0"/>
              </a:spcBef>
              <a:spcAft>
                <a:spcPts val="0"/>
              </a:spcAft>
              <a:defRPr sz="1980" b="1" i="0">
                <a:solidFill>
                  <a:srgbClr val="124936"/>
                </a:solidFill>
                <a:latin typeface="Times New Roman" panose="02020603050405020304"/>
              </a:defRPr>
            </a:pPr>
            <a:r>
              <a:rPr sz="1980" b="1" i="0">
                <a:solidFill>
                  <a:srgbClr val="124936"/>
                </a:solidFill>
                <a:latin typeface="Times New Roman" panose="02020603050405020304"/>
              </a:rPr>
              <a:t>preview</a:t>
            </a:r>
            <a:r>
              <a:rPr lang="en-US" sz="1980" b="1" i="0">
                <a:solidFill>
                  <a:srgbClr val="124936"/>
                </a:solidFill>
                <a:latin typeface="Times New Roman" panose="02020603050405020304"/>
              </a:rPr>
              <a:t>.</a:t>
            </a:r>
            <a:r>
              <a:rPr lang="en-US" altLang="zh-CN">
                <a:sym typeface="+mn-ea"/>
              </a:rPr>
              <a:t>medlastexam.org</a:t>
            </a:r>
            <a:endParaRPr lang="en-US" altLang="zh-CN" b="1" i="0">
              <a:solidFill>
                <a:srgbClr val="124936"/>
              </a:solidFill>
              <a:latin typeface="Times New Roman" panose="02020603050405020304"/>
            </a:endParaRPr>
          </a:p>
          <a:p>
            <a:pPr algn="ctr">
              <a:lnSpc>
                <a:spcPct val="104000"/>
              </a:lnSpc>
              <a:spcBef>
                <a:spcPts val="0"/>
              </a:spcBef>
              <a:spcAft>
                <a:spcPts val="0"/>
              </a:spcAft>
              <a:defRPr sz="1980" b="1" i="0">
                <a:solidFill>
                  <a:srgbClr val="124936"/>
                </a:solidFill>
                <a:latin typeface="Times New Roman" panose="02020603050405020304"/>
              </a:defRPr>
            </a:pPr>
            <a:endParaRPr lang="en-US" sz="1980" b="1" i="0">
              <a:solidFill>
                <a:srgbClr val="124936"/>
              </a:solidFill>
              <a:latin typeface="Times New Roman" panose="02020603050405020304"/>
              <a:ea typeface="宋体" panose="02010600030101010101" pitchFamily="2" charset="-122"/>
            </a:endParaRPr>
          </a:p>
        </p:txBody>
      </p:sp>
      <p:sp>
        <p:nvSpPr>
          <p:cNvPr id="32" name="Submission URL capsule"/>
          <p:cNvSpPr/>
          <p:nvPr/>
        </p:nvSpPr>
        <p:spPr>
          <a:xfrm>
            <a:off x="10828421" y="6996471"/>
            <a:ext cx="3762602" cy="382619"/>
          </a:xfrm>
          <a:prstGeom prst="roundRect">
            <a:avLst>
              <a:gd name="adj" fmla="val 49000"/>
            </a:avLst>
          </a:prstGeom>
          <a:solidFill>
            <a:srgbClr val="F2EBDE"/>
          </a:solidFill>
          <a:ln w="10937">
            <a:solidFill>
              <a:srgbClr val="CEB9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Submission URL"/>
          <p:cNvSpPr txBox="1"/>
          <p:nvPr/>
        </p:nvSpPr>
        <p:spPr>
          <a:xfrm>
            <a:off x="10937799" y="7040199"/>
            <a:ext cx="3543846" cy="327959"/>
          </a:xfrm>
          <a:prstGeom prst="rect">
            <a:avLst/>
          </a:prstGeom>
          <a:noFill/>
          <a:effectLst/>
        </p:spPr>
        <p:txBody>
          <a:bodyPr wrap="square" lIns="0" tIns="0" rIns="0" bIns="0" anchor="t">
            <a:noAutofit/>
          </a:bodyPr>
          <a:lstStyle/>
          <a:p>
            <a:pPr algn="ctr">
              <a:lnSpc>
                <a:spcPct val="104000"/>
              </a:lnSpc>
              <a:spcBef>
                <a:spcPts val="0"/>
              </a:spcBef>
              <a:spcAft>
                <a:spcPts val="0"/>
              </a:spcAft>
              <a:defRPr sz="1980" b="1" i="0">
                <a:solidFill>
                  <a:srgbClr val="124936"/>
                </a:solidFill>
                <a:latin typeface="Times New Roman" panose="02020603050405020304"/>
              </a:defRPr>
            </a:pPr>
            <a:r>
              <a:rPr lang="en-US" altLang="zh-CN" sz="1980" b="1" i="0">
                <a:solidFill>
                  <a:srgbClr val="124936"/>
                </a:solidFill>
                <a:latin typeface="Times New Roman" panose="02020603050405020304"/>
              </a:rPr>
              <a:t>medlastexam.org</a:t>
            </a:r>
            <a:endParaRPr lang="en-US" altLang="zh-CN" sz="1980" b="1" i="0">
              <a:solidFill>
                <a:srgbClr val="124936"/>
              </a:solidFill>
              <a:latin typeface="Times New Roman" panose="02020603050405020304"/>
            </a:endParaRPr>
          </a:p>
        </p:txBody>
      </p:sp>
      <p:cxnSp>
        <p:nvCxnSpPr>
          <p:cNvPr id="34" name="Sign-in separator"/>
          <p:cNvCxnSpPr/>
          <p:nvPr/>
        </p:nvCxnSpPr>
        <p:spPr>
          <a:xfrm>
            <a:off x="14875406" y="7029267"/>
            <a:ext cx="0" cy="327960"/>
          </a:xfrm>
          <a:prstGeom prst="line">
            <a:avLst/>
          </a:prstGeom>
          <a:ln w="16406">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35" name="Authentication requirement"/>
          <p:cNvSpPr txBox="1"/>
          <p:nvPr/>
        </p:nvSpPr>
        <p:spPr>
          <a:xfrm>
            <a:off x="15148851" y="7062063"/>
            <a:ext cx="2471942" cy="317027"/>
          </a:xfrm>
          <a:prstGeom prst="rect">
            <a:avLst/>
          </a:prstGeom>
          <a:noFill/>
          <a:effectLst/>
        </p:spPr>
        <p:txBody>
          <a:bodyPr wrap="square" lIns="0" tIns="0" rIns="0" bIns="0" anchor="t">
            <a:noAutofit/>
          </a:bodyPr>
          <a:lstStyle/>
          <a:p>
            <a:pPr algn="l">
              <a:lnSpc>
                <a:spcPct val="104000"/>
              </a:lnSpc>
              <a:spcBef>
                <a:spcPts val="0"/>
              </a:spcBef>
              <a:spcAft>
                <a:spcPts val="0"/>
              </a:spcAft>
              <a:defRPr sz="1810" b="0" i="0">
                <a:solidFill>
                  <a:srgbClr val="10243C"/>
                </a:solidFill>
                <a:latin typeface="Times New Roman" panose="02020603050405020304"/>
              </a:defRPr>
            </a:pPr>
            <a:r>
              <a:rPr sz="1810" b="0" i="0">
                <a:solidFill>
                  <a:srgbClr val="10243C"/>
                </a:solidFill>
                <a:latin typeface="Times New Roman" panose="02020603050405020304"/>
              </a:rPr>
              <a:t>Sign-in required</a:t>
            </a:r>
            <a:endParaRPr sz="1810" b="0" i="0">
              <a:solidFill>
                <a:srgbClr val="10243C"/>
              </a:solidFill>
              <a:latin typeface="Times New Roman" panose="02020603050405020304"/>
            </a:endParaRPr>
          </a:p>
        </p:txBody>
      </p:sp>
      <p:sp>
        <p:nvSpPr>
          <p:cNvPr id="76" name="Public dataset band"/>
          <p:cNvSpPr/>
          <p:nvPr/>
        </p:nvSpPr>
        <p:spPr>
          <a:xfrm>
            <a:off x="415636" y="8887705"/>
            <a:ext cx="17467665" cy="688715"/>
          </a:xfrm>
          <a:prstGeom prst="roundRect">
            <a:avLst>
              <a:gd name="adj" fmla="val 10000"/>
            </a:avLst>
          </a:prstGeom>
          <a:solidFill>
            <a:srgbClr val="ECF1EB"/>
          </a:solidFill>
          <a:ln w="10937">
            <a:solidFill>
              <a:srgbClr val="81A69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77" name="Public dataset icon"/>
          <p:cNvGrpSpPr/>
          <p:nvPr/>
        </p:nvGrpSpPr>
        <p:grpSpPr>
          <a:xfrm>
            <a:off x="2989300" y="9000851"/>
            <a:ext cx="354384" cy="462423"/>
            <a:chOff x="2989300" y="9000851"/>
            <a:chExt cx="354384" cy="462423"/>
          </a:xfrm>
        </p:grpSpPr>
        <p:sp>
          <p:nvSpPr>
            <p:cNvPr id="78" name="Dataset cylinder"/>
            <p:cNvSpPr/>
            <p:nvPr/>
          </p:nvSpPr>
          <p:spPr>
            <a:xfrm>
              <a:off x="2989300" y="9000851"/>
              <a:ext cx="354384" cy="462423"/>
            </a:xfrm>
            <a:prstGeom prst="can">
              <a:avLst/>
            </a:prstGeom>
            <a:solidFill>
              <a:srgbClr val="124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Dataset curved stripe"/>
            <p:cNvSpPr/>
            <p:nvPr/>
          </p:nvSpPr>
          <p:spPr>
            <a:xfrm>
              <a:off x="3004066" y="9128755"/>
              <a:ext cx="329775" cy="54114"/>
            </a:xfrm>
            <a:custGeom>
              <a:avLst/>
              <a:gdLst/>
              <a:ahLst/>
              <a:cxnLst/>
              <a:rect l="l" t="t" r="r" b="b"/>
              <a:pathLst>
                <a:path w="329775" h="54114">
                  <a:moveTo>
                    <a:pt x="0" y="0"/>
                  </a:moveTo>
                  <a:lnTo>
                    <a:pt x="44298" y="39356"/>
                  </a:lnTo>
                  <a:lnTo>
                    <a:pt x="162426" y="54114"/>
                  </a:lnTo>
                  <a:lnTo>
                    <a:pt x="280555" y="39356"/>
                  </a:lnTo>
                  <a:lnTo>
                    <a:pt x="329775" y="0"/>
                  </a:lnTo>
                </a:path>
              </a:pathLst>
            </a:custGeom>
            <a:noFill/>
            <a:ln w="21875">
              <a:solidFill>
                <a:srgbClr val="FFFDF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Dataset curved stripe"/>
            <p:cNvSpPr/>
            <p:nvPr/>
          </p:nvSpPr>
          <p:spPr>
            <a:xfrm>
              <a:off x="3004066" y="9227143"/>
              <a:ext cx="329775" cy="54114"/>
            </a:xfrm>
            <a:custGeom>
              <a:avLst/>
              <a:gdLst/>
              <a:ahLst/>
              <a:cxnLst/>
              <a:rect l="l" t="t" r="r" b="b"/>
              <a:pathLst>
                <a:path w="329775" h="54114">
                  <a:moveTo>
                    <a:pt x="0" y="0"/>
                  </a:moveTo>
                  <a:lnTo>
                    <a:pt x="44298" y="39355"/>
                  </a:lnTo>
                  <a:lnTo>
                    <a:pt x="162426" y="54114"/>
                  </a:lnTo>
                  <a:lnTo>
                    <a:pt x="280555" y="39355"/>
                  </a:lnTo>
                  <a:lnTo>
                    <a:pt x="329775" y="0"/>
                  </a:lnTo>
                </a:path>
              </a:pathLst>
            </a:custGeom>
            <a:noFill/>
            <a:ln w="21875">
              <a:solidFill>
                <a:srgbClr val="FFFDF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Dataset curved stripe"/>
            <p:cNvSpPr/>
            <p:nvPr/>
          </p:nvSpPr>
          <p:spPr>
            <a:xfrm>
              <a:off x="3004066" y="9325531"/>
              <a:ext cx="329775" cy="54114"/>
            </a:xfrm>
            <a:custGeom>
              <a:avLst/>
              <a:gdLst/>
              <a:ahLst/>
              <a:cxnLst/>
              <a:rect l="l" t="t" r="r" b="b"/>
              <a:pathLst>
                <a:path w="329775" h="54114">
                  <a:moveTo>
                    <a:pt x="0" y="0"/>
                  </a:moveTo>
                  <a:lnTo>
                    <a:pt x="44298" y="39355"/>
                  </a:lnTo>
                  <a:lnTo>
                    <a:pt x="162426" y="54114"/>
                  </a:lnTo>
                  <a:lnTo>
                    <a:pt x="280555" y="39355"/>
                  </a:lnTo>
                  <a:lnTo>
                    <a:pt x="329775" y="0"/>
                  </a:lnTo>
                </a:path>
              </a:pathLst>
            </a:custGeom>
            <a:noFill/>
            <a:ln w="21875">
              <a:solidFill>
                <a:srgbClr val="FFFDF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cxnSp>
        <p:nvCxnSpPr>
          <p:cNvPr id="82" name="Dataset icon separator"/>
          <p:cNvCxnSpPr/>
          <p:nvPr/>
        </p:nvCxnSpPr>
        <p:spPr>
          <a:xfrm>
            <a:off x="3784478" y="8997025"/>
            <a:ext cx="0" cy="470075"/>
          </a:xfrm>
          <a:prstGeom prst="line">
            <a:avLst/>
          </a:prstGeom>
          <a:ln w="13125">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83" name="Dataset heading"/>
          <p:cNvSpPr txBox="1"/>
          <p:nvPr/>
        </p:nvSpPr>
        <p:spPr>
          <a:xfrm>
            <a:off x="4189177" y="8975161"/>
            <a:ext cx="5534526" cy="317027"/>
          </a:xfrm>
          <a:prstGeom prst="rect">
            <a:avLst/>
          </a:prstGeom>
          <a:noFill/>
          <a:effectLst/>
        </p:spPr>
        <p:txBody>
          <a:bodyPr wrap="square" lIns="0" tIns="0" rIns="0" bIns="0" anchor="t">
            <a:noAutofit/>
          </a:bodyPr>
          <a:lstStyle/>
          <a:p>
            <a:pPr algn="l">
              <a:lnSpc>
                <a:spcPct val="104000"/>
              </a:lnSpc>
              <a:spcBef>
                <a:spcPts val="0"/>
              </a:spcBef>
              <a:spcAft>
                <a:spcPts val="0"/>
              </a:spcAft>
              <a:defRPr sz="1980" b="1" i="0">
                <a:solidFill>
                  <a:srgbClr val="124936"/>
                </a:solidFill>
                <a:latin typeface="Times New Roman" panose="02020603050405020304"/>
              </a:defRPr>
            </a:pPr>
            <a:r>
              <a:rPr sz="1880" b="1" i="0">
                <a:solidFill>
                  <a:srgbClr val="124936"/>
                </a:solidFill>
                <a:latin typeface="Times New Roman" panose="02020603050405020304"/>
              </a:rPr>
              <a:t>HUGGING FACE DATASET</a:t>
            </a:r>
            <a:endParaRPr sz="1980" b="1" i="0">
              <a:solidFill>
                <a:srgbClr val="124936"/>
              </a:solidFill>
              <a:latin typeface="Times New Roman" panose="02020603050405020304"/>
            </a:endParaRPr>
          </a:p>
        </p:txBody>
      </p:sp>
      <p:sp>
        <p:nvSpPr>
          <p:cNvPr id="84" name="Dataset contents"/>
          <p:cNvSpPr txBox="1"/>
          <p:nvPr/>
        </p:nvSpPr>
        <p:spPr>
          <a:xfrm>
            <a:off x="4189177" y="9281257"/>
            <a:ext cx="5567339" cy="273299"/>
          </a:xfrm>
          <a:prstGeom prst="rect">
            <a:avLst/>
          </a:prstGeom>
          <a:noFill/>
          <a:effectLst/>
        </p:spPr>
        <p:txBody>
          <a:bodyPr wrap="square" lIns="0" tIns="0" rIns="0" bIns="0" anchor="t">
            <a:noAutofit/>
          </a:bodyPr>
          <a:lstStyle/>
          <a:p>
            <a:pPr algn="l">
              <a:lnSpc>
                <a:spcPct val="104000"/>
              </a:lnSpc>
              <a:spcBef>
                <a:spcPts val="0"/>
              </a:spcBef>
              <a:spcAft>
                <a:spcPts val="0"/>
              </a:spcAft>
              <a:defRPr sz="1720" b="0" i="0">
                <a:solidFill>
                  <a:srgbClr val="10243C"/>
                </a:solidFill>
                <a:latin typeface="Times New Roman" panose="02020603050405020304"/>
              </a:defRPr>
            </a:pPr>
            <a:r>
              <a:rPr sz="1720" b="0" i="0">
                <a:solidFill>
                  <a:srgbClr val="10243C"/>
                </a:solidFill>
                <a:latin typeface="Times New Roman" panose="02020603050405020304"/>
              </a:rPr>
              <a:t>Questions · Answers · Reasoning · Rubrics</a:t>
            </a:r>
            <a:endParaRPr sz="1720" b="0" i="0">
              <a:solidFill>
                <a:srgbClr val="10243C"/>
              </a:solidFill>
              <a:latin typeface="Times New Roman" panose="02020603050405020304"/>
            </a:endParaRPr>
          </a:p>
        </p:txBody>
      </p:sp>
      <p:cxnSp>
        <p:nvCxnSpPr>
          <p:cNvPr id="85" name="Dataset URL separator"/>
          <p:cNvCxnSpPr/>
          <p:nvPr/>
        </p:nvCxnSpPr>
        <p:spPr>
          <a:xfrm>
            <a:off x="9909645" y="8997025"/>
            <a:ext cx="0" cy="470075"/>
          </a:xfrm>
          <a:prstGeom prst="line">
            <a:avLst/>
          </a:prstGeom>
          <a:ln w="13125">
            <a:solidFill>
              <a:srgbClr val="B58F4F"/>
            </a:solidFill>
          </a:ln>
          <a:effectLst/>
        </p:spPr>
        <p:style>
          <a:lnRef idx="2">
            <a:schemeClr val="accent1"/>
          </a:lnRef>
          <a:fillRef idx="0">
            <a:schemeClr val="accent1"/>
          </a:fillRef>
          <a:effectRef idx="0">
            <a:schemeClr val="accent1"/>
          </a:effectRef>
          <a:fontRef idx="minor">
            <a:schemeClr val="tx1"/>
          </a:fontRef>
        </p:style>
      </p:cxnSp>
      <p:sp>
        <p:nvSpPr>
          <p:cNvPr id="86" name="Public dataset address">
            <a:hlinkClick r:id="rId6"/>
          </p:cNvPr>
          <p:cNvSpPr txBox="1"/>
          <p:nvPr/>
        </p:nvSpPr>
        <p:spPr>
          <a:xfrm>
            <a:off x="10533100" y="9106345"/>
            <a:ext cx="7011129" cy="349823"/>
          </a:xfrm>
          <a:prstGeom prst="rect">
            <a:avLst/>
          </a:prstGeom>
          <a:noFill/>
          <a:effectLst/>
        </p:spPr>
        <p:txBody>
          <a:bodyPr wrap="square" lIns="0" tIns="0" rIns="0" bIns="0" anchor="t">
            <a:noAutofit/>
          </a:bodyPr>
          <a:lstStyle/>
          <a:p>
            <a:pPr algn="l">
              <a:lnSpc>
                <a:spcPct val="104000"/>
              </a:lnSpc>
              <a:spcBef>
                <a:spcPts val="0"/>
              </a:spcBef>
              <a:spcAft>
                <a:spcPts val="0"/>
              </a:spcAft>
              <a:defRPr sz="1810" b="1" i="0">
                <a:solidFill>
                  <a:srgbClr val="124936"/>
                </a:solidFill>
                <a:latin typeface="Times New Roman" panose="02020603050405020304"/>
              </a:defRPr>
            </a:pPr>
            <a:r>
              <a:rPr sz="1880" b="1" i="0">
                <a:solidFill>
                  <a:srgbClr val="124936"/>
                </a:solidFill>
                <a:latin typeface="Times New Roman" panose="02020603050405020304"/>
              </a:rPr>
              <a:t>Medical-Doctors-Last-Exam/mdle</a:t>
            </a:r>
            <a:endParaRPr sz="1810" b="1" i="0">
              <a:solidFill>
                <a:srgbClr val="124936"/>
              </a:solidFill>
              <a:latin typeface="Times New Roman" panose="02020603050405020304"/>
            </a:endParaRPr>
          </a:p>
        </p:txBody>
      </p:sp>
      <p:sp>
        <p:nvSpPr>
          <p:cNvPr id="87" name="Medical expert committee banner"/>
          <p:cNvSpPr/>
          <p:nvPr/>
        </p:nvSpPr>
        <p:spPr>
          <a:xfrm>
            <a:off x="416052" y="7635240"/>
            <a:ext cx="17467783" cy="1069848"/>
          </a:xfrm>
          <a:prstGeom prst="roundRect">
            <a:avLst>
              <a:gd name="adj" fmla="val 2500"/>
            </a:avLst>
          </a:prstGeom>
          <a:solidFill>
            <a:srgbClr val="FCF9F3"/>
          </a:solidFill>
          <a:ln w="10160">
            <a:solidFill>
              <a:srgbClr val="D1BDA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Medical expert committee heading"/>
          <p:cNvSpPr txBox="1"/>
          <p:nvPr/>
        </p:nvSpPr>
        <p:spPr>
          <a:xfrm>
            <a:off x="786384" y="7827264"/>
            <a:ext cx="4983480" cy="694944"/>
          </a:xfrm>
          <a:prstGeom prst="rect">
            <a:avLst/>
          </a:prstGeom>
          <a:noFill/>
        </p:spPr>
        <p:txBody>
          <a:bodyPr wrap="square" anchor="t" lIns="0" rIns="0" tIns="0" bIns="0">
            <a:noAutofit/>
          </a:bodyPr>
          <a:lstStyle/>
          <a:p>
            <a:pPr>
              <a:lnSpc>
                <a:spcPct val="108000"/>
              </a:lnSpc>
              <a:spcBef>
                <a:spcPts val="0"/>
              </a:spcBef>
              <a:spcAft>
                <a:spcPts val="0"/>
              </a:spcAft>
            </a:pPr>
            <a:r>
              <a:rPr sz="2400" b="1">
                <a:solidFill>
                  <a:srgbClr val="355A42"/>
                </a:solidFill>
                <a:latin typeface="Georgia"/>
              </a:rPr>
              <a:t>MEDICAL EXPERT</a:t>
            </a:r>
          </a:p>
          <a:p>
            <a:pPr>
              <a:lnSpc>
                <a:spcPct val="108000"/>
              </a:lnSpc>
              <a:spcBef>
                <a:spcPts val="0"/>
              </a:spcBef>
              <a:spcAft>
                <a:spcPts val="0"/>
              </a:spcAft>
            </a:pPr>
            <a:r>
              <a:rPr sz="2400" b="1">
                <a:solidFill>
                  <a:srgbClr val="355A42"/>
                </a:solidFill>
                <a:latin typeface="Georgia"/>
              </a:rPr>
              <a:t>COMMITTEE</a:t>
            </a:r>
          </a:p>
        </p:txBody>
      </p:sp>
      <p:cxnSp>
        <p:nvCxnSpPr>
          <p:cNvPr id="89" name="Committee banner divider"/>
          <p:cNvCxnSpPr/>
          <p:nvPr/>
        </p:nvCxnSpPr>
        <p:spPr>
          <a:xfrm>
            <a:off x="5870448" y="7827264"/>
            <a:ext cx="0" cy="676656"/>
          </a:xfrm>
          <a:prstGeom prst="line">
            <a:avLst/>
          </a:prstGeom>
          <a:ln w="8890">
            <a:solidFill>
              <a:srgbClr val="D1BDA5"/>
            </a:solidFill>
          </a:ln>
        </p:spPr>
        <p:style>
          <a:lnRef idx="2">
            <a:schemeClr val="accent1"/>
          </a:lnRef>
          <a:fillRef idx="0">
            <a:schemeClr val="accent1"/>
          </a:fillRef>
          <a:effectRef idx="1">
            <a:schemeClr val="accent1"/>
          </a:effectRef>
          <a:fontRef idx="minor">
            <a:schemeClr val="tx1"/>
          </a:fontRef>
        </p:style>
      </p:cxnSp>
      <p:sp>
        <p:nvSpPr>
          <p:cNvPr id="90" name="Medical expert committee clinical review statement"/>
          <p:cNvSpPr txBox="1"/>
          <p:nvPr/>
        </p:nvSpPr>
        <p:spPr>
          <a:xfrm>
            <a:off x="6263640" y="7827264"/>
            <a:ext cx="11064240" cy="694944"/>
          </a:xfrm>
          <a:prstGeom prst="rect">
            <a:avLst/>
          </a:prstGeom>
          <a:noFill/>
        </p:spPr>
        <p:txBody>
          <a:bodyPr wrap="square" anchor="t" lIns="0" rIns="0" tIns="0" bIns="0">
            <a:noAutofit/>
          </a:bodyPr>
          <a:lstStyle/>
          <a:p>
            <a:pPr>
              <a:lnSpc>
                <a:spcPct val="108000"/>
              </a:lnSpc>
              <a:spcBef>
                <a:spcPts val="0"/>
              </a:spcBef>
              <a:spcAft>
                <a:spcPts val="0"/>
              </a:spcAft>
            </a:pPr>
            <a:r>
              <a:rPr sz="2200" b="0">
                <a:solidFill>
                  <a:srgbClr val="23201D"/>
                </a:solidFill>
                <a:latin typeface="Georgia"/>
              </a:rPr>
              <a:t>20 experts, including 15 chief physicians,</a:t>
            </a:r>
          </a:p>
          <a:p>
            <a:pPr>
              <a:lnSpc>
                <a:spcPct val="108000"/>
              </a:lnSpc>
              <a:spcBef>
                <a:spcPts val="0"/>
              </a:spcBef>
              <a:spcAft>
                <a:spcPts val="0"/>
              </a:spcAft>
            </a:pPr>
            <a:r>
              <a:rPr sz="2200" b="0">
                <a:solidFill>
                  <a:srgbClr val="23201D"/>
                </a:solidFill>
                <a:latin typeface="Georgia"/>
              </a:rPr>
              <a:t>review questions for clinical accuracy and relevance.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Background — burgundy masthead, ivory paper, and burgundy footer" descr="image.jpeg"/>
          <p:cNvPicPr>
            <a:picLocks noChangeAspect="1"/>
          </p:cNvPicPr>
          <p:nvPr/>
        </p:nvPicPr>
        <p:blipFill>
          <a:blip r:embed="rId1"/>
          <a:stretch>
            <a:fillRect/>
          </a:stretch>
        </p:blipFill>
        <p:spPr>
          <a:xfrm>
            <a:off x="0" y="0"/>
            <a:ext cx="18288000" cy="10287000"/>
          </a:xfrm>
          <a:prstGeom prst="rect">
            <a:avLst/>
          </a:prstGeom>
        </p:spPr>
      </p:pic>
      <p:sp>
        <p:nvSpPr>
          <p:cNvPr id="3" name="Title — A Broad Medical Expert Network"/>
          <p:cNvSpPr txBox="1"/>
          <p:nvPr/>
        </p:nvSpPr>
        <p:spPr>
          <a:xfrm>
            <a:off x="521207" y="219456"/>
            <a:ext cx="14356080" cy="749808"/>
          </a:xfrm>
          <a:prstGeom prst="rect">
            <a:avLst/>
          </a:prstGeom>
          <a:noFill/>
        </p:spPr>
        <p:txBody>
          <a:bodyPr wrap="square" lIns="0" tIns="0" rIns="0" bIns="0" anchor="ctr">
            <a:noAutofit/>
          </a:bodyPr>
          <a:lstStyle/>
          <a:p>
            <a:pPr algn="l">
              <a:spcBef>
                <a:spcPts val="0"/>
              </a:spcBef>
              <a:spcAft>
                <a:spcPts val="0"/>
              </a:spcAft>
            </a:pPr>
            <a:r>
              <a:rPr sz="4600" b="1" i="0">
                <a:solidFill>
                  <a:srgbClr val="FFFDF8"/>
                </a:solidFill>
                <a:latin typeface="Georgia" panose="02040502050405020303"/>
              </a:rPr>
              <a:t>A Broad Medical Expert Network</a:t>
            </a:r>
            <a:endParaRPr sz="4600" b="1" i="0">
              <a:solidFill>
                <a:srgbClr val="FFFDF8"/>
              </a:solidFill>
              <a:latin typeface="Georgia" panose="02040502050405020303"/>
            </a:endParaRPr>
          </a:p>
        </p:txBody>
      </p:sp>
      <p:sp>
        <p:nvSpPr>
          <p:cNvPr id="4" name="Subtitle — collaboration statement"/>
          <p:cNvSpPr txBox="1"/>
          <p:nvPr/>
        </p:nvSpPr>
        <p:spPr>
          <a:xfrm>
            <a:off x="521207" y="1033271"/>
            <a:ext cx="14356080" cy="457200"/>
          </a:xfrm>
          <a:prstGeom prst="rect">
            <a:avLst/>
          </a:prstGeom>
          <a:noFill/>
        </p:spPr>
        <p:txBody>
          <a:bodyPr wrap="square" lIns="0" tIns="0" rIns="0" bIns="0" anchor="t">
            <a:noAutofit/>
          </a:bodyPr>
          <a:lstStyle/>
          <a:p>
            <a:pPr algn="l">
              <a:lnSpc>
                <a:spcPts val="2500"/>
              </a:lnSpc>
              <a:spcBef>
                <a:spcPts val="0"/>
              </a:spcBef>
              <a:spcAft>
                <a:spcPts val="0"/>
              </a:spcAft>
            </a:pPr>
            <a:r>
              <a:rPr sz="2050" b="0" i="1">
                <a:solidFill>
                  <a:srgbClr val="FFFDF8"/>
                </a:solidFill>
                <a:latin typeface="Georgia" panose="02040502050405020303"/>
              </a:rPr>
              <a:t>Deep collaboration across institutions, regions, and expert communities</a:t>
            </a:r>
            <a:endParaRPr sz="2050" b="0" i="1">
              <a:solidFill>
                <a:srgbClr val="FFFDF8"/>
              </a:solidFill>
              <a:latin typeface="Georgia" panose="02040502050405020303"/>
            </a:endParaRPr>
          </a:p>
        </p:txBody>
      </p:sp>
      <p:cxnSp>
        <p:nvCxnSpPr>
          <p:cNvPr id="7" name="China heading left rule"/>
          <p:cNvCxnSpPr/>
          <p:nvPr/>
        </p:nvCxnSpPr>
        <p:spPr>
          <a:xfrm>
            <a:off x="448056" y="2130552"/>
            <a:ext cx="3300983" cy="0"/>
          </a:xfrm>
          <a:prstGeom prst="line">
            <a:avLst/>
          </a:prstGeom>
          <a:ln w="8890">
            <a:solidFill>
              <a:srgbClr val="A45755"/>
            </a:solidFill>
          </a:ln>
        </p:spPr>
        <p:style>
          <a:lnRef idx="2">
            <a:schemeClr val="accent1"/>
          </a:lnRef>
          <a:fillRef idx="0">
            <a:schemeClr val="accent1"/>
          </a:fillRef>
          <a:effectRef idx="1">
            <a:schemeClr val="accent1"/>
          </a:effectRef>
          <a:fontRef idx="minor">
            <a:schemeClr val="tx1"/>
          </a:fontRef>
        </p:style>
      </p:cxnSp>
      <p:cxnSp>
        <p:nvCxnSpPr>
          <p:cNvPr id="9" name="China heading right rule"/>
          <p:cNvCxnSpPr/>
          <p:nvPr/>
        </p:nvCxnSpPr>
        <p:spPr>
          <a:xfrm>
            <a:off x="7790688" y="2130552"/>
            <a:ext cx="3611880" cy="0"/>
          </a:xfrm>
          <a:prstGeom prst="line">
            <a:avLst/>
          </a:prstGeom>
          <a:ln w="8890">
            <a:solidFill>
              <a:srgbClr val="A45755"/>
            </a:solidFill>
          </a:ln>
        </p:spPr>
        <p:style>
          <a:lnRef idx="2">
            <a:schemeClr val="accent1"/>
          </a:lnRef>
          <a:fillRef idx="0">
            <a:schemeClr val="accent1"/>
          </a:fillRef>
          <a:effectRef idx="1">
            <a:schemeClr val="accent1"/>
          </a:effectRef>
          <a:fontRef idx="minor">
            <a:schemeClr val="tx1"/>
          </a:fontRef>
        </p:style>
      </p:cxnSp>
      <p:sp>
        <p:nvSpPr>
          <p:cNvPr id="12" name="U.S. collaboration footprint heading"/>
          <p:cNvSpPr txBox="1"/>
          <p:nvPr/>
        </p:nvSpPr>
        <p:spPr>
          <a:xfrm>
            <a:off x="3822191" y="1993392"/>
            <a:ext cx="3822191" cy="347472"/>
          </a:xfrm>
          <a:prstGeom prst="rect">
            <a:avLst/>
          </a:prstGeom>
          <a:noFill/>
        </p:spPr>
        <p:txBody>
          <a:bodyPr wrap="square" lIns="0" tIns="0" rIns="0" bIns="0" anchor="t">
            <a:spAutoFit/>
          </a:bodyPr>
          <a:lstStyle/>
          <a:p>
            <a:pPr algn="ctr">
              <a:spcBef>
                <a:spcPts val="0"/>
              </a:spcBef>
              <a:spcAft>
                <a:spcPts val="0"/>
              </a:spcAft>
            </a:pPr>
            <a:r>
              <a:rPr sz="1780" b="1" i="0">
                <a:solidFill>
                  <a:srgbClr val="173F64"/>
                </a:solidFill>
                <a:latin typeface="Georgia" panose="02040502050405020303"/>
              </a:rPr>
              <a:t>U.S. collaboration footprint</a:t>
            </a:r>
            <a:endParaRPr sz="1780" b="1" i="0">
              <a:solidFill>
                <a:srgbClr val="173F64"/>
              </a:solidFill>
              <a:latin typeface="Georgia" panose="02040502050405020303"/>
            </a:endParaRPr>
          </a:p>
        </p:txBody>
      </p:sp>
      <p:pic>
        <p:nvPicPr>
          <p:cNvPr id="13" name="U.S. collaboration map — high-resolution transparent artwork" descr="us_collaboration_map.png"/>
          <p:cNvPicPr>
            <a:picLocks noChangeAspect="1"/>
          </p:cNvPicPr>
          <p:nvPr/>
        </p:nvPicPr>
        <p:blipFill>
          <a:blip r:embed="rId2"/>
          <a:stretch>
            <a:fillRect/>
          </a:stretch>
        </p:blipFill>
        <p:spPr>
          <a:xfrm>
            <a:off x="502920" y="2514600"/>
            <a:ext cx="10972800" cy="5852160"/>
          </a:xfrm>
          <a:prstGeom prst="rect">
            <a:avLst/>
          </a:prstGeom>
        </p:spPr>
      </p:pic>
      <p:cxnSp>
        <p:nvCxnSpPr>
          <p:cNvPr id="14" name="Map and expert-community vertical divider"/>
          <p:cNvCxnSpPr/>
          <p:nvPr/>
        </p:nvCxnSpPr>
        <p:spPr>
          <a:xfrm>
            <a:off x="11804904" y="2011680"/>
            <a:ext cx="0" cy="6547104"/>
          </a:xfrm>
          <a:prstGeom prst="line">
            <a:avLst/>
          </a:prstGeom>
          <a:ln w="9906">
            <a:solidFill>
              <a:srgbClr val="B7B0A8"/>
            </a:solidFill>
          </a:ln>
        </p:spPr>
        <p:style>
          <a:lnRef idx="2">
            <a:schemeClr val="accent1"/>
          </a:lnRef>
          <a:fillRef idx="0">
            <a:schemeClr val="accent1"/>
          </a:fillRef>
          <a:effectRef idx="1">
            <a:schemeClr val="accent1"/>
          </a:effectRef>
          <a:fontRef idx="minor">
            <a:schemeClr val="tx1"/>
          </a:fontRef>
        </p:style>
      </p:cxnSp>
      <p:sp>
        <p:nvSpPr>
          <p:cNvPr id="15" name="A Large Expert Community heading"/>
          <p:cNvSpPr txBox="1"/>
          <p:nvPr/>
        </p:nvSpPr>
        <p:spPr>
          <a:xfrm>
            <a:off x="12947904" y="2084831"/>
            <a:ext cx="3621024" cy="329184"/>
          </a:xfrm>
          <a:prstGeom prst="rect">
            <a:avLst/>
          </a:prstGeom>
          <a:noFill/>
        </p:spPr>
        <p:txBody>
          <a:bodyPr wrap="square" lIns="0" tIns="0" rIns="0" bIns="0" anchor="t">
            <a:spAutoFit/>
          </a:bodyPr>
          <a:lstStyle/>
          <a:p>
            <a:pPr algn="ctr">
              <a:spcBef>
                <a:spcPts val="0"/>
              </a:spcBef>
              <a:spcAft>
                <a:spcPts val="0"/>
              </a:spcAft>
            </a:pPr>
            <a:r>
              <a:rPr sz="1900" b="1" i="0">
                <a:solidFill>
                  <a:srgbClr val="3F6B50"/>
                </a:solidFill>
                <a:latin typeface="Georgia" panose="02040502050405020303"/>
              </a:rPr>
              <a:t>A Large Expert Community</a:t>
            </a:r>
            <a:endParaRPr sz="1900" b="1" i="0">
              <a:solidFill>
                <a:srgbClr val="3F6B50"/>
              </a:solidFill>
              <a:latin typeface="Georgia" panose="02040502050405020303"/>
            </a:endParaRPr>
          </a:p>
        </p:txBody>
      </p:sp>
      <p:cxnSp>
        <p:nvCxnSpPr>
          <p:cNvPr id="16" name="Expert community heading underline"/>
          <p:cNvCxnSpPr/>
          <p:nvPr/>
        </p:nvCxnSpPr>
        <p:spPr>
          <a:xfrm>
            <a:off x="12298680" y="2487168"/>
            <a:ext cx="5257800" cy="0"/>
          </a:xfrm>
          <a:prstGeom prst="line">
            <a:avLst/>
          </a:prstGeom>
          <a:ln w="14604">
            <a:solidFill>
              <a:srgbClr val="3F6B50"/>
            </a:solidFill>
          </a:ln>
        </p:spPr>
        <p:style>
          <a:lnRef idx="2">
            <a:schemeClr val="accent1"/>
          </a:lnRef>
          <a:fillRef idx="0">
            <a:schemeClr val="accent1"/>
          </a:fillRef>
          <a:effectRef idx="1">
            <a:schemeClr val="accent1"/>
          </a:effectRef>
          <a:fontRef idx="minor">
            <a:schemeClr val="tx1"/>
          </a:fontRef>
        </p:style>
      </p:cxnSp>
      <p:pic>
        <p:nvPicPr>
          <p:cNvPr id="17" name="Icon — graduation cap" descr="Embedded SVG vector with 768 px transparent PNG fallback"/>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728448" y="2816352"/>
            <a:ext cx="859536" cy="713232"/>
          </a:xfrm>
          <a:prstGeom prst="rect">
            <a:avLst/>
          </a:prstGeom>
        </p:spPr>
      </p:pic>
      <p:cxnSp>
        <p:nvCxnSpPr>
          <p:cNvPr id="18" name="PhD stat divider"/>
          <p:cNvCxnSpPr/>
          <p:nvPr/>
        </p:nvCxnSpPr>
        <p:spPr>
          <a:xfrm>
            <a:off x="13944600" y="2825496"/>
            <a:ext cx="0" cy="777240"/>
          </a:xfrm>
          <a:prstGeom prst="line">
            <a:avLst/>
          </a:prstGeom>
          <a:ln w="9144">
            <a:solidFill>
              <a:srgbClr val="B7B0A8"/>
            </a:solidFill>
          </a:ln>
        </p:spPr>
        <p:style>
          <a:lnRef idx="2">
            <a:schemeClr val="accent1"/>
          </a:lnRef>
          <a:fillRef idx="0">
            <a:schemeClr val="accent1"/>
          </a:fillRef>
          <a:effectRef idx="1">
            <a:schemeClr val="accent1"/>
          </a:effectRef>
          <a:fontRef idx="minor">
            <a:schemeClr val="tx1"/>
          </a:fontRef>
        </p:style>
      </p:cxnSp>
      <p:sp>
        <p:nvSpPr>
          <p:cNvPr id="19" name="PhD student count"/>
          <p:cNvSpPr txBox="1"/>
          <p:nvPr/>
        </p:nvSpPr>
        <p:spPr>
          <a:xfrm>
            <a:off x="14420088" y="2688336"/>
            <a:ext cx="2331720" cy="612648"/>
          </a:xfrm>
          <a:prstGeom prst="rect">
            <a:avLst/>
          </a:prstGeom>
          <a:noFill/>
        </p:spPr>
        <p:txBody>
          <a:bodyPr wrap="square" lIns="0" tIns="0" rIns="0" bIns="0" anchor="t">
            <a:spAutoFit/>
          </a:bodyPr>
          <a:lstStyle/>
          <a:p>
            <a:pPr algn="l">
              <a:spcBef>
                <a:spcPts val="0"/>
              </a:spcBef>
              <a:spcAft>
                <a:spcPts val="0"/>
              </a:spcAft>
            </a:pPr>
            <a:r>
              <a:rPr sz="4350" b="1" i="0" dirty="0">
                <a:solidFill>
                  <a:srgbClr val="842426"/>
                </a:solidFill>
                <a:latin typeface="Georgia" panose="02040502050405020303"/>
              </a:rPr>
              <a:t>300+</a:t>
            </a:r>
            <a:endParaRPr sz="4350" b="1" i="0" dirty="0">
              <a:solidFill>
                <a:srgbClr val="842426"/>
              </a:solidFill>
              <a:latin typeface="Georgia" panose="02040502050405020303"/>
            </a:endParaRPr>
          </a:p>
        </p:txBody>
      </p:sp>
      <p:sp>
        <p:nvSpPr>
          <p:cNvPr id="20" name="PhD student label"/>
          <p:cNvSpPr txBox="1"/>
          <p:nvPr/>
        </p:nvSpPr>
        <p:spPr>
          <a:xfrm>
            <a:off x="14438376" y="3364992"/>
            <a:ext cx="2423160" cy="320040"/>
          </a:xfrm>
          <a:prstGeom prst="rect">
            <a:avLst/>
          </a:prstGeom>
          <a:noFill/>
        </p:spPr>
        <p:txBody>
          <a:bodyPr wrap="square" lIns="0" tIns="0" rIns="0" bIns="0" anchor="t">
            <a:spAutoFit/>
          </a:bodyPr>
          <a:lstStyle/>
          <a:p>
            <a:pPr algn="l">
              <a:spcBef>
                <a:spcPts val="0"/>
              </a:spcBef>
              <a:spcAft>
                <a:spcPts val="0"/>
              </a:spcAft>
            </a:pPr>
            <a:r>
              <a:rPr sz="2050" b="0" i="0">
                <a:solidFill>
                  <a:srgbClr val="191516"/>
                </a:solidFill>
                <a:latin typeface="Georgia" panose="02040502050405020303"/>
              </a:rPr>
              <a:t>PhD students</a:t>
            </a:r>
            <a:endParaRPr sz="2050" b="0" i="0">
              <a:solidFill>
                <a:srgbClr val="191516"/>
              </a:solidFill>
              <a:latin typeface="Georgia" panose="02040502050405020303"/>
            </a:endParaRPr>
          </a:p>
        </p:txBody>
      </p:sp>
      <p:cxnSp>
        <p:nvCxnSpPr>
          <p:cNvPr id="21" name="PhD row bottom rule"/>
          <p:cNvCxnSpPr/>
          <p:nvPr/>
        </p:nvCxnSpPr>
        <p:spPr>
          <a:xfrm>
            <a:off x="12399264" y="3822191"/>
            <a:ext cx="4956048" cy="0"/>
          </a:xfrm>
          <a:prstGeom prst="line">
            <a:avLst/>
          </a:prstGeom>
          <a:ln w="7365">
            <a:solidFill>
              <a:srgbClr val="D0CAC3"/>
            </a:solidFill>
          </a:ln>
        </p:spPr>
        <p:style>
          <a:lnRef idx="2">
            <a:schemeClr val="accent1"/>
          </a:lnRef>
          <a:fillRef idx="0">
            <a:schemeClr val="accent1"/>
          </a:fillRef>
          <a:effectRef idx="1">
            <a:schemeClr val="accent1"/>
          </a:effectRef>
          <a:fontRef idx="minor">
            <a:schemeClr val="tx1"/>
          </a:fontRef>
        </p:style>
      </p:cxnSp>
      <p:pic>
        <p:nvPicPr>
          <p:cNvPr id="22" name="Icon — stethoscope" descr="Embedded SVG vector with 768 px transparent PNG fallback"/>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83312" y="4087368"/>
            <a:ext cx="758952" cy="713232"/>
          </a:xfrm>
          <a:prstGeom prst="rect">
            <a:avLst/>
          </a:prstGeom>
        </p:spPr>
      </p:pic>
      <p:cxnSp>
        <p:nvCxnSpPr>
          <p:cNvPr id="23" name="Medical expert stat divider"/>
          <p:cNvCxnSpPr/>
          <p:nvPr/>
        </p:nvCxnSpPr>
        <p:spPr>
          <a:xfrm>
            <a:off x="13944600" y="4105656"/>
            <a:ext cx="0" cy="731520"/>
          </a:xfrm>
          <a:prstGeom prst="line">
            <a:avLst/>
          </a:prstGeom>
          <a:ln w="9144">
            <a:solidFill>
              <a:srgbClr val="B7B0A8"/>
            </a:solidFill>
          </a:ln>
        </p:spPr>
        <p:style>
          <a:lnRef idx="2">
            <a:schemeClr val="accent1"/>
          </a:lnRef>
          <a:fillRef idx="0">
            <a:schemeClr val="accent1"/>
          </a:fillRef>
          <a:effectRef idx="1">
            <a:schemeClr val="accent1"/>
          </a:effectRef>
          <a:fontRef idx="minor">
            <a:schemeClr val="tx1"/>
          </a:fontRef>
        </p:style>
      </p:cxnSp>
      <p:sp>
        <p:nvSpPr>
          <p:cNvPr id="24" name="Medical expert count"/>
          <p:cNvSpPr txBox="1"/>
          <p:nvPr/>
        </p:nvSpPr>
        <p:spPr>
          <a:xfrm>
            <a:off x="14429232" y="4041648"/>
            <a:ext cx="2258568" cy="612648"/>
          </a:xfrm>
          <a:prstGeom prst="rect">
            <a:avLst/>
          </a:prstGeom>
          <a:noFill/>
        </p:spPr>
        <p:txBody>
          <a:bodyPr wrap="square" lIns="0" tIns="0" rIns="0" bIns="0" anchor="t">
            <a:spAutoFit/>
          </a:bodyPr>
          <a:lstStyle/>
          <a:p>
            <a:pPr algn="l">
              <a:spcBef>
                <a:spcPts val="0"/>
              </a:spcBef>
              <a:spcAft>
                <a:spcPts val="0"/>
              </a:spcAft>
            </a:pPr>
            <a:r>
              <a:rPr sz="4150" b="1" i="0" dirty="0">
                <a:solidFill>
                  <a:srgbClr val="3F6B50"/>
                </a:solidFill>
                <a:latin typeface="Georgia" panose="02040502050405020303"/>
              </a:rPr>
              <a:t>200+</a:t>
            </a:r>
            <a:endParaRPr sz="4150" b="1" i="0" dirty="0">
              <a:solidFill>
                <a:srgbClr val="3F6B50"/>
              </a:solidFill>
              <a:latin typeface="Georgia" panose="02040502050405020303"/>
            </a:endParaRPr>
          </a:p>
        </p:txBody>
      </p:sp>
      <p:sp>
        <p:nvSpPr>
          <p:cNvPr id="25" name="Medical expert label"/>
          <p:cNvSpPr txBox="1"/>
          <p:nvPr/>
        </p:nvSpPr>
        <p:spPr>
          <a:xfrm>
            <a:off x="14438376" y="4663440"/>
            <a:ext cx="2487168" cy="338328"/>
          </a:xfrm>
          <a:prstGeom prst="rect">
            <a:avLst/>
          </a:prstGeom>
          <a:noFill/>
        </p:spPr>
        <p:txBody>
          <a:bodyPr wrap="square" lIns="0" tIns="0" rIns="0" bIns="0" anchor="t">
            <a:spAutoFit/>
          </a:bodyPr>
          <a:lstStyle/>
          <a:p>
            <a:pPr algn="l">
              <a:spcBef>
                <a:spcPts val="0"/>
              </a:spcBef>
              <a:spcAft>
                <a:spcPts val="0"/>
              </a:spcAft>
            </a:pPr>
            <a:r>
              <a:rPr sz="2000" b="0" i="0">
                <a:solidFill>
                  <a:srgbClr val="191516"/>
                </a:solidFill>
                <a:latin typeface="Georgia" panose="02040502050405020303"/>
              </a:rPr>
              <a:t>medical experts</a:t>
            </a:r>
            <a:endParaRPr sz="2000" b="0" i="0">
              <a:solidFill>
                <a:srgbClr val="191516"/>
              </a:solidFill>
              <a:latin typeface="Georgia" panose="02040502050405020303"/>
            </a:endParaRPr>
          </a:p>
        </p:txBody>
      </p:sp>
      <p:sp>
        <p:nvSpPr>
          <p:cNvPr id="26" name="Reviewer statement prefix"/>
          <p:cNvSpPr txBox="1"/>
          <p:nvPr/>
        </p:nvSpPr>
        <p:spPr>
          <a:xfrm>
            <a:off x="12527280" y="5184648"/>
            <a:ext cx="886968" cy="256032"/>
          </a:xfrm>
          <a:prstGeom prst="rect">
            <a:avLst/>
          </a:prstGeom>
          <a:noFill/>
        </p:spPr>
        <p:txBody>
          <a:bodyPr wrap="square" lIns="0" tIns="0" rIns="0" bIns="0" anchor="t">
            <a:spAutoFit/>
          </a:bodyPr>
          <a:lstStyle/>
          <a:p>
            <a:pPr algn="l">
              <a:spcBef>
                <a:spcPts val="0"/>
              </a:spcBef>
              <a:spcAft>
                <a:spcPts val="0"/>
              </a:spcAft>
            </a:pPr>
            <a:r>
              <a:rPr sz="1580" b="0" i="0">
                <a:solidFill>
                  <a:srgbClr val="191516"/>
                </a:solidFill>
                <a:latin typeface="Georgia" panose="02040502050405020303"/>
              </a:rPr>
              <a:t>Including</a:t>
            </a:r>
            <a:endParaRPr sz="1580" b="0" i="0">
              <a:solidFill>
                <a:srgbClr val="191516"/>
              </a:solidFill>
              <a:latin typeface="Georgia" panose="02040502050405020303"/>
            </a:endParaRPr>
          </a:p>
        </p:txBody>
      </p:sp>
      <p:sp>
        <p:nvSpPr>
          <p:cNvPr id="27" name="Reviewer statement emphasis"/>
          <p:cNvSpPr txBox="1"/>
          <p:nvPr/>
        </p:nvSpPr>
        <p:spPr>
          <a:xfrm>
            <a:off x="13414248" y="5184648"/>
            <a:ext cx="3694176" cy="256032"/>
          </a:xfrm>
          <a:prstGeom prst="rect">
            <a:avLst/>
          </a:prstGeom>
          <a:noFill/>
        </p:spPr>
        <p:txBody>
          <a:bodyPr wrap="square" lIns="0" tIns="0" rIns="0" bIns="0" anchor="t">
            <a:spAutoFit/>
          </a:bodyPr>
          <a:lstStyle/>
          <a:p>
            <a:pPr algn="l">
              <a:spcBef>
                <a:spcPts val="0"/>
              </a:spcBef>
              <a:spcAft>
                <a:spcPts val="0"/>
              </a:spcAft>
            </a:pPr>
            <a:r>
              <a:rPr sz="1580" b="1" i="0">
                <a:solidFill>
                  <a:srgbClr val="842426"/>
                </a:solidFill>
                <a:latin typeface="Georgia" panose="02040502050405020303"/>
              </a:rPr>
              <a:t>200+ medically trained reviewers</a:t>
            </a:r>
            <a:endParaRPr sz="1580" b="1" i="0">
              <a:solidFill>
                <a:srgbClr val="842426"/>
              </a:solidFill>
              <a:latin typeface="Georgia" panose="02040502050405020303"/>
            </a:endParaRPr>
          </a:p>
        </p:txBody>
      </p:sp>
      <p:sp>
        <p:nvSpPr>
          <p:cNvPr id="28" name="Reviewer statement continuation"/>
          <p:cNvSpPr txBox="1"/>
          <p:nvPr/>
        </p:nvSpPr>
        <p:spPr>
          <a:xfrm>
            <a:off x="12527280" y="5449824"/>
            <a:ext cx="4434840" cy="256032"/>
          </a:xfrm>
          <a:prstGeom prst="rect">
            <a:avLst/>
          </a:prstGeom>
          <a:noFill/>
        </p:spPr>
        <p:txBody>
          <a:bodyPr wrap="square" lIns="0" tIns="0" rIns="0" bIns="0" anchor="t">
            <a:spAutoFit/>
          </a:bodyPr>
          <a:lstStyle/>
          <a:p>
            <a:pPr algn="l">
              <a:spcBef>
                <a:spcPts val="0"/>
              </a:spcBef>
              <a:spcAft>
                <a:spcPts val="0"/>
              </a:spcAft>
            </a:pPr>
            <a:r>
              <a:rPr sz="1580" b="0" i="0">
                <a:solidFill>
                  <a:srgbClr val="191516"/>
                </a:solidFill>
                <a:latin typeface="Georgia" panose="02040502050405020303"/>
              </a:rPr>
              <a:t>who audit benchmark questions.</a:t>
            </a:r>
            <a:endParaRPr sz="1580" b="0" i="0">
              <a:solidFill>
                <a:srgbClr val="191516"/>
              </a:solidFill>
              <a:latin typeface="Georgia" panose="02040502050405020303"/>
            </a:endParaRPr>
          </a:p>
        </p:txBody>
      </p:sp>
      <p:pic>
        <p:nvPicPr>
          <p:cNvPr id="29" name="Icon — expert review clipboard" descr="Embedded SVG vector with 768 px transparent PNG fallback"/>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554712" y="5980176"/>
            <a:ext cx="502920" cy="539496"/>
          </a:xfrm>
          <a:prstGeom prst="rect">
            <a:avLst/>
          </a:prstGeom>
        </p:spPr>
      </p:pic>
      <p:cxnSp>
        <p:nvCxnSpPr>
          <p:cNvPr id="30" name="Expert-review feature divider"/>
          <p:cNvCxnSpPr/>
          <p:nvPr/>
        </p:nvCxnSpPr>
        <p:spPr>
          <a:xfrm>
            <a:off x="13359384" y="6007608"/>
            <a:ext cx="0" cy="557784"/>
          </a:xfrm>
          <a:prstGeom prst="line">
            <a:avLst/>
          </a:prstGeom>
          <a:ln w="8636">
            <a:solidFill>
              <a:srgbClr val="B7B0A8"/>
            </a:solidFill>
          </a:ln>
        </p:spPr>
        <p:style>
          <a:lnRef idx="2">
            <a:schemeClr val="accent1"/>
          </a:lnRef>
          <a:fillRef idx="0">
            <a:schemeClr val="accent1"/>
          </a:fillRef>
          <a:effectRef idx="1">
            <a:schemeClr val="accent1"/>
          </a:effectRef>
          <a:fontRef idx="minor">
            <a:schemeClr val="tx1"/>
          </a:fontRef>
        </p:style>
      </p:cxnSp>
      <p:sp>
        <p:nvSpPr>
          <p:cNvPr id="31" name="Expert-review feature text"/>
          <p:cNvSpPr txBox="1"/>
          <p:nvPr/>
        </p:nvSpPr>
        <p:spPr>
          <a:xfrm>
            <a:off x="13642848" y="5980176"/>
            <a:ext cx="3593592" cy="676656"/>
          </a:xfrm>
          <a:prstGeom prst="rect">
            <a:avLst/>
          </a:prstGeom>
          <a:noFill/>
        </p:spPr>
        <p:txBody>
          <a:bodyPr wrap="square" lIns="0" tIns="0" rIns="0" bIns="0" anchor="t">
            <a:spAutoFit/>
          </a:bodyPr>
          <a:lstStyle/>
          <a:p>
            <a:pPr algn="l">
              <a:lnSpc>
                <a:spcPts val="1700"/>
              </a:lnSpc>
              <a:spcBef>
                <a:spcPts val="0"/>
              </a:spcBef>
              <a:spcAft>
                <a:spcPts val="0"/>
              </a:spcAft>
            </a:pPr>
            <a:r>
              <a:rPr sz="1480" b="0" i="0">
                <a:solidFill>
                  <a:srgbClr val="191516"/>
                </a:solidFill>
                <a:latin typeface="Georgia" panose="02040502050405020303"/>
              </a:rPr>
              <a:t>Experts review, audit, and refine</a:t>
            </a:r>
            <a:br>
              <a:rPr sz="1480" b="0" i="0">
                <a:solidFill>
                  <a:srgbClr val="191516"/>
                </a:solidFill>
                <a:latin typeface="Georgia" panose="02040502050405020303"/>
              </a:rPr>
            </a:br>
            <a:r>
              <a:rPr sz="1480" b="0" i="0">
                <a:solidFill>
                  <a:srgbClr val="191516"/>
                </a:solidFill>
                <a:latin typeface="Georgia" panose="02040502050405020303"/>
              </a:rPr>
              <a:t>benchmark questions for quality,</a:t>
            </a:r>
            <a:br>
              <a:rPr sz="1480" b="0" i="0">
                <a:solidFill>
                  <a:srgbClr val="191516"/>
                </a:solidFill>
                <a:latin typeface="Georgia" panose="02040502050405020303"/>
              </a:rPr>
            </a:br>
            <a:r>
              <a:rPr sz="1480" b="0" i="0">
                <a:solidFill>
                  <a:srgbClr val="191516"/>
                </a:solidFill>
                <a:latin typeface="Georgia" panose="02040502050405020303"/>
              </a:rPr>
              <a:t>accuracy, and clinical relevance.</a:t>
            </a:r>
            <a:endParaRPr sz="1480" b="0" i="0">
              <a:solidFill>
                <a:srgbClr val="191516"/>
              </a:solidFill>
              <a:latin typeface="Georgia" panose="02040502050405020303"/>
            </a:endParaRPr>
          </a:p>
        </p:txBody>
      </p:sp>
      <p:cxnSp>
        <p:nvCxnSpPr>
          <p:cNvPr id="32" name="Feature rows separator"/>
          <p:cNvCxnSpPr/>
          <p:nvPr/>
        </p:nvCxnSpPr>
        <p:spPr>
          <a:xfrm>
            <a:off x="12390120" y="6821424"/>
            <a:ext cx="4965192" cy="0"/>
          </a:xfrm>
          <a:prstGeom prst="line">
            <a:avLst/>
          </a:prstGeom>
          <a:ln w="7365">
            <a:solidFill>
              <a:srgbClr val="D0CAC3"/>
            </a:solidFill>
          </a:ln>
        </p:spPr>
        <p:style>
          <a:lnRef idx="2">
            <a:schemeClr val="accent1"/>
          </a:lnRef>
          <a:fillRef idx="0">
            <a:schemeClr val="accent1"/>
          </a:fillRef>
          <a:effectRef idx="1">
            <a:schemeClr val="accent1"/>
          </a:effectRef>
          <a:fontRef idx="minor">
            <a:schemeClr val="tx1"/>
          </a:fontRef>
        </p:style>
      </p:cxnSp>
      <p:pic>
        <p:nvPicPr>
          <p:cNvPr id="33" name="Icon — multidisciplinary community" descr="Embedded SVG vector with 768 px transparent PNG fallback"/>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527280" y="7059168"/>
            <a:ext cx="566928" cy="557784"/>
          </a:xfrm>
          <a:prstGeom prst="rect">
            <a:avLst/>
          </a:prstGeom>
        </p:spPr>
      </p:pic>
      <p:cxnSp>
        <p:nvCxnSpPr>
          <p:cNvPr id="34" name="Multidisciplinary feature divider"/>
          <p:cNvCxnSpPr/>
          <p:nvPr/>
        </p:nvCxnSpPr>
        <p:spPr>
          <a:xfrm>
            <a:off x="13359384" y="7077456"/>
            <a:ext cx="0" cy="548640"/>
          </a:xfrm>
          <a:prstGeom prst="line">
            <a:avLst/>
          </a:prstGeom>
          <a:ln w="8636">
            <a:solidFill>
              <a:srgbClr val="B7B0A8"/>
            </a:solidFill>
          </a:ln>
        </p:spPr>
        <p:style>
          <a:lnRef idx="2">
            <a:schemeClr val="accent1"/>
          </a:lnRef>
          <a:fillRef idx="0">
            <a:schemeClr val="accent1"/>
          </a:fillRef>
          <a:effectRef idx="1">
            <a:schemeClr val="accent1"/>
          </a:effectRef>
          <a:fontRef idx="minor">
            <a:schemeClr val="tx1"/>
          </a:fontRef>
        </p:style>
      </p:cxnSp>
      <p:sp>
        <p:nvSpPr>
          <p:cNvPr id="35" name="Multidisciplinary feature text"/>
          <p:cNvSpPr txBox="1"/>
          <p:nvPr/>
        </p:nvSpPr>
        <p:spPr>
          <a:xfrm>
            <a:off x="13642848" y="7040880"/>
            <a:ext cx="3657600" cy="658368"/>
          </a:xfrm>
          <a:prstGeom prst="rect">
            <a:avLst/>
          </a:prstGeom>
          <a:noFill/>
        </p:spPr>
        <p:txBody>
          <a:bodyPr wrap="square" lIns="0" tIns="0" rIns="0" bIns="0" anchor="t">
            <a:spAutoFit/>
          </a:bodyPr>
          <a:lstStyle/>
          <a:p>
            <a:pPr algn="l">
              <a:lnSpc>
                <a:spcPts val="1680"/>
              </a:lnSpc>
              <a:spcBef>
                <a:spcPts val="0"/>
              </a:spcBef>
              <a:spcAft>
                <a:spcPts val="0"/>
              </a:spcAft>
            </a:pPr>
            <a:r>
              <a:rPr sz="1460" b="0" i="0">
                <a:solidFill>
                  <a:srgbClr val="191516"/>
                </a:solidFill>
                <a:latin typeface="Georgia" panose="02040502050405020303"/>
              </a:rPr>
              <a:t>Large multidisciplinary participation</a:t>
            </a:r>
            <a:br>
              <a:rPr sz="1460" b="0" i="0">
                <a:solidFill>
                  <a:srgbClr val="191516"/>
                </a:solidFill>
                <a:latin typeface="Georgia" panose="02040502050405020303"/>
              </a:rPr>
            </a:br>
            <a:r>
              <a:rPr sz="1460" b="0" i="0">
                <a:solidFill>
                  <a:srgbClr val="191516"/>
                </a:solidFill>
                <a:latin typeface="Georgia" panose="02040502050405020303"/>
              </a:rPr>
              <a:t>across hospitals, universities, and</a:t>
            </a:r>
            <a:br>
              <a:rPr sz="1460" b="0" i="0">
                <a:solidFill>
                  <a:srgbClr val="191516"/>
                </a:solidFill>
                <a:latin typeface="Georgia" panose="02040502050405020303"/>
              </a:rPr>
            </a:br>
            <a:r>
              <a:rPr sz="1460" b="0" i="0">
                <a:solidFill>
                  <a:srgbClr val="191516"/>
                </a:solidFill>
                <a:latin typeface="Georgia" panose="02040502050405020303"/>
              </a:rPr>
              <a:t>research groups.</a:t>
            </a:r>
            <a:endParaRPr sz="1460" b="0" i="0">
              <a:solidFill>
                <a:srgbClr val="191516"/>
              </a:solidFill>
              <a:latin typeface="Georgia" panose="02040502050405020303"/>
            </a:endParaRPr>
          </a:p>
        </p:txBody>
      </p:sp>
      <p:sp>
        <p:nvSpPr>
          <p:cNvPr id="36" name="Institutional coverage callout"/>
          <p:cNvSpPr/>
          <p:nvPr/>
        </p:nvSpPr>
        <p:spPr>
          <a:xfrm>
            <a:off x="12298680" y="7845552"/>
            <a:ext cx="5257800" cy="786384"/>
          </a:xfrm>
          <a:prstGeom prst="roundRect">
            <a:avLst>
              <a:gd name="adj" fmla="val 11000"/>
            </a:avLst>
          </a:prstGeom>
          <a:noFill/>
          <a:ln w="10795">
            <a:solidFill>
              <a:srgbClr val="842426"/>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nstitutional coverage icon ring"/>
          <p:cNvSpPr/>
          <p:nvPr/>
        </p:nvSpPr>
        <p:spPr>
          <a:xfrm>
            <a:off x="12591288" y="7909560"/>
            <a:ext cx="640080" cy="640080"/>
          </a:xfrm>
          <a:prstGeom prst="ellipse">
            <a:avLst/>
          </a:prstGeom>
          <a:noFill/>
          <a:ln w="9906">
            <a:solidFill>
              <a:srgbClr val="842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Icon — institutional coverage" descr="Embedded SVG vector with 768 px transparent PNG fallback"/>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710160" y="8028431"/>
            <a:ext cx="402336" cy="402336"/>
          </a:xfrm>
          <a:prstGeom prst="rect">
            <a:avLst/>
          </a:prstGeom>
        </p:spPr>
      </p:pic>
      <p:sp>
        <p:nvSpPr>
          <p:cNvPr id="39" name="Institutional coverage callout title"/>
          <p:cNvSpPr txBox="1"/>
          <p:nvPr/>
        </p:nvSpPr>
        <p:spPr>
          <a:xfrm>
            <a:off x="13450824" y="7973568"/>
            <a:ext cx="3639312" cy="246888"/>
          </a:xfrm>
          <a:prstGeom prst="rect">
            <a:avLst/>
          </a:prstGeom>
          <a:noFill/>
        </p:spPr>
        <p:txBody>
          <a:bodyPr wrap="square" lIns="0" tIns="0" rIns="0" bIns="0" anchor="t">
            <a:spAutoFit/>
          </a:bodyPr>
          <a:lstStyle/>
          <a:p>
            <a:pPr algn="l">
              <a:spcBef>
                <a:spcPts val="0"/>
              </a:spcBef>
              <a:spcAft>
                <a:spcPts val="0"/>
              </a:spcAft>
            </a:pPr>
            <a:r>
              <a:rPr sz="1570" b="1" i="0">
                <a:solidFill>
                  <a:srgbClr val="842426"/>
                </a:solidFill>
                <a:latin typeface="Georgia" panose="02040502050405020303"/>
              </a:rPr>
              <a:t>Extensive institutional coverage</a:t>
            </a:r>
            <a:endParaRPr sz="1570" b="1" i="0">
              <a:solidFill>
                <a:srgbClr val="842426"/>
              </a:solidFill>
              <a:latin typeface="Georgia" panose="02040502050405020303"/>
            </a:endParaRPr>
          </a:p>
        </p:txBody>
      </p:sp>
      <p:sp>
        <p:nvSpPr>
          <p:cNvPr id="40" name="Institutional coverage callout subtitle"/>
          <p:cNvSpPr txBox="1"/>
          <p:nvPr/>
        </p:nvSpPr>
        <p:spPr>
          <a:xfrm>
            <a:off x="13450824" y="8266175"/>
            <a:ext cx="3584448" cy="219456"/>
          </a:xfrm>
          <a:prstGeom prst="rect">
            <a:avLst/>
          </a:prstGeom>
          <a:noFill/>
        </p:spPr>
        <p:txBody>
          <a:bodyPr wrap="square" lIns="0" tIns="0" rIns="0" bIns="0" anchor="t">
            <a:spAutoFit/>
          </a:bodyPr>
          <a:lstStyle/>
          <a:p>
            <a:pPr algn="l">
              <a:spcBef>
                <a:spcPts val="0"/>
              </a:spcBef>
              <a:spcAft>
                <a:spcPts val="0"/>
              </a:spcAft>
            </a:pPr>
            <a:r>
              <a:rPr sz="1300" b="0" i="1">
                <a:solidFill>
                  <a:srgbClr val="191516"/>
                </a:solidFill>
                <a:latin typeface="Georgia" panose="02040502050405020303"/>
              </a:rPr>
              <a:t>Nationwide clinical collaboration</a:t>
            </a:r>
            <a:endParaRPr sz="1300" b="0" i="1">
              <a:solidFill>
                <a:srgbClr val="191516"/>
              </a:solidFill>
              <a:latin typeface="Georgia" panose="02040502050405020303"/>
            </a:endParaRPr>
          </a:p>
        </p:txBody>
      </p:sp>
      <p:cxnSp>
        <p:nvCxnSpPr>
          <p:cNvPr id="41" name="Bottom legend top rule"/>
          <p:cNvCxnSpPr/>
          <p:nvPr/>
        </p:nvCxnSpPr>
        <p:spPr>
          <a:xfrm>
            <a:off x="475488" y="8741664"/>
            <a:ext cx="17309592" cy="0"/>
          </a:xfrm>
          <a:prstGeom prst="line">
            <a:avLst/>
          </a:prstGeom>
          <a:ln w="9144">
            <a:solidFill>
              <a:srgbClr val="B7B0A8"/>
            </a:solidFill>
          </a:ln>
        </p:spPr>
        <p:style>
          <a:lnRef idx="2">
            <a:schemeClr val="accent1"/>
          </a:lnRef>
          <a:fillRef idx="0">
            <a:schemeClr val="accent1"/>
          </a:fillRef>
          <a:effectRef idx="1">
            <a:schemeClr val="accent1"/>
          </a:effectRef>
          <a:fontRef idx="minor">
            <a:schemeClr val="tx1"/>
          </a:fontRef>
        </p:style>
      </p:cxnSp>
      <p:cxnSp>
        <p:nvCxnSpPr>
          <p:cNvPr id="42" name="Legend separator 1"/>
          <p:cNvCxnSpPr/>
          <p:nvPr/>
        </p:nvCxnSpPr>
        <p:spPr>
          <a:xfrm>
            <a:off x="4636008" y="9015984"/>
            <a:ext cx="0" cy="521208"/>
          </a:xfrm>
          <a:prstGeom prst="line">
            <a:avLst/>
          </a:prstGeom>
          <a:ln w="7874">
            <a:solidFill>
              <a:srgbClr val="B7B0A8"/>
            </a:solidFill>
          </a:ln>
        </p:spPr>
        <p:style>
          <a:lnRef idx="2">
            <a:schemeClr val="accent1"/>
          </a:lnRef>
          <a:fillRef idx="0">
            <a:schemeClr val="accent1"/>
          </a:fillRef>
          <a:effectRef idx="1">
            <a:schemeClr val="accent1"/>
          </a:effectRef>
          <a:fontRef idx="minor">
            <a:schemeClr val="tx1"/>
          </a:fontRef>
        </p:style>
      </p:cxnSp>
      <p:cxnSp>
        <p:nvCxnSpPr>
          <p:cNvPr id="43" name="Legend separator 2"/>
          <p:cNvCxnSpPr/>
          <p:nvPr/>
        </p:nvCxnSpPr>
        <p:spPr>
          <a:xfrm>
            <a:off x="8979408" y="9015984"/>
            <a:ext cx="0" cy="521208"/>
          </a:xfrm>
          <a:prstGeom prst="line">
            <a:avLst/>
          </a:prstGeom>
          <a:ln w="7874">
            <a:solidFill>
              <a:srgbClr val="B7B0A8"/>
            </a:solidFill>
          </a:ln>
        </p:spPr>
        <p:style>
          <a:lnRef idx="2">
            <a:schemeClr val="accent1"/>
          </a:lnRef>
          <a:fillRef idx="0">
            <a:schemeClr val="accent1"/>
          </a:fillRef>
          <a:effectRef idx="1">
            <a:schemeClr val="accent1"/>
          </a:effectRef>
          <a:fontRef idx="minor">
            <a:schemeClr val="tx1"/>
          </a:fontRef>
        </p:style>
      </p:cxnSp>
      <p:cxnSp>
        <p:nvCxnSpPr>
          <p:cNvPr id="44" name="Legend separator 3"/>
          <p:cNvCxnSpPr/>
          <p:nvPr/>
        </p:nvCxnSpPr>
        <p:spPr>
          <a:xfrm>
            <a:off x="13048488" y="9015984"/>
            <a:ext cx="0" cy="521208"/>
          </a:xfrm>
          <a:prstGeom prst="line">
            <a:avLst/>
          </a:prstGeom>
          <a:ln w="7874">
            <a:solidFill>
              <a:srgbClr val="B7B0A8"/>
            </a:solidFill>
          </a:ln>
        </p:spPr>
        <p:style>
          <a:lnRef idx="2">
            <a:schemeClr val="accent1"/>
          </a:lnRef>
          <a:fillRef idx="0">
            <a:schemeClr val="accent1"/>
          </a:fillRef>
          <a:effectRef idx="1">
            <a:schemeClr val="accent1"/>
          </a:effectRef>
          <a:fontRef idx="minor">
            <a:schemeClr val="tx1"/>
          </a:fontRef>
        </p:style>
      </p:cxnSp>
      <p:pic>
        <p:nvPicPr>
          <p:cNvPr id="45" name="Legend icon — clinical domain experts" descr="Embedded SVG vector with 768 px transparent PNG fallback"/>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32688" y="8942832"/>
            <a:ext cx="630936" cy="630936"/>
          </a:xfrm>
          <a:prstGeom prst="rect">
            <a:avLst/>
          </a:prstGeom>
        </p:spPr>
      </p:pic>
      <p:sp>
        <p:nvSpPr>
          <p:cNvPr id="46" name="Legend title — clinical domain experts"/>
          <p:cNvSpPr txBox="1"/>
          <p:nvPr/>
        </p:nvSpPr>
        <p:spPr>
          <a:xfrm>
            <a:off x="1801368" y="9043416"/>
            <a:ext cx="2514600" cy="228600"/>
          </a:xfrm>
          <a:prstGeom prst="rect">
            <a:avLst/>
          </a:prstGeom>
          <a:noFill/>
        </p:spPr>
        <p:txBody>
          <a:bodyPr wrap="square" lIns="0" tIns="0" rIns="0" bIns="0" anchor="t">
            <a:spAutoFit/>
          </a:bodyPr>
          <a:lstStyle/>
          <a:p>
            <a:pPr algn="l">
              <a:spcBef>
                <a:spcPts val="0"/>
              </a:spcBef>
              <a:spcAft>
                <a:spcPts val="0"/>
              </a:spcAft>
            </a:pPr>
            <a:r>
              <a:rPr sz="1470" b="0" i="0">
                <a:solidFill>
                  <a:srgbClr val="191516"/>
                </a:solidFill>
                <a:latin typeface="Georgia" panose="02040502050405020303"/>
              </a:rPr>
              <a:t>Clinical domain experts</a:t>
            </a:r>
            <a:endParaRPr sz="1470" b="0" i="0">
              <a:solidFill>
                <a:srgbClr val="191516"/>
              </a:solidFill>
              <a:latin typeface="Georgia" panose="02040502050405020303"/>
            </a:endParaRPr>
          </a:p>
        </p:txBody>
      </p:sp>
      <p:sp>
        <p:nvSpPr>
          <p:cNvPr id="47" name="Legend subtitle — clinical expertise"/>
          <p:cNvSpPr txBox="1"/>
          <p:nvPr/>
        </p:nvSpPr>
        <p:spPr>
          <a:xfrm>
            <a:off x="1801368" y="9363456"/>
            <a:ext cx="2587752" cy="219456"/>
          </a:xfrm>
          <a:prstGeom prst="rect">
            <a:avLst/>
          </a:prstGeom>
          <a:noFill/>
        </p:spPr>
        <p:txBody>
          <a:bodyPr wrap="square" lIns="0" tIns="0" rIns="0" bIns="0" anchor="t">
            <a:spAutoFit/>
          </a:bodyPr>
          <a:lstStyle/>
          <a:p>
            <a:pPr algn="l">
              <a:spcBef>
                <a:spcPts val="0"/>
              </a:spcBef>
              <a:spcAft>
                <a:spcPts val="0"/>
              </a:spcAft>
            </a:pPr>
            <a:r>
              <a:rPr sz="1240" b="0" i="1">
                <a:solidFill>
                  <a:srgbClr val="191516"/>
                </a:solidFill>
                <a:latin typeface="Georgia" panose="02040502050405020303"/>
              </a:rPr>
              <a:t>Real-world medical expertise</a:t>
            </a:r>
            <a:endParaRPr sz="1240" b="0" i="1">
              <a:solidFill>
                <a:srgbClr val="191516"/>
              </a:solidFill>
              <a:latin typeface="Georgia" panose="02040502050405020303"/>
            </a:endParaRPr>
          </a:p>
        </p:txBody>
      </p:sp>
      <p:pic>
        <p:nvPicPr>
          <p:cNvPr id="48" name="Legend icon — academic collaboration" descr="Embedded SVG vector with 768 px transparent PNG fallback"/>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056632" y="8961120"/>
            <a:ext cx="594360" cy="594360"/>
          </a:xfrm>
          <a:prstGeom prst="rect">
            <a:avLst/>
          </a:prstGeom>
        </p:spPr>
      </p:pic>
      <p:sp>
        <p:nvSpPr>
          <p:cNvPr id="49" name="Legend title — academic collaboration"/>
          <p:cNvSpPr txBox="1"/>
          <p:nvPr/>
        </p:nvSpPr>
        <p:spPr>
          <a:xfrm>
            <a:off x="5815584" y="9043416"/>
            <a:ext cx="2587752" cy="228600"/>
          </a:xfrm>
          <a:prstGeom prst="rect">
            <a:avLst/>
          </a:prstGeom>
          <a:noFill/>
        </p:spPr>
        <p:txBody>
          <a:bodyPr wrap="square" lIns="0" tIns="0" rIns="0" bIns="0" anchor="t">
            <a:spAutoFit/>
          </a:bodyPr>
          <a:lstStyle/>
          <a:p>
            <a:pPr algn="l">
              <a:spcBef>
                <a:spcPts val="0"/>
              </a:spcBef>
              <a:spcAft>
                <a:spcPts val="0"/>
              </a:spcAft>
            </a:pPr>
            <a:r>
              <a:rPr sz="1470" b="0" i="0">
                <a:solidFill>
                  <a:srgbClr val="191516"/>
                </a:solidFill>
                <a:latin typeface="Georgia" panose="02040502050405020303"/>
              </a:rPr>
              <a:t>Academic collaboration</a:t>
            </a:r>
            <a:endParaRPr sz="1470" b="0" i="0">
              <a:solidFill>
                <a:srgbClr val="191516"/>
              </a:solidFill>
              <a:latin typeface="Georgia" panose="02040502050405020303"/>
            </a:endParaRPr>
          </a:p>
        </p:txBody>
      </p:sp>
      <p:sp>
        <p:nvSpPr>
          <p:cNvPr id="50" name="Legend subtitle — academic collaboration"/>
          <p:cNvSpPr txBox="1"/>
          <p:nvPr/>
        </p:nvSpPr>
        <p:spPr>
          <a:xfrm>
            <a:off x="5815584" y="9363456"/>
            <a:ext cx="2862072" cy="219456"/>
          </a:xfrm>
          <a:prstGeom prst="rect">
            <a:avLst/>
          </a:prstGeom>
          <a:noFill/>
        </p:spPr>
        <p:txBody>
          <a:bodyPr wrap="square" lIns="0" tIns="0" rIns="0" bIns="0" anchor="t">
            <a:spAutoFit/>
          </a:bodyPr>
          <a:lstStyle/>
          <a:p>
            <a:pPr algn="l">
              <a:spcBef>
                <a:spcPts val="0"/>
              </a:spcBef>
              <a:spcAft>
                <a:spcPts val="0"/>
              </a:spcAft>
            </a:pPr>
            <a:r>
              <a:rPr sz="1220" b="0" i="1">
                <a:solidFill>
                  <a:srgbClr val="191516"/>
                </a:solidFill>
                <a:latin typeface="Georgia" panose="02040502050405020303"/>
              </a:rPr>
              <a:t>Universities and research centers</a:t>
            </a:r>
            <a:endParaRPr sz="1220" b="0" i="1">
              <a:solidFill>
                <a:srgbClr val="191516"/>
              </a:solidFill>
              <a:latin typeface="Georgia" panose="02040502050405020303"/>
            </a:endParaRPr>
          </a:p>
        </p:txBody>
      </p:sp>
      <p:pic>
        <p:nvPicPr>
          <p:cNvPr id="51" name="Legend icon — multi-institutional review" descr="Embedded SVG vector with 768 px transparent PNG fallback"/>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73768" y="8933688"/>
            <a:ext cx="539496" cy="640080"/>
          </a:xfrm>
          <a:prstGeom prst="rect">
            <a:avLst/>
          </a:prstGeom>
        </p:spPr>
      </p:pic>
      <p:sp>
        <p:nvSpPr>
          <p:cNvPr id="52" name="Legend title — multi-institutional review"/>
          <p:cNvSpPr txBox="1"/>
          <p:nvPr/>
        </p:nvSpPr>
        <p:spPr>
          <a:xfrm>
            <a:off x="10287000" y="9043416"/>
            <a:ext cx="2523744" cy="228600"/>
          </a:xfrm>
          <a:prstGeom prst="rect">
            <a:avLst/>
          </a:prstGeom>
          <a:noFill/>
        </p:spPr>
        <p:txBody>
          <a:bodyPr wrap="square" lIns="0" tIns="0" rIns="0" bIns="0" anchor="t">
            <a:spAutoFit/>
          </a:bodyPr>
          <a:lstStyle/>
          <a:p>
            <a:pPr algn="l">
              <a:spcBef>
                <a:spcPts val="0"/>
              </a:spcBef>
              <a:spcAft>
                <a:spcPts val="0"/>
              </a:spcAft>
            </a:pPr>
            <a:r>
              <a:rPr sz="1450" b="0" i="0">
                <a:solidFill>
                  <a:srgbClr val="191516"/>
                </a:solidFill>
                <a:latin typeface="Georgia" panose="02040502050405020303"/>
              </a:rPr>
              <a:t>Multi-institutional review</a:t>
            </a:r>
            <a:endParaRPr sz="1450" b="0" i="0">
              <a:solidFill>
                <a:srgbClr val="191516"/>
              </a:solidFill>
              <a:latin typeface="Georgia" panose="02040502050405020303"/>
            </a:endParaRPr>
          </a:p>
        </p:txBody>
      </p:sp>
      <p:sp>
        <p:nvSpPr>
          <p:cNvPr id="53" name="Legend subtitle — quality assurance"/>
          <p:cNvSpPr txBox="1"/>
          <p:nvPr/>
        </p:nvSpPr>
        <p:spPr>
          <a:xfrm>
            <a:off x="10287000" y="9363456"/>
            <a:ext cx="2487168" cy="219456"/>
          </a:xfrm>
          <a:prstGeom prst="rect">
            <a:avLst/>
          </a:prstGeom>
          <a:noFill/>
        </p:spPr>
        <p:txBody>
          <a:bodyPr wrap="square" lIns="0" tIns="0" rIns="0" bIns="0" anchor="t">
            <a:spAutoFit/>
          </a:bodyPr>
          <a:lstStyle/>
          <a:p>
            <a:pPr algn="l">
              <a:spcBef>
                <a:spcPts val="0"/>
              </a:spcBef>
              <a:spcAft>
                <a:spcPts val="0"/>
              </a:spcAft>
            </a:pPr>
            <a:r>
              <a:rPr sz="1230" b="0" i="1">
                <a:solidFill>
                  <a:srgbClr val="191516"/>
                </a:solidFill>
                <a:latin typeface="Georgia" panose="02040502050405020303"/>
              </a:rPr>
              <a:t>Rigorous quality assurance</a:t>
            </a:r>
            <a:endParaRPr sz="1230" b="0" i="1">
              <a:solidFill>
                <a:srgbClr val="191516"/>
              </a:solidFill>
              <a:latin typeface="Georgia" panose="02040502050405020303"/>
            </a:endParaRPr>
          </a:p>
        </p:txBody>
      </p:sp>
      <p:pic>
        <p:nvPicPr>
          <p:cNvPr id="54" name="Legend icon — living benchmark community" descr="Embedded SVG vector with 768 px transparent PNG fallback"/>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3514832" y="8942832"/>
            <a:ext cx="658368" cy="658368"/>
          </a:xfrm>
          <a:prstGeom prst="rect">
            <a:avLst/>
          </a:prstGeom>
        </p:spPr>
      </p:pic>
      <p:sp>
        <p:nvSpPr>
          <p:cNvPr id="55" name="Legend title — living benchmark community"/>
          <p:cNvSpPr txBox="1"/>
          <p:nvPr/>
        </p:nvSpPr>
        <p:spPr>
          <a:xfrm>
            <a:off x="14410944" y="9043416"/>
            <a:ext cx="2962656" cy="228600"/>
          </a:xfrm>
          <a:prstGeom prst="rect">
            <a:avLst/>
          </a:prstGeom>
          <a:noFill/>
        </p:spPr>
        <p:txBody>
          <a:bodyPr wrap="square" lIns="0" tIns="0" rIns="0" bIns="0" anchor="t">
            <a:spAutoFit/>
          </a:bodyPr>
          <a:lstStyle/>
          <a:p>
            <a:pPr algn="l">
              <a:spcBef>
                <a:spcPts val="0"/>
              </a:spcBef>
              <a:spcAft>
                <a:spcPts val="0"/>
              </a:spcAft>
            </a:pPr>
            <a:r>
              <a:rPr sz="1440" b="0" i="0">
                <a:solidFill>
                  <a:srgbClr val="191516"/>
                </a:solidFill>
                <a:latin typeface="Georgia" panose="02040502050405020303"/>
              </a:rPr>
              <a:t>Living benchmark community</a:t>
            </a:r>
            <a:endParaRPr sz="1440" b="0" i="0">
              <a:solidFill>
                <a:srgbClr val="191516"/>
              </a:solidFill>
              <a:latin typeface="Georgia" panose="02040502050405020303"/>
            </a:endParaRPr>
          </a:p>
        </p:txBody>
      </p:sp>
      <p:sp>
        <p:nvSpPr>
          <p:cNvPr id="56" name="Legend subtitle — continuously strengthened"/>
          <p:cNvSpPr txBox="1"/>
          <p:nvPr/>
        </p:nvSpPr>
        <p:spPr>
          <a:xfrm>
            <a:off x="14410944" y="9363456"/>
            <a:ext cx="2697480" cy="219456"/>
          </a:xfrm>
          <a:prstGeom prst="rect">
            <a:avLst/>
          </a:prstGeom>
          <a:noFill/>
        </p:spPr>
        <p:txBody>
          <a:bodyPr wrap="square" lIns="0" tIns="0" rIns="0" bIns="0" anchor="t">
            <a:spAutoFit/>
          </a:bodyPr>
          <a:lstStyle/>
          <a:p>
            <a:pPr algn="l">
              <a:spcBef>
                <a:spcPts val="0"/>
              </a:spcBef>
              <a:spcAft>
                <a:spcPts val="0"/>
              </a:spcAft>
            </a:pPr>
            <a:r>
              <a:rPr sz="1230" b="0" i="1">
                <a:solidFill>
                  <a:srgbClr val="191516"/>
                </a:solidFill>
                <a:latin typeface="Georgia" panose="02040502050405020303"/>
              </a:rPr>
              <a:t>Continuously strengthened</a:t>
            </a:r>
            <a:endParaRPr sz="1230" b="0" i="1">
              <a:solidFill>
                <a:srgbClr val="191516"/>
              </a:solidFill>
              <a:latin typeface="Georgia" panose="02040502050405020303"/>
            </a:endParaRPr>
          </a:p>
        </p:txBody>
      </p:sp>
      <p:sp>
        <p:nvSpPr>
          <p:cNvPr id="59" name="Medical Doctor's Last Exam wordmark box"/>
          <p:cNvSpPr/>
          <p:nvPr/>
        </p:nvSpPr>
        <p:spPr>
          <a:xfrm>
            <a:off x="15773400" y="310896"/>
            <a:ext cx="1947672" cy="1389888"/>
          </a:xfrm>
          <a:prstGeom prst="rect">
            <a:avLst/>
          </a:prstGeom>
          <a:noFill/>
          <a:ln w="22860">
            <a:solidFill>
              <a:srgbClr val="FFF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Medical Doctor's Last Exam wordmark"/>
          <p:cNvSpPr txBox="1"/>
          <p:nvPr/>
        </p:nvSpPr>
        <p:spPr>
          <a:xfrm>
            <a:off x="15956280" y="438912"/>
            <a:ext cx="1600200" cy="1115568"/>
          </a:xfrm>
          <a:prstGeom prst="rect">
            <a:avLst/>
          </a:prstGeom>
          <a:noFill/>
        </p:spPr>
        <p:txBody>
          <a:bodyPr wrap="square" lIns="0" tIns="0" rIns="0" bIns="0" anchor="t">
            <a:spAutoFit/>
          </a:bodyPr>
          <a:lstStyle/>
          <a:p>
            <a:pPr algn="l">
              <a:lnSpc>
                <a:spcPts val="2500"/>
              </a:lnSpc>
            </a:pPr>
            <a:r>
              <a:rPr sz="1950" b="1" i="0">
                <a:solidFill>
                  <a:srgbClr val="FFFDF8"/>
                </a:solidFill>
                <a:latin typeface="Georgia" panose="02040502050405020303"/>
              </a:rPr>
              <a:t>MEDICAL
DOCTOR’S
LAST EXAM</a:t>
            </a:r>
            <a:endParaRPr sz="1950" b="1" i="0">
              <a:solidFill>
                <a:srgbClr val="FFFDF8"/>
              </a:solidFill>
              <a:latin typeface="Georgia" panose="02040502050405020303"/>
            </a:endParaRPr>
          </a:p>
        </p:txBody>
      </p:sp>
      <p:sp>
        <p:nvSpPr>
          <p:cNvPr id="61" name="Footer statement"/>
          <p:cNvSpPr txBox="1"/>
          <p:nvPr/>
        </p:nvSpPr>
        <p:spPr>
          <a:xfrm>
            <a:off x="4389120" y="9729216"/>
            <a:ext cx="9509760" cy="438912"/>
          </a:xfrm>
          <a:prstGeom prst="rect">
            <a:avLst/>
          </a:prstGeom>
          <a:noFill/>
        </p:spPr>
        <p:txBody>
          <a:bodyPr wrap="square" lIns="0" tIns="0" rIns="0" bIns="0" anchor="ctr">
            <a:spAutoFit/>
          </a:bodyPr>
          <a:lstStyle/>
          <a:p>
            <a:pPr algn="ctr"/>
            <a:r>
              <a:rPr sz="2400" b="0" i="1" dirty="0">
                <a:solidFill>
                  <a:srgbClr val="FFFDF8"/>
                </a:solidFill>
                <a:latin typeface="Georgia" panose="02040502050405020303"/>
              </a:rPr>
              <a:t>A living benchmark for next-generation medical AI</a:t>
            </a:r>
            <a:endParaRPr sz="2400" b="0" i="1" dirty="0">
              <a:solidFill>
                <a:srgbClr val="FFFDF8"/>
              </a:solidFill>
              <a:latin typeface="Georgia" panose="02040502050405020303"/>
            </a:endParaRPr>
          </a:p>
        </p:txBody>
      </p:sp>
      <p:cxnSp>
        <p:nvCxnSpPr>
          <p:cNvPr id="62" name="Footer rule left"/>
          <p:cNvCxnSpPr/>
          <p:nvPr/>
        </p:nvCxnSpPr>
        <p:spPr>
          <a:xfrm>
            <a:off x="2302991" y="9963600"/>
            <a:ext cx="2807208" cy="0"/>
          </a:xfrm>
          <a:prstGeom prst="line">
            <a:avLst/>
          </a:prstGeom>
          <a:ln w="9525">
            <a:solidFill>
              <a:srgbClr val="D2B47A"/>
            </a:solidFill>
          </a:ln>
        </p:spPr>
        <p:style>
          <a:lnRef idx="2">
            <a:schemeClr val="accent1"/>
          </a:lnRef>
          <a:fillRef idx="0">
            <a:schemeClr val="accent1"/>
          </a:fillRef>
          <a:effectRef idx="1">
            <a:schemeClr val="accent1"/>
          </a:effectRef>
          <a:fontRef idx="minor">
            <a:schemeClr val="tx1"/>
          </a:fontRef>
        </p:style>
      </p:cxnSp>
      <p:sp>
        <p:nvSpPr>
          <p:cNvPr id="63" name="Footer diamond left"/>
          <p:cNvSpPr/>
          <p:nvPr/>
        </p:nvSpPr>
        <p:spPr>
          <a:xfrm>
            <a:off x="5174207" y="9872160"/>
            <a:ext cx="182880" cy="182880"/>
          </a:xfrm>
          <a:prstGeom prst="diamond">
            <a:avLst/>
          </a:prstGeom>
          <a:solidFill>
            <a:srgbClr val="D2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ooter diamond right"/>
          <p:cNvSpPr/>
          <p:nvPr/>
        </p:nvSpPr>
        <p:spPr>
          <a:xfrm>
            <a:off x="12930915" y="9865742"/>
            <a:ext cx="182880" cy="182880"/>
          </a:xfrm>
          <a:prstGeom prst="diamond">
            <a:avLst/>
          </a:prstGeom>
          <a:solidFill>
            <a:srgbClr val="D2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Footer rule right"/>
          <p:cNvCxnSpPr/>
          <p:nvPr/>
        </p:nvCxnSpPr>
        <p:spPr>
          <a:xfrm>
            <a:off x="13177803" y="9957182"/>
            <a:ext cx="2916936" cy="0"/>
          </a:xfrm>
          <a:prstGeom prst="line">
            <a:avLst/>
          </a:prstGeom>
          <a:ln w="9525">
            <a:solidFill>
              <a:srgbClr val="D2B47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Background — burgundy masthead, ivory paper, and burgundy footer" descr="image.jpeg"/>
          <p:cNvPicPr>
            <a:picLocks noGrp="1" noRot="1" noChangeAspect="1" noMove="1" noResize="1" noEditPoints="1" noAdjustHandles="1" noChangeArrowheads="1" noChangeShapeType="1" noCrop="1"/>
          </p:cNvPicPr>
          <p:nvPr/>
        </p:nvPicPr>
        <p:blipFill>
          <a:blip r:embed="rId1"/>
          <a:stretch>
            <a:fillRect/>
          </a:stretch>
        </p:blipFill>
        <p:spPr>
          <a:xfrm>
            <a:off x="0" y="0"/>
            <a:ext cx="18288000" cy="10287000"/>
          </a:xfrm>
          <a:prstGeom prst="rect">
            <a:avLst/>
          </a:prstGeom>
        </p:spPr>
      </p:pic>
      <p:sp>
        <p:nvSpPr>
          <p:cNvPr id="3" name="Title — Medical Doctor's Last Exam"/>
          <p:cNvSpPr txBox="1"/>
          <p:nvPr/>
        </p:nvSpPr>
        <p:spPr>
          <a:xfrm>
            <a:off x="521207" y="219456"/>
            <a:ext cx="14356080" cy="749808"/>
          </a:xfrm>
          <a:prstGeom prst="rect">
            <a:avLst/>
          </a:prstGeom>
          <a:noFill/>
        </p:spPr>
        <p:txBody>
          <a:bodyPr wrap="square" lIns="0" tIns="0" rIns="0" bIns="0" anchor="ctr">
            <a:noAutofit/>
          </a:bodyPr>
          <a:lstStyle/>
          <a:p>
            <a:pPr algn="l">
              <a:spcBef>
                <a:spcPts val="0"/>
              </a:spcBef>
              <a:spcAft>
                <a:spcPts val="0"/>
              </a:spcAft>
            </a:pPr>
            <a:r>
              <a:rPr sz="4600" b="1" i="0">
                <a:solidFill>
                  <a:srgbClr val="FFFDF8"/>
                </a:solidFill>
                <a:latin typeface="Georgia" panose="02040502050405020303"/>
              </a:rPr>
              <a:t>Medical Doctor’s Last Exam</a:t>
            </a:r>
            <a:endParaRPr sz="4600" b="1" i="0">
              <a:solidFill>
                <a:srgbClr val="FFFDF8"/>
              </a:solidFill>
              <a:latin typeface="Georgia" panose="02040502050405020303"/>
            </a:endParaRPr>
          </a:p>
        </p:txBody>
      </p:sp>
      <p:sp>
        <p:nvSpPr>
          <p:cNvPr id="4" name="Subtitle — benchmark and expert review"/>
          <p:cNvSpPr txBox="1"/>
          <p:nvPr/>
        </p:nvSpPr>
        <p:spPr>
          <a:xfrm>
            <a:off x="521207" y="987552"/>
            <a:ext cx="14356080" cy="841248"/>
          </a:xfrm>
          <a:prstGeom prst="rect">
            <a:avLst/>
          </a:prstGeom>
          <a:noFill/>
        </p:spPr>
        <p:txBody>
          <a:bodyPr wrap="square" lIns="0" tIns="0" rIns="0" bIns="0" anchor="t">
            <a:noAutofit/>
          </a:bodyPr>
          <a:lstStyle/>
          <a:p>
            <a:pPr algn="l">
              <a:lnSpc>
                <a:spcPts val="2500"/>
              </a:lnSpc>
              <a:spcBef>
                <a:spcPts val="0"/>
              </a:spcBef>
              <a:spcAft>
                <a:spcPts val="0"/>
              </a:spcAft>
            </a:pPr>
            <a:r>
              <a:rPr sz="2050" b="0" i="1">
                <a:solidFill>
                  <a:srgbClr val="FFFDF8"/>
                </a:solidFill>
                <a:latin typeface="Georgia" panose="02040502050405020303"/>
              </a:rPr>
              <a:t>Independent MDLE stewardship and licensing</a:t>
            </a:r>
            <a:br>
              <a:rPr sz="2050" b="0" i="1">
                <a:solidFill>
                  <a:srgbClr val="FFFDF8"/>
                </a:solidFill>
                <a:latin typeface="Georgia" panose="02040502050405020303"/>
              </a:rPr>
            </a:br>
            <a:r>
              <a:rPr sz="2050" b="0" i="1">
                <a:solidFill>
                  <a:srgbClr val="FFFDF8"/>
                </a:solidFill>
                <a:latin typeface="Georgia" panose="02040502050405020303"/>
              </a:rPr>
              <a:t>Original annotations, software, and third-party clinical sources</a:t>
            </a:r>
            <a:endParaRPr sz="2050" b="0" i="1">
              <a:solidFill>
                <a:srgbClr val="FFFDF8"/>
              </a:solidFill>
              <a:latin typeface="Georgia" panose="02040502050405020303"/>
            </a:endParaRPr>
          </a:p>
        </p:txBody>
      </p:sp>
      <p:sp>
        <p:nvSpPr>
          <p:cNvPr id="113" name="Medical Doctor's Last Exam wordmark box"/>
          <p:cNvSpPr/>
          <p:nvPr/>
        </p:nvSpPr>
        <p:spPr>
          <a:xfrm>
            <a:off x="15773400" y="310896"/>
            <a:ext cx="1947672" cy="1389888"/>
          </a:xfrm>
          <a:prstGeom prst="rect">
            <a:avLst/>
          </a:prstGeom>
          <a:noFill/>
          <a:ln w="22860">
            <a:solidFill>
              <a:srgbClr val="FFF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Medical Doctor's Last Exam wordmark"/>
          <p:cNvSpPr txBox="1"/>
          <p:nvPr/>
        </p:nvSpPr>
        <p:spPr>
          <a:xfrm>
            <a:off x="15956280" y="438912"/>
            <a:ext cx="1600200" cy="1115568"/>
          </a:xfrm>
          <a:prstGeom prst="rect">
            <a:avLst/>
          </a:prstGeom>
          <a:noFill/>
        </p:spPr>
        <p:txBody>
          <a:bodyPr wrap="square" lIns="0" tIns="0" rIns="0" bIns="0" anchor="t">
            <a:spAutoFit/>
          </a:bodyPr>
          <a:lstStyle/>
          <a:p>
            <a:pPr algn="l">
              <a:lnSpc>
                <a:spcPts val="2500"/>
              </a:lnSpc>
            </a:pPr>
            <a:r>
              <a:rPr sz="1950" b="1" i="0">
                <a:solidFill>
                  <a:srgbClr val="FFFDF8"/>
                </a:solidFill>
                <a:latin typeface="Georgia" panose="02040502050405020303"/>
              </a:rPr>
              <a:t>MEDICAL
DOCTOR’S
LAST EXAM</a:t>
            </a:r>
            <a:endParaRPr sz="1950" b="1" i="0">
              <a:solidFill>
                <a:srgbClr val="FFFDF8"/>
              </a:solidFill>
              <a:latin typeface="Georgia" panose="02040502050405020303"/>
            </a:endParaRPr>
          </a:p>
        </p:txBody>
      </p:sp>
      <p:sp>
        <p:nvSpPr>
          <p:cNvPr id="115" name="Footer statement"/>
          <p:cNvSpPr txBox="1"/>
          <p:nvPr/>
        </p:nvSpPr>
        <p:spPr>
          <a:xfrm>
            <a:off x="4389120" y="9729216"/>
            <a:ext cx="9509760" cy="438912"/>
          </a:xfrm>
          <a:prstGeom prst="rect">
            <a:avLst/>
          </a:prstGeom>
          <a:noFill/>
        </p:spPr>
        <p:txBody>
          <a:bodyPr wrap="square" lIns="0" tIns="0" rIns="0" bIns="0" anchor="ctr">
            <a:spAutoFit/>
          </a:bodyPr>
          <a:lstStyle/>
          <a:p>
            <a:pPr algn="ctr"/>
            <a:r>
              <a:rPr sz="2400" b="0" i="1" dirty="0">
                <a:solidFill>
                  <a:srgbClr val="FFFDF8"/>
                </a:solidFill>
                <a:latin typeface="Georgia" panose="02040502050405020303"/>
              </a:rPr>
              <a:t>A living benchmark for next-generation medical AI</a:t>
            </a:r>
            <a:endParaRPr sz="2400" b="0" i="1" dirty="0">
              <a:solidFill>
                <a:srgbClr val="FFFDF8"/>
              </a:solidFill>
              <a:latin typeface="Georgia" panose="02040502050405020303"/>
            </a:endParaRPr>
          </a:p>
        </p:txBody>
      </p:sp>
      <p:sp>
        <p:nvSpPr>
          <p:cNvPr id="117" name="Footer diamond left"/>
          <p:cNvSpPr/>
          <p:nvPr/>
        </p:nvSpPr>
        <p:spPr>
          <a:xfrm>
            <a:off x="5174207" y="9872160"/>
            <a:ext cx="182880" cy="182880"/>
          </a:xfrm>
          <a:prstGeom prst="diamond">
            <a:avLst/>
          </a:prstGeom>
          <a:solidFill>
            <a:srgbClr val="D2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ooter diamond right"/>
          <p:cNvSpPr/>
          <p:nvPr/>
        </p:nvSpPr>
        <p:spPr>
          <a:xfrm>
            <a:off x="12930915" y="9865742"/>
            <a:ext cx="182880" cy="182880"/>
          </a:xfrm>
          <a:prstGeom prst="diamond">
            <a:avLst/>
          </a:prstGeom>
          <a:solidFill>
            <a:srgbClr val="D2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rganization and licensing heading"/>
          <p:cNvSpPr txBox="1"/>
          <p:nvPr/>
        </p:nvSpPr>
        <p:spPr>
          <a:xfrm>
            <a:off x="1078992" y="2487168"/>
            <a:ext cx="16002000" cy="594360"/>
          </a:xfrm>
          <a:prstGeom prst="rect">
            <a:avLst/>
          </a:prstGeom>
          <a:noFill/>
        </p:spPr>
        <p:txBody>
          <a:bodyPr wrap="square" lIns="0" tIns="0" rIns="0" bIns="0" anchor="t">
            <a:noAutofit/>
          </a:bodyPr>
          <a:lstStyle/>
          <a:p>
            <a:pPr>
              <a:lnSpc>
                <a:spcPct val="104000"/>
              </a:lnSpc>
              <a:spcBef>
                <a:spcPts val="0"/>
              </a:spcBef>
              <a:spcAft>
                <a:spcPts val="0"/>
              </a:spcAft>
            </a:pPr>
            <a:r>
              <a:rPr sz="3400" b="1">
                <a:solidFill>
                  <a:srgbClr val="27462D"/>
                </a:solidFill>
                <a:latin typeface="Georgia" panose="02040502050405020303"/>
              </a:rPr>
              <a:t>Organization and Licensing</a:t>
            </a:r>
            <a:endParaRPr sz="3400" b="1">
              <a:solidFill>
                <a:srgbClr val="27462D"/>
              </a:solidFill>
              <a:latin typeface="Georgia" panose="02040502050405020303"/>
            </a:endParaRPr>
          </a:p>
        </p:txBody>
      </p:sp>
      <p:sp>
        <p:nvSpPr>
          <p:cNvPr id="120" name="HF organization name"/>
          <p:cNvSpPr txBox="1"/>
          <p:nvPr/>
        </p:nvSpPr>
        <p:spPr>
          <a:xfrm>
            <a:off x="1078992" y="3291840"/>
            <a:ext cx="16002000" cy="484632"/>
          </a:xfrm>
          <a:prstGeom prst="rect">
            <a:avLst/>
          </a:prstGeom>
          <a:noFill/>
        </p:spPr>
        <p:txBody>
          <a:bodyPr wrap="square" lIns="0" tIns="0" rIns="0" bIns="0" anchor="t">
            <a:noAutofit/>
          </a:bodyPr>
          <a:lstStyle/>
          <a:p>
            <a:pPr>
              <a:lnSpc>
                <a:spcPct val="104000"/>
              </a:lnSpc>
              <a:spcBef>
                <a:spcPts val="0"/>
              </a:spcBef>
              <a:spcAft>
                <a:spcPts val="0"/>
              </a:spcAft>
            </a:pPr>
            <a:r>
              <a:rPr sz="2700" b="1">
                <a:solidFill>
                  <a:srgbClr val="27462D"/>
                </a:solidFill>
                <a:latin typeface="Georgia" panose="02040502050405020303"/>
              </a:rPr>
              <a:t>Medical Doctor’s Last Exam</a:t>
            </a:r>
            <a:endParaRPr sz="2700" b="1">
              <a:solidFill>
                <a:srgbClr val="27462D"/>
              </a:solidFill>
              <a:latin typeface="Georgia" panose="02040502050405020303"/>
            </a:endParaRPr>
          </a:p>
        </p:txBody>
      </p:sp>
      <p:sp>
        <p:nvSpPr>
          <p:cNvPr id="121" name="HF organization link"/>
          <p:cNvSpPr txBox="1"/>
          <p:nvPr/>
        </p:nvSpPr>
        <p:spPr>
          <a:xfrm>
            <a:off x="1078992" y="3858768"/>
            <a:ext cx="16002000" cy="420624"/>
          </a:xfrm>
          <a:prstGeom prst="rect">
            <a:avLst/>
          </a:prstGeom>
          <a:noFill/>
        </p:spPr>
        <p:txBody>
          <a:bodyPr wrap="square" lIns="0" tIns="0" rIns="0" bIns="0" anchor="t">
            <a:noAutofit/>
          </a:bodyPr>
          <a:lstStyle/>
          <a:p>
            <a:pPr>
              <a:lnSpc>
                <a:spcPct val="104000"/>
              </a:lnSpc>
              <a:spcBef>
                <a:spcPts val="0"/>
              </a:spcBef>
              <a:spcAft>
                <a:spcPts val="0"/>
              </a:spcAft>
            </a:pPr>
            <a:r>
              <a:rPr sz="2200" b="0">
                <a:solidFill>
                  <a:srgbClr val="17212D"/>
                </a:solidFill>
                <a:latin typeface="Georgia" panose="02040502050405020303"/>
                <a:hlinkClick r:id="rId2"/>
              </a:rPr>
              <a:t>https://huggingface.co/Medical-Doctors-Last-Exam</a:t>
            </a:r>
            <a:endParaRPr sz="2200" b="0">
              <a:solidFill>
                <a:srgbClr val="17212D"/>
              </a:solidFill>
              <a:latin typeface="Georgia" panose="02040502050405020303"/>
              <a:hlinkClick r:id="rId2"/>
            </a:endParaRPr>
          </a:p>
        </p:txBody>
      </p:sp>
      <p:sp>
        <p:nvSpPr>
          <p:cNvPr id="122" name="Verified org administrator"/>
          <p:cNvSpPr txBox="1"/>
          <p:nvPr/>
        </p:nvSpPr>
        <p:spPr>
          <a:xfrm>
            <a:off x="1078992" y="4379976"/>
            <a:ext cx="16002000" cy="420624"/>
          </a:xfrm>
          <a:prstGeom prst="rect">
            <a:avLst/>
          </a:prstGeom>
          <a:noFill/>
        </p:spPr>
        <p:txBody>
          <a:bodyPr wrap="square" lIns="0" tIns="0" rIns="0" bIns="0" anchor="t">
            <a:noAutofit/>
          </a:bodyPr>
          <a:lstStyle/>
          <a:p>
            <a:pPr>
              <a:lnSpc>
                <a:spcPct val="104000"/>
              </a:lnSpc>
              <a:spcBef>
                <a:spcPts val="0"/>
              </a:spcBef>
              <a:spcAft>
                <a:spcPts val="0"/>
              </a:spcAft>
            </a:pPr>
            <a:r>
              <a:rPr sz="2300" b="0">
                <a:solidFill>
                  <a:srgbClr val="17212D"/>
                </a:solidFill>
                <a:latin typeface="Georgia" panose="02040502050405020303"/>
              </a:rPr>
              <a:t>Independent MDLE organization</a:t>
            </a:r>
            <a:endParaRPr sz="2300" b="0">
              <a:solidFill>
                <a:srgbClr val="17212D"/>
              </a:solidFill>
              <a:latin typeface="Georgia" panose="02040502050405020303"/>
            </a:endParaRPr>
          </a:p>
        </p:txBody>
      </p:sp>
      <p:cxnSp>
        <p:nvCxnSpPr>
          <p:cNvPr id="123" name="Licensing section divider"/>
          <p:cNvCxnSpPr/>
          <p:nvPr/>
        </p:nvCxnSpPr>
        <p:spPr>
          <a:xfrm>
            <a:off x="1078992" y="4992624"/>
            <a:ext cx="16038576" cy="0"/>
          </a:xfrm>
          <a:prstGeom prst="line">
            <a:avLst/>
          </a:prstGeom>
          <a:ln w="7620">
            <a:solidFill>
              <a:srgbClr val="D0BBA1"/>
            </a:solidFill>
          </a:ln>
        </p:spPr>
        <p:style>
          <a:lnRef idx="2">
            <a:schemeClr val="accent1"/>
          </a:lnRef>
          <a:fillRef idx="0">
            <a:schemeClr val="accent1"/>
          </a:fillRef>
          <a:effectRef idx="1">
            <a:schemeClr val="accent1"/>
          </a:effectRef>
          <a:fontRef idx="minor">
            <a:schemeClr val="tx1"/>
          </a:fontRef>
        </p:style>
      </p:cxnSp>
      <p:sp>
        <p:nvSpPr>
          <p:cNvPr id="124" name="License content 1"/>
          <p:cNvSpPr txBox="1"/>
          <p:nvPr/>
        </p:nvSpPr>
        <p:spPr>
          <a:xfrm>
            <a:off x="1078992" y="5230368"/>
            <a:ext cx="8092440" cy="384048"/>
          </a:xfrm>
          <a:prstGeom prst="rect">
            <a:avLst/>
          </a:prstGeom>
          <a:noFill/>
        </p:spPr>
        <p:txBody>
          <a:bodyPr wrap="square" lIns="0" tIns="0" rIns="0" bIns="0" anchor="t">
            <a:noAutofit/>
          </a:bodyPr>
          <a:lstStyle/>
          <a:p>
            <a:pPr>
              <a:lnSpc>
                <a:spcPct val="104000"/>
              </a:lnSpc>
              <a:spcBef>
                <a:spcPts val="0"/>
              </a:spcBef>
              <a:spcAft>
                <a:spcPts val="0"/>
              </a:spcAft>
            </a:pPr>
            <a:r>
              <a:rPr sz="2300" b="1">
                <a:solidFill>
                  <a:srgbClr val="17212D"/>
                </a:solidFill>
                <a:latin typeface="Georgia" panose="02040502050405020303"/>
              </a:rPr>
              <a:t>Original questions and annotations</a:t>
            </a:r>
            <a:endParaRPr sz="2300" b="1">
              <a:solidFill>
                <a:srgbClr val="17212D"/>
              </a:solidFill>
              <a:latin typeface="Georgia" panose="02040502050405020303"/>
            </a:endParaRPr>
          </a:p>
        </p:txBody>
      </p:sp>
      <p:sp>
        <p:nvSpPr>
          <p:cNvPr id="125" name="License choice 1"/>
          <p:cNvSpPr txBox="1"/>
          <p:nvPr/>
        </p:nvSpPr>
        <p:spPr>
          <a:xfrm>
            <a:off x="9784080" y="5230368"/>
            <a:ext cx="7333488" cy="384048"/>
          </a:xfrm>
          <a:prstGeom prst="rect">
            <a:avLst/>
          </a:prstGeom>
          <a:noFill/>
        </p:spPr>
        <p:txBody>
          <a:bodyPr wrap="square" lIns="0" tIns="0" rIns="0" bIns="0" anchor="t">
            <a:noAutofit/>
          </a:bodyPr>
          <a:lstStyle/>
          <a:p>
            <a:pPr>
              <a:lnSpc>
                <a:spcPct val="104000"/>
              </a:lnSpc>
              <a:spcBef>
                <a:spcPts val="0"/>
              </a:spcBef>
              <a:spcAft>
                <a:spcPts val="0"/>
              </a:spcAft>
            </a:pPr>
            <a:r>
              <a:rPr sz="2300" b="1">
                <a:solidFill>
                  <a:srgbClr val="27462D"/>
                </a:solidFill>
                <a:latin typeface="Georgia" panose="02040502050405020303"/>
              </a:rPr>
              <a:t>CC BY 4.0</a:t>
            </a:r>
            <a:endParaRPr sz="2300" b="1">
              <a:solidFill>
                <a:srgbClr val="27462D"/>
              </a:solidFill>
              <a:latin typeface="Georgia" panose="02040502050405020303"/>
            </a:endParaRPr>
          </a:p>
        </p:txBody>
      </p:sp>
      <p:sp>
        <p:nvSpPr>
          <p:cNvPr id="126" name="License scope 1"/>
          <p:cNvSpPr txBox="1"/>
          <p:nvPr/>
        </p:nvSpPr>
        <p:spPr>
          <a:xfrm>
            <a:off x="1078992" y="5660136"/>
            <a:ext cx="16038576" cy="438912"/>
          </a:xfrm>
          <a:prstGeom prst="rect">
            <a:avLst/>
          </a:prstGeom>
          <a:noFill/>
        </p:spPr>
        <p:txBody>
          <a:bodyPr wrap="square" lIns="0" tIns="0" rIns="0" bIns="0" anchor="t">
            <a:noAutofit/>
          </a:bodyPr>
          <a:lstStyle/>
          <a:p>
            <a:pPr>
              <a:lnSpc>
                <a:spcPct val="104000"/>
              </a:lnSpc>
              <a:spcBef>
                <a:spcPts val="0"/>
              </a:spcBef>
              <a:spcAft>
                <a:spcPts val="0"/>
              </a:spcAft>
            </a:pPr>
            <a:r>
              <a:rPr sz="2000" b="0">
                <a:solidFill>
                  <a:srgbClr val="17212D"/>
                </a:solidFill>
                <a:latin typeface="Georgia" panose="02040502050405020303"/>
              </a:rPr>
              <a:t>Questions, answers, reasoning and rubrics, where the necessary rights are held or granted.</a:t>
            </a:r>
            <a:endParaRPr sz="2000" b="0">
              <a:solidFill>
                <a:srgbClr val="17212D"/>
              </a:solidFill>
              <a:latin typeface="Georgia" panose="02040502050405020303"/>
            </a:endParaRPr>
          </a:p>
        </p:txBody>
      </p:sp>
      <p:cxnSp>
        <p:nvCxnSpPr>
          <p:cNvPr id="127" name="License row rule 1"/>
          <p:cNvCxnSpPr/>
          <p:nvPr/>
        </p:nvCxnSpPr>
        <p:spPr>
          <a:xfrm>
            <a:off x="1078992" y="6135624"/>
            <a:ext cx="16038576" cy="0"/>
          </a:xfrm>
          <a:prstGeom prst="line">
            <a:avLst/>
          </a:prstGeom>
          <a:ln w="7620">
            <a:solidFill>
              <a:srgbClr val="D0BBA1"/>
            </a:solidFill>
          </a:ln>
        </p:spPr>
        <p:style>
          <a:lnRef idx="2">
            <a:schemeClr val="accent1"/>
          </a:lnRef>
          <a:fillRef idx="0">
            <a:schemeClr val="accent1"/>
          </a:fillRef>
          <a:effectRef idx="1">
            <a:schemeClr val="accent1"/>
          </a:effectRef>
          <a:fontRef idx="minor">
            <a:schemeClr val="tx1"/>
          </a:fontRef>
        </p:style>
      </p:cxnSp>
      <p:sp>
        <p:nvSpPr>
          <p:cNvPr id="128" name="License content 2"/>
          <p:cNvSpPr txBox="1"/>
          <p:nvPr/>
        </p:nvSpPr>
        <p:spPr>
          <a:xfrm>
            <a:off x="1078992" y="6245352"/>
            <a:ext cx="8092440" cy="384048"/>
          </a:xfrm>
          <a:prstGeom prst="rect">
            <a:avLst/>
          </a:prstGeom>
          <a:noFill/>
        </p:spPr>
        <p:txBody>
          <a:bodyPr wrap="square" lIns="0" tIns="0" rIns="0" bIns="0" anchor="t">
            <a:noAutofit/>
          </a:bodyPr>
          <a:lstStyle/>
          <a:p>
            <a:pPr>
              <a:lnSpc>
                <a:spcPct val="104000"/>
              </a:lnSpc>
              <a:spcBef>
                <a:spcPts val="0"/>
              </a:spcBef>
              <a:spcAft>
                <a:spcPts val="0"/>
              </a:spcAft>
            </a:pPr>
            <a:r>
              <a:rPr sz="2300" b="1">
                <a:solidFill>
                  <a:srgbClr val="17212D"/>
                </a:solidFill>
                <a:latin typeface="Georgia" panose="02040502050405020303"/>
              </a:rPr>
              <a:t>Project-owned source code</a:t>
            </a:r>
            <a:endParaRPr sz="2300" b="1">
              <a:solidFill>
                <a:srgbClr val="17212D"/>
              </a:solidFill>
              <a:latin typeface="Georgia" panose="02040502050405020303"/>
            </a:endParaRPr>
          </a:p>
        </p:txBody>
      </p:sp>
      <p:sp>
        <p:nvSpPr>
          <p:cNvPr id="129" name="License choice 2"/>
          <p:cNvSpPr txBox="1"/>
          <p:nvPr/>
        </p:nvSpPr>
        <p:spPr>
          <a:xfrm>
            <a:off x="9784080" y="6245352"/>
            <a:ext cx="7333488" cy="384048"/>
          </a:xfrm>
          <a:prstGeom prst="rect">
            <a:avLst/>
          </a:prstGeom>
          <a:noFill/>
        </p:spPr>
        <p:txBody>
          <a:bodyPr wrap="square" lIns="0" tIns="0" rIns="0" bIns="0" anchor="t">
            <a:noAutofit/>
          </a:bodyPr>
          <a:lstStyle/>
          <a:p>
            <a:pPr>
              <a:lnSpc>
                <a:spcPct val="104000"/>
              </a:lnSpc>
              <a:spcBef>
                <a:spcPts val="0"/>
              </a:spcBef>
              <a:spcAft>
                <a:spcPts val="0"/>
              </a:spcAft>
            </a:pPr>
            <a:r>
              <a:rPr sz="2300" b="1">
                <a:solidFill>
                  <a:srgbClr val="27462D"/>
                </a:solidFill>
                <a:latin typeface="Georgia" panose="02040502050405020303"/>
              </a:rPr>
              <a:t>Apache License 2.0</a:t>
            </a:r>
            <a:endParaRPr sz="2300" b="1">
              <a:solidFill>
                <a:srgbClr val="27462D"/>
              </a:solidFill>
              <a:latin typeface="Georgia" panose="02040502050405020303"/>
            </a:endParaRPr>
          </a:p>
        </p:txBody>
      </p:sp>
      <p:sp>
        <p:nvSpPr>
          <p:cNvPr id="130" name="License scope 2"/>
          <p:cNvSpPr txBox="1"/>
          <p:nvPr/>
        </p:nvSpPr>
        <p:spPr>
          <a:xfrm>
            <a:off x="1078992" y="6675120"/>
            <a:ext cx="16038576" cy="438912"/>
          </a:xfrm>
          <a:prstGeom prst="rect">
            <a:avLst/>
          </a:prstGeom>
          <a:noFill/>
        </p:spPr>
        <p:txBody>
          <a:bodyPr wrap="square" lIns="0" tIns="0" rIns="0" bIns="0" anchor="t">
            <a:noAutofit/>
          </a:bodyPr>
          <a:lstStyle/>
          <a:p>
            <a:pPr>
              <a:lnSpc>
                <a:spcPct val="104000"/>
              </a:lnSpc>
              <a:spcBef>
                <a:spcPts val="0"/>
              </a:spcBef>
              <a:spcAft>
                <a:spcPts val="0"/>
              </a:spcAft>
            </a:pPr>
            <a:r>
              <a:rPr sz="2000" b="0">
                <a:solidFill>
                  <a:srgbClr val="17212D"/>
                </a:solidFill>
                <a:latin typeface="Georgia" panose="02040502050405020303"/>
              </a:rPr>
              <a:t>Software is licensed separately; third-party dependencies keep their licenses.</a:t>
            </a:r>
            <a:endParaRPr sz="2000" b="0">
              <a:solidFill>
                <a:srgbClr val="17212D"/>
              </a:solidFill>
              <a:latin typeface="Georgia" panose="02040502050405020303"/>
            </a:endParaRPr>
          </a:p>
        </p:txBody>
      </p:sp>
      <p:cxnSp>
        <p:nvCxnSpPr>
          <p:cNvPr id="131" name="License row rule 2"/>
          <p:cNvCxnSpPr/>
          <p:nvPr/>
        </p:nvCxnSpPr>
        <p:spPr>
          <a:xfrm>
            <a:off x="1078992" y="7150608"/>
            <a:ext cx="16038576" cy="0"/>
          </a:xfrm>
          <a:prstGeom prst="line">
            <a:avLst/>
          </a:prstGeom>
          <a:ln w="7620">
            <a:solidFill>
              <a:srgbClr val="D0BBA1"/>
            </a:solidFill>
          </a:ln>
        </p:spPr>
        <p:style>
          <a:lnRef idx="2">
            <a:schemeClr val="accent1"/>
          </a:lnRef>
          <a:fillRef idx="0">
            <a:schemeClr val="accent1"/>
          </a:fillRef>
          <a:effectRef idx="1">
            <a:schemeClr val="accent1"/>
          </a:effectRef>
          <a:fontRef idx="minor">
            <a:schemeClr val="tx1"/>
          </a:fontRef>
        </p:style>
      </p:cxnSp>
      <p:sp>
        <p:nvSpPr>
          <p:cNvPr id="132" name="License content 3"/>
          <p:cNvSpPr txBox="1"/>
          <p:nvPr/>
        </p:nvSpPr>
        <p:spPr>
          <a:xfrm>
            <a:off x="1078992" y="7260336"/>
            <a:ext cx="8092440" cy="384048"/>
          </a:xfrm>
          <a:prstGeom prst="rect">
            <a:avLst/>
          </a:prstGeom>
          <a:noFill/>
        </p:spPr>
        <p:txBody>
          <a:bodyPr wrap="square" lIns="0" tIns="0" rIns="0" bIns="0" anchor="t">
            <a:noAutofit/>
          </a:bodyPr>
          <a:lstStyle/>
          <a:p>
            <a:pPr>
              <a:lnSpc>
                <a:spcPct val="104000"/>
              </a:lnSpc>
              <a:spcBef>
                <a:spcPts val="0"/>
              </a:spcBef>
              <a:spcAft>
                <a:spcPts val="0"/>
              </a:spcAft>
            </a:pPr>
            <a:r>
              <a:rPr sz="2300" b="1">
                <a:solidFill>
                  <a:srgbClr val="17212D"/>
                </a:solidFill>
                <a:latin typeface="Georgia" panose="02040502050405020303"/>
              </a:rPr>
              <a:t>Article text and clinical images</a:t>
            </a:r>
            <a:endParaRPr sz="2300" b="1">
              <a:solidFill>
                <a:srgbClr val="17212D"/>
              </a:solidFill>
              <a:latin typeface="Georgia" panose="02040502050405020303"/>
            </a:endParaRPr>
          </a:p>
        </p:txBody>
      </p:sp>
      <p:sp>
        <p:nvSpPr>
          <p:cNvPr id="133" name="License choice 3"/>
          <p:cNvSpPr txBox="1"/>
          <p:nvPr/>
        </p:nvSpPr>
        <p:spPr>
          <a:xfrm>
            <a:off x="9784080" y="7260336"/>
            <a:ext cx="7333488" cy="384048"/>
          </a:xfrm>
          <a:prstGeom prst="rect">
            <a:avLst/>
          </a:prstGeom>
          <a:noFill/>
        </p:spPr>
        <p:txBody>
          <a:bodyPr wrap="square" lIns="0" tIns="0" rIns="0" bIns="0" anchor="t">
            <a:noAutofit/>
          </a:bodyPr>
          <a:lstStyle/>
          <a:p>
            <a:pPr>
              <a:lnSpc>
                <a:spcPct val="104000"/>
              </a:lnSpc>
              <a:spcBef>
                <a:spcPts val="0"/>
              </a:spcBef>
              <a:spcAft>
                <a:spcPts val="0"/>
              </a:spcAft>
            </a:pPr>
            <a:r>
              <a:rPr sz="2300" b="1">
                <a:solidFill>
                  <a:srgbClr val="27462D"/>
                </a:solidFill>
                <a:latin typeface="Georgia" panose="02040502050405020303"/>
              </a:rPr>
              <a:t>Original source licenses</a:t>
            </a:r>
            <a:endParaRPr sz="2300" b="1">
              <a:solidFill>
                <a:srgbClr val="27462D"/>
              </a:solidFill>
              <a:latin typeface="Georgia" panose="02040502050405020303"/>
            </a:endParaRPr>
          </a:p>
        </p:txBody>
      </p:sp>
      <p:sp>
        <p:nvSpPr>
          <p:cNvPr id="134" name="License scope 3"/>
          <p:cNvSpPr txBox="1"/>
          <p:nvPr/>
        </p:nvSpPr>
        <p:spPr>
          <a:xfrm>
            <a:off x="1078992" y="7690104"/>
            <a:ext cx="16038576" cy="438912"/>
          </a:xfrm>
          <a:prstGeom prst="rect">
            <a:avLst/>
          </a:prstGeom>
          <a:noFill/>
        </p:spPr>
        <p:txBody>
          <a:bodyPr wrap="square" lIns="0" tIns="0" rIns="0" bIns="0" anchor="t">
            <a:noAutofit/>
          </a:bodyPr>
          <a:lstStyle/>
          <a:p>
            <a:pPr>
              <a:lnSpc>
                <a:spcPct val="104000"/>
              </a:lnSpc>
              <a:spcBef>
                <a:spcPts val="0"/>
              </a:spcBef>
              <a:spcAft>
                <a:spcPts val="0"/>
              </a:spcAft>
            </a:pPr>
            <a:r>
              <a:rPr sz="2000" b="0">
                <a:solidFill>
                  <a:srgbClr val="17212D"/>
                </a:solidFill>
                <a:latin typeface="Georgia" panose="02040502050405020303"/>
              </a:rPr>
              <a:t>Preserve author and publisher terms, attribution, license links and notices of changes.</a:t>
            </a:r>
            <a:endParaRPr sz="2000" b="0">
              <a:solidFill>
                <a:srgbClr val="17212D"/>
              </a:solidFill>
              <a:latin typeface="Georgia" panose="02040502050405020303"/>
            </a:endParaRPr>
          </a:p>
        </p:txBody>
      </p:sp>
      <p:sp>
        <p:nvSpPr>
          <p:cNvPr id="135" name="Release rights review panel"/>
          <p:cNvSpPr/>
          <p:nvPr/>
        </p:nvSpPr>
        <p:spPr>
          <a:xfrm>
            <a:off x="950976" y="8458200"/>
            <a:ext cx="16294608" cy="896112"/>
          </a:xfrm>
          <a:prstGeom prst="roundRect">
            <a:avLst>
              <a:gd name="adj" fmla="val 8000"/>
            </a:avLst>
          </a:prstGeom>
          <a:solidFill>
            <a:srgbClr val="F0F3E9"/>
          </a:solidFill>
          <a:ln w="7620">
            <a:solidFill>
              <a:srgbClr val="D0BBA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Release rights review"/>
          <p:cNvSpPr txBox="1"/>
          <p:nvPr/>
        </p:nvSpPr>
        <p:spPr>
          <a:xfrm>
            <a:off x="1078992" y="8613648"/>
            <a:ext cx="16038576" cy="585216"/>
          </a:xfrm>
          <a:prstGeom prst="rect">
            <a:avLst/>
          </a:prstGeom>
          <a:noFill/>
        </p:spPr>
        <p:txBody>
          <a:bodyPr wrap="square" lIns="0" tIns="0" rIns="0" bIns="0" anchor="t">
            <a:noAutofit/>
          </a:bodyPr>
          <a:lstStyle/>
          <a:p>
            <a:pPr>
              <a:lnSpc>
                <a:spcPct val="104000"/>
              </a:lnSpc>
              <a:spcBef>
                <a:spcPts val="0"/>
              </a:spcBef>
              <a:spcAft>
                <a:spcPts val="0"/>
              </a:spcAft>
            </a:pPr>
            <a:r>
              <a:rPr sz="1820" b="1">
                <a:solidFill>
                  <a:srgbClr val="27462D"/>
                </a:solidFill>
                <a:latin typeface="Georgia" panose="02040502050405020303"/>
              </a:rPr>
              <a:t>Repository: Medical-Doctors-Last-Exam/mdle</a:t>
            </a:r>
            <a:endParaRPr sz="1820" b="1">
              <a:solidFill>
                <a:srgbClr val="27462D"/>
              </a:solidFill>
              <a:latin typeface="Georgia" panose="02040502050405020303"/>
            </a:endParaRPr>
          </a:p>
          <a:p>
            <a:pPr>
              <a:lnSpc>
                <a:spcPct val="104000"/>
              </a:lnSpc>
              <a:spcBef>
                <a:spcPts val="0"/>
              </a:spcBef>
              <a:spcAft>
                <a:spcPts val="0"/>
              </a:spcAft>
            </a:pPr>
            <a:r>
              <a:rPr sz="1820" b="1">
                <a:solidFill>
                  <a:srgbClr val="27462D"/>
                </a:solidFill>
                <a:latin typeface="Georgia" panose="02040502050405020303"/>
              </a:rPr>
              <a:t>Release review: verify contributor grants and source/image reuse rights.</a:t>
            </a:r>
            <a:endParaRPr sz="1820" b="1">
              <a:solidFill>
                <a:srgbClr val="27462D"/>
              </a:solidFill>
              <a:latin typeface="Georgia" panose="020405020504050203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Background — burgundy masthead, ivory paper, and burgundy footer" descr="image.jpeg"/>
          <p:cNvPicPr>
            <a:picLocks noGrp="1" noRot="1" noChangeAspect="1" noMove="1" noResize="1" noEditPoints="1" noAdjustHandles="1" noChangeArrowheads="1" noChangeShapeType="1" noCrop="1"/>
          </p:cNvPicPr>
          <p:nvPr/>
        </p:nvPicPr>
        <p:blipFill>
          <a:blip r:embed="rId1"/>
          <a:stretch>
            <a:fillRect/>
          </a:stretch>
        </p:blipFill>
        <p:spPr>
          <a:xfrm>
            <a:off x="0" y="0"/>
            <a:ext cx="18288000" cy="10287000"/>
          </a:xfrm>
          <a:prstGeom prst="rect">
            <a:avLst/>
          </a:prstGeom>
        </p:spPr>
      </p:pic>
      <p:sp>
        <p:nvSpPr>
          <p:cNvPr id="3" name="Title — Medical Doctor's Last Exam"/>
          <p:cNvSpPr txBox="1"/>
          <p:nvPr/>
        </p:nvSpPr>
        <p:spPr>
          <a:xfrm>
            <a:off x="521207" y="219456"/>
            <a:ext cx="14356080" cy="749808"/>
          </a:xfrm>
          <a:prstGeom prst="rect">
            <a:avLst/>
          </a:prstGeom>
          <a:noFill/>
        </p:spPr>
        <p:txBody>
          <a:bodyPr wrap="square" lIns="0" tIns="0" rIns="0" bIns="0" anchor="ctr">
            <a:noAutofit/>
          </a:bodyPr>
          <a:lstStyle/>
          <a:p>
            <a:pPr algn="l">
              <a:spcBef>
                <a:spcPts val="0"/>
              </a:spcBef>
              <a:spcAft>
                <a:spcPts val="0"/>
              </a:spcAft>
            </a:pPr>
            <a:r>
              <a:rPr sz="4600" b="1" i="0">
                <a:solidFill>
                  <a:srgbClr val="FFFDF8"/>
                </a:solidFill>
                <a:latin typeface="Georgia" panose="02040502050405020303"/>
              </a:rPr>
              <a:t>Medical Doctor’s Last Exam</a:t>
            </a:r>
            <a:endParaRPr sz="4600" b="1" i="0">
              <a:solidFill>
                <a:srgbClr val="FFFDF8"/>
              </a:solidFill>
              <a:latin typeface="Georgia" panose="02040502050405020303"/>
            </a:endParaRPr>
          </a:p>
        </p:txBody>
      </p:sp>
      <p:sp>
        <p:nvSpPr>
          <p:cNvPr id="4" name="Subtitle — benchmark and expert review"/>
          <p:cNvSpPr txBox="1"/>
          <p:nvPr/>
        </p:nvSpPr>
        <p:spPr>
          <a:xfrm>
            <a:off x="521207" y="987552"/>
            <a:ext cx="14356080" cy="841248"/>
          </a:xfrm>
          <a:prstGeom prst="rect">
            <a:avLst/>
          </a:prstGeom>
          <a:noFill/>
        </p:spPr>
        <p:txBody>
          <a:bodyPr wrap="square" lIns="0" tIns="0" rIns="0" bIns="0" anchor="t">
            <a:noAutofit/>
          </a:bodyPr>
          <a:lstStyle/>
          <a:p>
            <a:pPr algn="l">
              <a:lnSpc>
                <a:spcPts val="2500"/>
              </a:lnSpc>
              <a:spcBef>
                <a:spcPts val="0"/>
              </a:spcBef>
              <a:spcAft>
                <a:spcPts val="0"/>
              </a:spcAft>
            </a:pPr>
            <a:r>
              <a:rPr sz="2050" b="0" i="1">
                <a:solidFill>
                  <a:srgbClr val="FFFDF8"/>
                </a:solidFill>
                <a:latin typeface="Georgia" panose="02040502050405020303"/>
              </a:rPr>
              <a:t>Project timeline and research plan</a:t>
            </a:r>
            <a:br>
              <a:rPr sz="2050" b="0" i="1">
                <a:solidFill>
                  <a:srgbClr val="FFFDF8"/>
                </a:solidFill>
                <a:latin typeface="Georgia" panose="02040502050405020303"/>
              </a:rPr>
            </a:br>
            <a:r>
              <a:rPr sz="2050" b="0" i="1">
                <a:solidFill>
                  <a:srgbClr val="FFFDF8"/>
                </a:solidFill>
                <a:latin typeface="Georgia" panose="02040502050405020303"/>
              </a:rPr>
              <a:t>October 2026–March 2027 milestones are planned targets</a:t>
            </a:r>
            <a:endParaRPr sz="2050" b="0" i="1">
              <a:solidFill>
                <a:srgbClr val="FFFDF8"/>
              </a:solidFill>
              <a:latin typeface="Georgia" panose="02040502050405020303"/>
            </a:endParaRPr>
          </a:p>
        </p:txBody>
      </p:sp>
      <p:sp>
        <p:nvSpPr>
          <p:cNvPr id="8" name="Left panel — case report to image question"/>
          <p:cNvSpPr>
            <a:spLocks noGrp="1" noRot="1" noMove="1" noResize="1" noEditPoints="1" noAdjustHandles="1" noChangeArrowheads="1" noChangeShapeType="1"/>
          </p:cNvSpPr>
          <p:nvPr/>
        </p:nvSpPr>
        <p:spPr>
          <a:xfrm>
            <a:off x="316536" y="2167129"/>
            <a:ext cx="17654928" cy="7238688"/>
          </a:xfrm>
          <a:prstGeom prst="roundRect">
            <a:avLst>
              <a:gd name="adj" fmla="val 2800"/>
            </a:avLst>
          </a:prstGeom>
          <a:solidFill>
            <a:srgbClr val="FEFCF8"/>
          </a:solidFill>
          <a:ln w="9525">
            <a:solidFill>
              <a:srgbClr val="D0BBA1"/>
            </a:solidFill>
          </a:ln>
          <a:effectLst>
            <a:outerShdw blurRad="95250" dist="38100" dir="5400000" algn="ctr" rotWithShape="0">
              <a:srgbClr val="6E635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Medical Doctor's Last Exam wordmark box"/>
          <p:cNvSpPr/>
          <p:nvPr/>
        </p:nvSpPr>
        <p:spPr>
          <a:xfrm>
            <a:off x="15773400" y="310896"/>
            <a:ext cx="1947672" cy="1389888"/>
          </a:xfrm>
          <a:prstGeom prst="rect">
            <a:avLst/>
          </a:prstGeom>
          <a:noFill/>
          <a:ln w="22860">
            <a:solidFill>
              <a:srgbClr val="FFF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Medical Doctor's Last Exam wordmark"/>
          <p:cNvSpPr txBox="1"/>
          <p:nvPr/>
        </p:nvSpPr>
        <p:spPr>
          <a:xfrm>
            <a:off x="15956280" y="438912"/>
            <a:ext cx="1600200" cy="1115568"/>
          </a:xfrm>
          <a:prstGeom prst="rect">
            <a:avLst/>
          </a:prstGeom>
          <a:noFill/>
        </p:spPr>
        <p:txBody>
          <a:bodyPr wrap="square" lIns="0" tIns="0" rIns="0" bIns="0" anchor="t">
            <a:spAutoFit/>
          </a:bodyPr>
          <a:lstStyle/>
          <a:p>
            <a:pPr algn="l">
              <a:lnSpc>
                <a:spcPts val="2500"/>
              </a:lnSpc>
            </a:pPr>
            <a:r>
              <a:rPr sz="1950" b="1" i="0">
                <a:solidFill>
                  <a:srgbClr val="FFFDF8"/>
                </a:solidFill>
                <a:latin typeface="Georgia" panose="02040502050405020303"/>
              </a:rPr>
              <a:t>MEDICAL
DOCTOR’S
LAST EXAM</a:t>
            </a:r>
            <a:endParaRPr sz="1950" b="1" i="0">
              <a:solidFill>
                <a:srgbClr val="FFFDF8"/>
              </a:solidFill>
              <a:latin typeface="Georgia" panose="02040502050405020303"/>
            </a:endParaRPr>
          </a:p>
        </p:txBody>
      </p:sp>
      <p:sp>
        <p:nvSpPr>
          <p:cNvPr id="115" name="Footer statement"/>
          <p:cNvSpPr txBox="1"/>
          <p:nvPr/>
        </p:nvSpPr>
        <p:spPr>
          <a:xfrm>
            <a:off x="4389120" y="9729216"/>
            <a:ext cx="9509760" cy="438912"/>
          </a:xfrm>
          <a:prstGeom prst="rect">
            <a:avLst/>
          </a:prstGeom>
          <a:noFill/>
        </p:spPr>
        <p:txBody>
          <a:bodyPr wrap="square" lIns="0" tIns="0" rIns="0" bIns="0" anchor="ctr">
            <a:spAutoFit/>
          </a:bodyPr>
          <a:lstStyle/>
          <a:p>
            <a:pPr algn="ctr"/>
            <a:r>
              <a:rPr sz="2400" b="0" i="1" dirty="0">
                <a:solidFill>
                  <a:srgbClr val="FFFDF8"/>
                </a:solidFill>
                <a:latin typeface="Georgia" panose="02040502050405020303"/>
              </a:rPr>
              <a:t>A living benchmark for next-generation medical AI</a:t>
            </a:r>
            <a:endParaRPr sz="2400" b="0" i="1" dirty="0">
              <a:solidFill>
                <a:srgbClr val="FFFDF8"/>
              </a:solidFill>
              <a:latin typeface="Georgia" panose="02040502050405020303"/>
            </a:endParaRPr>
          </a:p>
        </p:txBody>
      </p:sp>
      <p:cxnSp>
        <p:nvCxnSpPr>
          <p:cNvPr id="116" name="Footer rule left"/>
          <p:cNvCxnSpPr/>
          <p:nvPr/>
        </p:nvCxnSpPr>
        <p:spPr>
          <a:xfrm>
            <a:off x="2302991" y="9963600"/>
            <a:ext cx="2807208" cy="0"/>
          </a:xfrm>
          <a:prstGeom prst="line">
            <a:avLst/>
          </a:prstGeom>
          <a:ln w="9525">
            <a:solidFill>
              <a:srgbClr val="D2B47A"/>
            </a:solidFill>
          </a:ln>
        </p:spPr>
        <p:style>
          <a:lnRef idx="2">
            <a:schemeClr val="accent1"/>
          </a:lnRef>
          <a:fillRef idx="0">
            <a:schemeClr val="accent1"/>
          </a:fillRef>
          <a:effectRef idx="1">
            <a:schemeClr val="accent1"/>
          </a:effectRef>
          <a:fontRef idx="minor">
            <a:schemeClr val="tx1"/>
          </a:fontRef>
        </p:style>
      </p:cxnSp>
      <p:sp>
        <p:nvSpPr>
          <p:cNvPr id="117" name="Footer diamond left"/>
          <p:cNvSpPr/>
          <p:nvPr/>
        </p:nvSpPr>
        <p:spPr>
          <a:xfrm>
            <a:off x="5174207" y="9872160"/>
            <a:ext cx="182880" cy="182880"/>
          </a:xfrm>
          <a:prstGeom prst="diamond">
            <a:avLst/>
          </a:prstGeom>
          <a:solidFill>
            <a:srgbClr val="D2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ooter diamond right"/>
          <p:cNvSpPr/>
          <p:nvPr/>
        </p:nvSpPr>
        <p:spPr>
          <a:xfrm>
            <a:off x="12930915" y="9865742"/>
            <a:ext cx="182880" cy="182880"/>
          </a:xfrm>
          <a:prstGeom prst="diamond">
            <a:avLst/>
          </a:prstGeom>
          <a:solidFill>
            <a:srgbClr val="D2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Expert-review rubric heading"/>
          <p:cNvSpPr txBox="1"/>
          <p:nvPr/>
        </p:nvSpPr>
        <p:spPr>
          <a:xfrm>
            <a:off x="1082235" y="2638770"/>
            <a:ext cx="6108192" cy="492443"/>
          </a:xfrm>
          <a:prstGeom prst="rect">
            <a:avLst/>
          </a:prstGeom>
          <a:noFill/>
        </p:spPr>
        <p:txBody>
          <a:bodyPr wrap="square" lIns="0" tIns="0" rIns="0" bIns="0" anchor="ctr">
            <a:spAutoFit/>
          </a:bodyPr>
          <a:lstStyle/>
          <a:p>
            <a:pPr algn="l">
              <a:spcBef>
                <a:spcPts val="0"/>
              </a:spcBef>
              <a:spcAft>
                <a:spcPts val="0"/>
              </a:spcAft>
            </a:pPr>
            <a:r>
              <a:rPr lang="en-US" sz="3200" b="1" i="0" dirty="0">
                <a:solidFill>
                  <a:srgbClr val="27462D"/>
                </a:solidFill>
                <a:latin typeface="Georgia" panose="02040502050405020303"/>
              </a:rPr>
              <a:t>Timeline</a:t>
            </a:r>
            <a:endParaRPr sz="3200" b="1" i="0" dirty="0">
              <a:solidFill>
                <a:srgbClr val="27462D"/>
              </a:solidFill>
              <a:latin typeface="Georgia" panose="02040502050405020303"/>
            </a:endParaRPr>
          </a:p>
        </p:txBody>
      </p:sp>
      <p:sp>
        <p:nvSpPr>
          <p:cNvPr id="121" name="Expert rubric finding 1"/>
          <p:cNvSpPr txBox="1"/>
          <p:nvPr/>
        </p:nvSpPr>
        <p:spPr>
          <a:xfrm>
            <a:off x="1754351" y="3399025"/>
            <a:ext cx="10519029" cy="492443"/>
          </a:xfrm>
          <a:prstGeom prst="rect">
            <a:avLst/>
          </a:prstGeom>
          <a:noFill/>
        </p:spPr>
        <p:txBody>
          <a:bodyPr wrap="square" lIns="0" tIns="0" rIns="0" bIns="0" anchor="ctr">
            <a:spAutoFit/>
          </a:bodyPr>
          <a:lstStyle/>
          <a:p>
            <a:r>
              <a:rPr lang="en-US" sz="3200" b="1" i="0" dirty="0">
                <a:solidFill>
                  <a:srgbClr val="17212D"/>
                </a:solidFill>
                <a:latin typeface="Georgia" panose="02040502050405020303"/>
              </a:rPr>
              <a:t>May-Aug, 2026</a:t>
            </a:r>
            <a:endParaRPr sz="3200" b="0" i="0" dirty="0">
              <a:solidFill>
                <a:srgbClr val="17212D"/>
              </a:solidFill>
              <a:latin typeface="Georgia" panose="02040502050405020303"/>
            </a:endParaRPr>
          </a:p>
        </p:txBody>
      </p:sp>
      <p:cxnSp>
        <p:nvCxnSpPr>
          <p:cNvPr id="122" name="Expert rubric row divider 1"/>
          <p:cNvCxnSpPr/>
          <p:nvPr/>
        </p:nvCxnSpPr>
        <p:spPr>
          <a:xfrm>
            <a:off x="1754351" y="4008660"/>
            <a:ext cx="14201929" cy="0"/>
          </a:xfrm>
          <a:prstGeom prst="line">
            <a:avLst/>
          </a:prstGeom>
          <a:ln w="7620">
            <a:solidFill>
              <a:srgbClr val="DED7CC"/>
            </a:solidFill>
            <a:prstDash val="sysDot"/>
          </a:ln>
        </p:spPr>
        <p:style>
          <a:lnRef idx="2">
            <a:schemeClr val="accent1"/>
          </a:lnRef>
          <a:fillRef idx="0">
            <a:schemeClr val="accent1"/>
          </a:fillRef>
          <a:effectRef idx="1">
            <a:schemeClr val="accent1"/>
          </a:effectRef>
          <a:fontRef idx="minor">
            <a:schemeClr val="tx1"/>
          </a:fontRef>
        </p:style>
      </p:cxnSp>
      <p:cxnSp>
        <p:nvCxnSpPr>
          <p:cNvPr id="129" name="Expert rubric row divider 2"/>
          <p:cNvCxnSpPr/>
          <p:nvPr/>
        </p:nvCxnSpPr>
        <p:spPr>
          <a:xfrm>
            <a:off x="1747600" y="4706169"/>
            <a:ext cx="14208680" cy="0"/>
          </a:xfrm>
          <a:prstGeom prst="line">
            <a:avLst/>
          </a:prstGeom>
          <a:ln w="7620">
            <a:solidFill>
              <a:srgbClr val="DED7CC"/>
            </a:solidFill>
            <a:prstDash val="sysDot"/>
          </a:ln>
        </p:spPr>
        <p:style>
          <a:lnRef idx="2">
            <a:schemeClr val="accent1"/>
          </a:lnRef>
          <a:fillRef idx="0">
            <a:schemeClr val="accent1"/>
          </a:fillRef>
          <a:effectRef idx="1">
            <a:schemeClr val="accent1"/>
          </a:effectRef>
          <a:fontRef idx="minor">
            <a:schemeClr val="tx1"/>
          </a:fontRef>
        </p:style>
      </p:cxnSp>
      <p:cxnSp>
        <p:nvCxnSpPr>
          <p:cNvPr id="136" name="Expert rubric row divider 3"/>
          <p:cNvCxnSpPr/>
          <p:nvPr/>
        </p:nvCxnSpPr>
        <p:spPr>
          <a:xfrm>
            <a:off x="1747600" y="5523318"/>
            <a:ext cx="14275764" cy="0"/>
          </a:xfrm>
          <a:prstGeom prst="line">
            <a:avLst/>
          </a:prstGeom>
          <a:ln w="7620">
            <a:solidFill>
              <a:srgbClr val="DED7CC"/>
            </a:solidFill>
            <a:prstDash val="sysDot"/>
          </a:ln>
        </p:spPr>
        <p:style>
          <a:lnRef idx="2">
            <a:schemeClr val="accent1"/>
          </a:lnRef>
          <a:fillRef idx="0">
            <a:schemeClr val="accent1"/>
          </a:fillRef>
          <a:effectRef idx="1">
            <a:schemeClr val="accent1"/>
          </a:effectRef>
          <a:fontRef idx="minor">
            <a:schemeClr val="tx1"/>
          </a:fontRef>
        </p:style>
      </p:cxnSp>
      <p:grpSp>
        <p:nvGrpSpPr>
          <p:cNvPr id="164" name="Group 163"/>
          <p:cNvGrpSpPr/>
          <p:nvPr/>
        </p:nvGrpSpPr>
        <p:grpSpPr>
          <a:xfrm>
            <a:off x="1176238" y="6473952"/>
            <a:ext cx="402336" cy="402336"/>
            <a:chOff x="1100518" y="7623622"/>
            <a:chExt cx="402336" cy="402336"/>
          </a:xfrm>
        </p:grpSpPr>
        <p:sp>
          <p:nvSpPr>
            <p:cNvPr id="139" name="Expert rubric status 4 — circle"/>
            <p:cNvSpPr/>
            <p:nvPr/>
          </p:nvSpPr>
          <p:spPr>
            <a:xfrm>
              <a:off x="1100518" y="7623622"/>
              <a:ext cx="402336" cy="402336"/>
            </a:xfrm>
            <a:prstGeom prst="ellipse">
              <a:avLst/>
            </a:prstGeom>
            <a:solidFill>
              <a:srgbClr val="274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Expert rubric status 4 — star"/>
            <p:cNvSpPr/>
            <p:nvPr/>
          </p:nvSpPr>
          <p:spPr>
            <a:xfrm>
              <a:off x="1201101" y="7720182"/>
              <a:ext cx="201168" cy="201168"/>
            </a:xfrm>
            <a:prstGeom prst="star5">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46" name="Expert rubric finding 1"/>
          <p:cNvSpPr txBox="1"/>
          <p:nvPr/>
        </p:nvSpPr>
        <p:spPr>
          <a:xfrm>
            <a:off x="1754351" y="4156353"/>
            <a:ext cx="3065477" cy="492443"/>
          </a:xfrm>
          <a:prstGeom prst="rect">
            <a:avLst/>
          </a:prstGeom>
          <a:noFill/>
        </p:spPr>
        <p:txBody>
          <a:bodyPr wrap="square" lIns="0" tIns="0" rIns="0" bIns="0" anchor="ctr">
            <a:spAutoFit/>
          </a:bodyPr>
          <a:lstStyle/>
          <a:p>
            <a:r>
              <a:rPr lang="en-US" sz="3200" b="1" i="0" dirty="0">
                <a:solidFill>
                  <a:srgbClr val="17212D"/>
                </a:solidFill>
                <a:latin typeface="Georgia" panose="02040502050405020303"/>
              </a:rPr>
              <a:t>Aug 28, 2026</a:t>
            </a:r>
            <a:endParaRPr sz="3200" b="0" i="0" dirty="0">
              <a:solidFill>
                <a:srgbClr val="17212D"/>
              </a:solidFill>
              <a:latin typeface="Georgia" panose="02040502050405020303"/>
            </a:endParaRPr>
          </a:p>
        </p:txBody>
      </p:sp>
      <p:sp>
        <p:nvSpPr>
          <p:cNvPr id="148" name="TextBox 147"/>
          <p:cNvSpPr txBox="1"/>
          <p:nvPr/>
        </p:nvSpPr>
        <p:spPr>
          <a:xfrm>
            <a:off x="6195701" y="3429074"/>
            <a:ext cx="9144000" cy="461665"/>
          </a:xfrm>
          <a:prstGeom prst="rect">
            <a:avLst/>
          </a:prstGeom>
          <a:noFill/>
        </p:spPr>
        <p:txBody>
          <a:bodyPr wrap="square">
            <a:spAutoFit/>
          </a:bodyPr>
          <a:lstStyle/>
          <a:p>
            <a:r>
              <a:rPr lang="en-US" altLang="zh-CN" sz="2400" dirty="0">
                <a:solidFill>
                  <a:srgbClr val="17212D"/>
                </a:solidFill>
                <a:latin typeface="Georgia" panose="02040502050405020303"/>
              </a:rPr>
              <a:t>Hiring Advisory </a:t>
            </a:r>
            <a:r>
              <a:rPr lang="en-US" altLang="zh-CN" sz="2400" b="0" i="0" dirty="0">
                <a:solidFill>
                  <a:srgbClr val="17212D"/>
                </a:solidFill>
                <a:latin typeface="Georgia" panose="02040502050405020303"/>
              </a:rPr>
              <a:t>Committee Member</a:t>
            </a:r>
            <a:endParaRPr lang="zh-CN" altLang="en-US" sz="1100" dirty="0"/>
          </a:p>
        </p:txBody>
      </p:sp>
      <p:sp>
        <p:nvSpPr>
          <p:cNvPr id="150" name="Expert rubric finding 1"/>
          <p:cNvSpPr txBox="1"/>
          <p:nvPr/>
        </p:nvSpPr>
        <p:spPr>
          <a:xfrm>
            <a:off x="1754351" y="4897278"/>
            <a:ext cx="3065477" cy="492443"/>
          </a:xfrm>
          <a:prstGeom prst="rect">
            <a:avLst/>
          </a:prstGeom>
          <a:noFill/>
        </p:spPr>
        <p:txBody>
          <a:bodyPr wrap="square" lIns="0" tIns="0" rIns="0" bIns="0" anchor="ctr">
            <a:spAutoFit/>
          </a:bodyPr>
          <a:lstStyle/>
          <a:p>
            <a:r>
              <a:rPr lang="en-US" sz="3200" b="1" i="0" dirty="0">
                <a:solidFill>
                  <a:srgbClr val="17212D"/>
                </a:solidFill>
                <a:latin typeface="Georgia" panose="02040502050405020303"/>
              </a:rPr>
              <a:t>Sep 4, 2026</a:t>
            </a:r>
            <a:endParaRPr sz="3200" b="0" i="0" dirty="0">
              <a:solidFill>
                <a:srgbClr val="17212D"/>
              </a:solidFill>
              <a:latin typeface="Georgia" panose="02040502050405020303"/>
            </a:endParaRPr>
          </a:p>
        </p:txBody>
      </p:sp>
      <p:sp>
        <p:nvSpPr>
          <p:cNvPr id="152" name="TextBox 151"/>
          <p:cNvSpPr txBox="1"/>
          <p:nvPr/>
        </p:nvSpPr>
        <p:spPr>
          <a:xfrm>
            <a:off x="6195701" y="4107899"/>
            <a:ext cx="9144000" cy="461665"/>
          </a:xfrm>
          <a:prstGeom prst="rect">
            <a:avLst/>
          </a:prstGeom>
          <a:noFill/>
        </p:spPr>
        <p:txBody>
          <a:bodyPr wrap="square">
            <a:spAutoFit/>
          </a:bodyPr>
          <a:lstStyle/>
          <a:p>
            <a:r>
              <a:rPr lang="en-US" altLang="zh-CN" sz="2400" b="0" i="0" dirty="0">
                <a:solidFill>
                  <a:srgbClr val="17212D"/>
                </a:solidFill>
                <a:latin typeface="Georgia" panose="02040502050405020303"/>
              </a:rPr>
              <a:t>New Website Beta Version Release</a:t>
            </a:r>
            <a:endParaRPr lang="zh-CN" altLang="en-US" sz="1100" dirty="0"/>
          </a:p>
        </p:txBody>
      </p:sp>
      <p:sp>
        <p:nvSpPr>
          <p:cNvPr id="154" name="TextBox 153"/>
          <p:cNvSpPr txBox="1"/>
          <p:nvPr/>
        </p:nvSpPr>
        <p:spPr>
          <a:xfrm>
            <a:off x="6195701" y="4896912"/>
            <a:ext cx="10344699" cy="461665"/>
          </a:xfrm>
          <a:prstGeom prst="rect">
            <a:avLst/>
          </a:prstGeom>
          <a:noFill/>
        </p:spPr>
        <p:txBody>
          <a:bodyPr wrap="square">
            <a:spAutoFit/>
          </a:bodyPr>
          <a:lstStyle/>
          <a:p>
            <a:r>
              <a:rPr lang="en-US" altLang="zh-CN" sz="2400" b="0" i="0" dirty="0">
                <a:solidFill>
                  <a:srgbClr val="17212D"/>
                </a:solidFill>
                <a:latin typeface="Georgia" panose="02040502050405020303"/>
              </a:rPr>
              <a:t>Inner testing with CS/Health </a:t>
            </a:r>
            <a:r>
              <a:rPr lang="en-US" altLang="zh-CN" sz="2400" dirty="0">
                <a:solidFill>
                  <a:srgbClr val="17212D"/>
                </a:solidFill>
                <a:latin typeface="Georgia" panose="02040502050405020303"/>
              </a:rPr>
              <a:t>PhD Students in UIUC and Collaborators</a:t>
            </a:r>
            <a:endParaRPr lang="zh-CN" altLang="en-US" sz="1100" dirty="0"/>
          </a:p>
        </p:txBody>
      </p:sp>
      <p:cxnSp>
        <p:nvCxnSpPr>
          <p:cNvPr id="159" name="Expert rubric row divider 3"/>
          <p:cNvCxnSpPr/>
          <p:nvPr/>
        </p:nvCxnSpPr>
        <p:spPr>
          <a:xfrm>
            <a:off x="1707448" y="6282470"/>
            <a:ext cx="14275764" cy="0"/>
          </a:xfrm>
          <a:prstGeom prst="line">
            <a:avLst/>
          </a:prstGeom>
          <a:ln w="7620">
            <a:solidFill>
              <a:srgbClr val="DED7CC"/>
            </a:solidFill>
            <a:prstDash val="sysDot"/>
          </a:ln>
        </p:spPr>
        <p:style>
          <a:lnRef idx="2">
            <a:schemeClr val="accent1"/>
          </a:lnRef>
          <a:fillRef idx="0">
            <a:schemeClr val="accent1"/>
          </a:fillRef>
          <a:effectRef idx="1">
            <a:schemeClr val="accent1"/>
          </a:effectRef>
          <a:fontRef idx="minor">
            <a:schemeClr val="tx1"/>
          </a:fontRef>
        </p:style>
      </p:cxnSp>
      <p:sp>
        <p:nvSpPr>
          <p:cNvPr id="161" name="Expert rubric finding 1"/>
          <p:cNvSpPr txBox="1"/>
          <p:nvPr/>
        </p:nvSpPr>
        <p:spPr>
          <a:xfrm>
            <a:off x="1754351" y="5665344"/>
            <a:ext cx="3065477" cy="492443"/>
          </a:xfrm>
          <a:prstGeom prst="rect">
            <a:avLst/>
          </a:prstGeom>
          <a:noFill/>
        </p:spPr>
        <p:txBody>
          <a:bodyPr wrap="square" lIns="0" tIns="0" rIns="0" bIns="0" anchor="ctr">
            <a:spAutoFit/>
          </a:bodyPr>
          <a:lstStyle/>
          <a:p>
            <a:r>
              <a:rPr lang="en-US" sz="3200" b="1" i="0" dirty="0">
                <a:solidFill>
                  <a:srgbClr val="17212D"/>
                </a:solidFill>
                <a:latin typeface="Georgia" panose="02040502050405020303"/>
              </a:rPr>
              <a:t>Sep 11, 2026</a:t>
            </a:r>
            <a:endParaRPr sz="3200" b="0" i="0" dirty="0">
              <a:solidFill>
                <a:srgbClr val="17212D"/>
              </a:solidFill>
              <a:latin typeface="Georgia" panose="02040502050405020303"/>
            </a:endParaRPr>
          </a:p>
        </p:txBody>
      </p:sp>
      <p:sp>
        <p:nvSpPr>
          <p:cNvPr id="163" name="TextBox 162"/>
          <p:cNvSpPr txBox="1"/>
          <p:nvPr/>
        </p:nvSpPr>
        <p:spPr>
          <a:xfrm>
            <a:off x="6188950" y="5717526"/>
            <a:ext cx="10344699" cy="461665"/>
          </a:xfrm>
          <a:prstGeom prst="rect">
            <a:avLst/>
          </a:prstGeom>
          <a:noFill/>
        </p:spPr>
        <p:txBody>
          <a:bodyPr wrap="square">
            <a:spAutoFit/>
          </a:bodyPr>
          <a:lstStyle/>
          <a:p>
            <a:r>
              <a:rPr lang="en-US" altLang="zh-CN" sz="2400" b="0" i="0" dirty="0">
                <a:solidFill>
                  <a:srgbClr val="17212D"/>
                </a:solidFill>
                <a:latin typeface="Georgia" panose="02040502050405020303"/>
              </a:rPr>
              <a:t>Release the website to public for data collection and outreach</a:t>
            </a:r>
            <a:endParaRPr lang="zh-CN" altLang="en-US" sz="1100" dirty="0"/>
          </a:p>
        </p:txBody>
      </p:sp>
      <p:sp>
        <p:nvSpPr>
          <p:cNvPr id="165" name="Planned timeline 1 date"/>
          <p:cNvSpPr txBox="1"/>
          <p:nvPr/>
        </p:nvSpPr>
        <p:spPr>
          <a:xfrm>
            <a:off x="1755648" y="6446520"/>
            <a:ext cx="3931920" cy="493776"/>
          </a:xfrm>
          <a:prstGeom prst="rect">
            <a:avLst/>
          </a:prstGeom>
          <a:noFill/>
        </p:spPr>
        <p:txBody>
          <a:bodyPr wrap="square" lIns="0" tIns="0" rIns="0" bIns="0" anchor="t">
            <a:noAutofit/>
          </a:bodyPr>
          <a:lstStyle/>
          <a:p>
            <a:pPr>
              <a:lnSpc>
                <a:spcPct val="104000"/>
              </a:lnSpc>
              <a:spcBef>
                <a:spcPts val="0"/>
              </a:spcBef>
              <a:spcAft>
                <a:spcPts val="0"/>
              </a:spcAft>
            </a:pPr>
            <a:r>
              <a:rPr sz="2700" b="1">
                <a:solidFill>
                  <a:srgbClr val="17212D"/>
                </a:solidFill>
                <a:latin typeface="Georgia" panose="02040502050405020303"/>
              </a:rPr>
              <a:t>Oct 2026</a:t>
            </a:r>
            <a:endParaRPr sz="2700" b="1">
              <a:solidFill>
                <a:srgbClr val="17212D"/>
              </a:solidFill>
              <a:latin typeface="Georgia" panose="02040502050405020303"/>
            </a:endParaRPr>
          </a:p>
        </p:txBody>
      </p:sp>
      <p:sp>
        <p:nvSpPr>
          <p:cNvPr id="166" name="Planned timeline 1 description"/>
          <p:cNvSpPr txBox="1"/>
          <p:nvPr/>
        </p:nvSpPr>
        <p:spPr>
          <a:xfrm>
            <a:off x="6199632" y="6473952"/>
            <a:ext cx="10341864" cy="548640"/>
          </a:xfrm>
          <a:prstGeom prst="rect">
            <a:avLst/>
          </a:prstGeom>
          <a:noFill/>
        </p:spPr>
        <p:txBody>
          <a:bodyPr wrap="square" lIns="0" tIns="0" rIns="0" bIns="0" anchor="t">
            <a:noAutofit/>
          </a:bodyPr>
          <a:lstStyle/>
          <a:p>
            <a:pPr>
              <a:lnSpc>
                <a:spcPct val="104000"/>
              </a:lnSpc>
              <a:spcBef>
                <a:spcPts val="0"/>
              </a:spcBef>
              <a:spcAft>
                <a:spcPts val="0"/>
              </a:spcAft>
            </a:pPr>
            <a:r>
              <a:rPr sz="2200" b="0">
                <a:solidFill>
                  <a:srgbClr val="17212D"/>
                </a:solidFill>
                <a:latin typeface="Georgia" panose="02040502050405020303"/>
              </a:rPr>
              <a:t>Validate the benchmark and target an initial arXiv submission.</a:t>
            </a:r>
            <a:endParaRPr sz="2200" b="0">
              <a:solidFill>
                <a:srgbClr val="17212D"/>
              </a:solidFill>
              <a:latin typeface="Georgia" panose="02040502050405020303"/>
            </a:endParaRPr>
          </a:p>
        </p:txBody>
      </p:sp>
      <p:cxnSp>
        <p:nvCxnSpPr>
          <p:cNvPr id="167" name="Planned timeline 1 divider"/>
          <p:cNvCxnSpPr/>
          <p:nvPr/>
        </p:nvCxnSpPr>
        <p:spPr>
          <a:xfrm>
            <a:off x="1755648" y="7059168"/>
            <a:ext cx="14228064" cy="0"/>
          </a:xfrm>
          <a:prstGeom prst="line">
            <a:avLst/>
          </a:prstGeom>
          <a:ln w="7620">
            <a:solidFill>
              <a:srgbClr val="D0BBA1"/>
            </a:solidFill>
          </a:ln>
        </p:spPr>
        <p:style>
          <a:lnRef idx="2">
            <a:schemeClr val="accent1"/>
          </a:lnRef>
          <a:fillRef idx="0">
            <a:schemeClr val="accent1"/>
          </a:fillRef>
          <a:effectRef idx="1">
            <a:schemeClr val="accent1"/>
          </a:effectRef>
          <a:fontRef idx="minor">
            <a:schemeClr val="tx1"/>
          </a:fontRef>
        </p:style>
      </p:cxnSp>
      <p:sp>
        <p:nvSpPr>
          <p:cNvPr id="168" name="Planned timeline 2 date"/>
          <p:cNvSpPr txBox="1"/>
          <p:nvPr/>
        </p:nvSpPr>
        <p:spPr>
          <a:xfrm>
            <a:off x="1755648" y="7205472"/>
            <a:ext cx="3931920" cy="493776"/>
          </a:xfrm>
          <a:prstGeom prst="rect">
            <a:avLst/>
          </a:prstGeom>
          <a:noFill/>
        </p:spPr>
        <p:txBody>
          <a:bodyPr wrap="square" lIns="0" tIns="0" rIns="0" bIns="0" anchor="t">
            <a:noAutofit/>
          </a:bodyPr>
          <a:lstStyle/>
          <a:p>
            <a:pPr>
              <a:lnSpc>
                <a:spcPct val="104000"/>
              </a:lnSpc>
              <a:spcBef>
                <a:spcPts val="0"/>
              </a:spcBef>
              <a:spcAft>
                <a:spcPts val="0"/>
              </a:spcAft>
            </a:pPr>
            <a:r>
              <a:rPr sz="2700" b="1">
                <a:solidFill>
                  <a:srgbClr val="17212D"/>
                </a:solidFill>
                <a:latin typeface="Georgia" panose="02040502050405020303"/>
              </a:rPr>
              <a:t>Nov–Dec 2026</a:t>
            </a:r>
            <a:endParaRPr sz="2700" b="1">
              <a:solidFill>
                <a:srgbClr val="17212D"/>
              </a:solidFill>
              <a:latin typeface="Georgia" panose="02040502050405020303"/>
            </a:endParaRPr>
          </a:p>
        </p:txBody>
      </p:sp>
      <p:sp>
        <p:nvSpPr>
          <p:cNvPr id="169" name="Planned timeline 2 description"/>
          <p:cNvSpPr txBox="1"/>
          <p:nvPr/>
        </p:nvSpPr>
        <p:spPr>
          <a:xfrm>
            <a:off x="6199632" y="7232904"/>
            <a:ext cx="10341864" cy="548640"/>
          </a:xfrm>
          <a:prstGeom prst="rect">
            <a:avLst/>
          </a:prstGeom>
          <a:noFill/>
        </p:spPr>
        <p:txBody>
          <a:bodyPr wrap="square" lIns="0" tIns="0" rIns="0" bIns="0" anchor="t">
            <a:noAutofit/>
          </a:bodyPr>
          <a:lstStyle/>
          <a:p>
            <a:pPr>
              <a:lnSpc>
                <a:spcPct val="104000"/>
              </a:lnSpc>
              <a:spcBef>
                <a:spcPts val="0"/>
              </a:spcBef>
              <a:spcAft>
                <a:spcPts val="0"/>
              </a:spcAft>
            </a:pPr>
            <a:r>
              <a:rPr sz="2200" b="0">
                <a:solidFill>
                  <a:srgbClr val="17212D"/>
                </a:solidFill>
                <a:latin typeface="Georgia" panose="02040502050405020303"/>
              </a:rPr>
              <a:t>Collect and review questions; improve the live submission website.</a:t>
            </a:r>
            <a:endParaRPr sz="2200" b="0">
              <a:solidFill>
                <a:srgbClr val="17212D"/>
              </a:solidFill>
              <a:latin typeface="Georgia" panose="02040502050405020303"/>
            </a:endParaRPr>
          </a:p>
        </p:txBody>
      </p:sp>
      <p:cxnSp>
        <p:nvCxnSpPr>
          <p:cNvPr id="170" name="Planned timeline 2 divider"/>
          <p:cNvCxnSpPr/>
          <p:nvPr/>
        </p:nvCxnSpPr>
        <p:spPr>
          <a:xfrm>
            <a:off x="1755648" y="7818120"/>
            <a:ext cx="14228064" cy="0"/>
          </a:xfrm>
          <a:prstGeom prst="line">
            <a:avLst/>
          </a:prstGeom>
          <a:ln w="7620">
            <a:solidFill>
              <a:srgbClr val="D0BBA1"/>
            </a:solidFill>
          </a:ln>
        </p:spPr>
        <p:style>
          <a:lnRef idx="2">
            <a:schemeClr val="accent1"/>
          </a:lnRef>
          <a:fillRef idx="0">
            <a:schemeClr val="accent1"/>
          </a:fillRef>
          <a:effectRef idx="1">
            <a:schemeClr val="accent1"/>
          </a:effectRef>
          <a:fontRef idx="minor">
            <a:schemeClr val="tx1"/>
          </a:fontRef>
        </p:style>
      </p:cxnSp>
      <p:sp>
        <p:nvSpPr>
          <p:cNvPr id="171" name="Planned timeline 3 date"/>
          <p:cNvSpPr txBox="1"/>
          <p:nvPr/>
        </p:nvSpPr>
        <p:spPr>
          <a:xfrm>
            <a:off x="1755648" y="7964423"/>
            <a:ext cx="3931920" cy="493776"/>
          </a:xfrm>
          <a:prstGeom prst="rect">
            <a:avLst/>
          </a:prstGeom>
          <a:noFill/>
        </p:spPr>
        <p:txBody>
          <a:bodyPr wrap="square" lIns="0" tIns="0" rIns="0" bIns="0" anchor="t">
            <a:noAutofit/>
          </a:bodyPr>
          <a:lstStyle/>
          <a:p>
            <a:pPr>
              <a:lnSpc>
                <a:spcPct val="104000"/>
              </a:lnSpc>
              <a:spcBef>
                <a:spcPts val="0"/>
              </a:spcBef>
              <a:spcAft>
                <a:spcPts val="0"/>
              </a:spcAft>
            </a:pPr>
            <a:r>
              <a:rPr sz="2700" b="1">
                <a:solidFill>
                  <a:srgbClr val="17212D"/>
                </a:solidFill>
                <a:latin typeface="Georgia" panose="02040502050405020303"/>
              </a:rPr>
              <a:t>Jan–Mar 2027</a:t>
            </a:r>
            <a:endParaRPr sz="2700" b="1">
              <a:solidFill>
                <a:srgbClr val="17212D"/>
              </a:solidFill>
              <a:latin typeface="Georgia" panose="02040502050405020303"/>
            </a:endParaRPr>
          </a:p>
        </p:txBody>
      </p:sp>
      <p:sp>
        <p:nvSpPr>
          <p:cNvPr id="172" name="Planned timeline 3 description"/>
          <p:cNvSpPr txBox="1"/>
          <p:nvPr/>
        </p:nvSpPr>
        <p:spPr>
          <a:xfrm>
            <a:off x="6199632" y="7991855"/>
            <a:ext cx="10341864" cy="548640"/>
          </a:xfrm>
          <a:prstGeom prst="rect">
            <a:avLst/>
          </a:prstGeom>
          <a:noFill/>
        </p:spPr>
        <p:txBody>
          <a:bodyPr wrap="square" lIns="0" tIns="0" rIns="0" bIns="0" anchor="t">
            <a:noAutofit/>
          </a:bodyPr>
          <a:lstStyle/>
          <a:p>
            <a:pPr>
              <a:lnSpc>
                <a:spcPct val="104000"/>
              </a:lnSpc>
              <a:spcBef>
                <a:spcPts val="0"/>
              </a:spcBef>
              <a:spcAft>
                <a:spcPts val="0"/>
              </a:spcAft>
            </a:pPr>
            <a:r>
              <a:rPr sz="2200" b="0">
                <a:solidFill>
                  <a:srgbClr val="17212D"/>
                </a:solidFill>
                <a:latin typeface="Georgia" panose="02040502050405020303"/>
              </a:rPr>
              <a:t>Expand the collection, rerun the model panel and release updates.</a:t>
            </a:r>
            <a:endParaRPr sz="2200" b="0">
              <a:solidFill>
                <a:srgbClr val="17212D"/>
              </a:solidFill>
              <a:latin typeface="Georgia" panose="02040502050405020303"/>
            </a:endParaRPr>
          </a:p>
        </p:txBody>
      </p:sp>
      <p:cxnSp>
        <p:nvCxnSpPr>
          <p:cNvPr id="173" name="Planned timeline 3 divider"/>
          <p:cNvCxnSpPr/>
          <p:nvPr/>
        </p:nvCxnSpPr>
        <p:spPr>
          <a:xfrm>
            <a:off x="1755648" y="8577072"/>
            <a:ext cx="14228064" cy="0"/>
          </a:xfrm>
          <a:prstGeom prst="line">
            <a:avLst/>
          </a:prstGeom>
          <a:ln w="7620">
            <a:solidFill>
              <a:srgbClr val="D0BBA1"/>
            </a:solidFill>
          </a:ln>
        </p:spPr>
        <p:style>
          <a:lnRef idx="2">
            <a:schemeClr val="accent1"/>
          </a:lnRef>
          <a:fillRef idx="0">
            <a:schemeClr val="accent1"/>
          </a:fillRef>
          <a:effectRef idx="1">
            <a:schemeClr val="accent1"/>
          </a:effectRef>
          <a:fontRef idx="minor">
            <a:schemeClr val="tx1"/>
          </a:fontRef>
        </p:style>
      </p:cxnSp>
      <p:sp>
        <p:nvSpPr>
          <p:cNvPr id="174" name="Long term date"/>
          <p:cNvSpPr txBox="1"/>
          <p:nvPr/>
        </p:nvSpPr>
        <p:spPr>
          <a:xfrm>
            <a:off x="1755648" y="8723376"/>
            <a:ext cx="3931920" cy="493776"/>
          </a:xfrm>
          <a:prstGeom prst="rect">
            <a:avLst/>
          </a:prstGeom>
          <a:noFill/>
        </p:spPr>
        <p:txBody>
          <a:bodyPr wrap="square" lIns="0" tIns="0" rIns="0" bIns="0" anchor="t">
            <a:noAutofit/>
          </a:bodyPr>
          <a:lstStyle/>
          <a:p>
            <a:pPr>
              <a:lnSpc>
                <a:spcPct val="104000"/>
              </a:lnSpc>
              <a:spcBef>
                <a:spcPts val="0"/>
              </a:spcBef>
              <a:spcAft>
                <a:spcPts val="0"/>
              </a:spcAft>
            </a:pPr>
            <a:r>
              <a:rPr sz="2700" b="1">
                <a:solidFill>
                  <a:srgbClr val="17212D"/>
                </a:solidFill>
                <a:latin typeface="Georgia" panose="02040502050405020303"/>
              </a:rPr>
              <a:t>Long term</a:t>
            </a:r>
            <a:endParaRPr sz="2700" b="1">
              <a:solidFill>
                <a:srgbClr val="17212D"/>
              </a:solidFill>
              <a:latin typeface="Georgia" panose="02040502050405020303"/>
            </a:endParaRPr>
          </a:p>
        </p:txBody>
      </p:sp>
      <p:sp>
        <p:nvSpPr>
          <p:cNvPr id="175" name="Long term research"/>
          <p:cNvSpPr txBox="1"/>
          <p:nvPr/>
        </p:nvSpPr>
        <p:spPr>
          <a:xfrm>
            <a:off x="6199632" y="8741664"/>
            <a:ext cx="10341864" cy="420624"/>
          </a:xfrm>
          <a:prstGeom prst="rect">
            <a:avLst/>
          </a:prstGeom>
          <a:noFill/>
        </p:spPr>
        <p:txBody>
          <a:bodyPr wrap="square" lIns="0" tIns="0" rIns="0" bIns="0" anchor="t">
            <a:noAutofit/>
          </a:bodyPr>
          <a:lstStyle/>
          <a:p>
            <a:pPr>
              <a:lnSpc>
                <a:spcPct val="104000"/>
              </a:lnSpc>
              <a:spcBef>
                <a:spcPts val="0"/>
              </a:spcBef>
              <a:spcAft>
                <a:spcPts val="0"/>
              </a:spcAft>
            </a:pPr>
            <a:r>
              <a:rPr sz="2200" b="0">
                <a:solidFill>
                  <a:srgbClr val="17212D"/>
                </a:solidFill>
                <a:latin typeface="Georgia" panose="02040502050405020303"/>
              </a:rPr>
              <a:t>Build capacity for expert annotation and model evaluation.</a:t>
            </a:r>
            <a:endParaRPr sz="2200" b="0">
              <a:solidFill>
                <a:srgbClr val="17212D"/>
              </a:solidFill>
              <a:latin typeface="Georgia" panose="02040502050405020303"/>
            </a:endParaRPr>
          </a:p>
        </p:txBody>
      </p:sp>
      <p:sp>
        <p:nvSpPr>
          <p:cNvPr id="176" name="Research outlook"/>
          <p:cNvSpPr txBox="1"/>
          <p:nvPr/>
        </p:nvSpPr>
        <p:spPr>
          <a:xfrm>
            <a:off x="6199632" y="9171432"/>
            <a:ext cx="10341864" cy="274320"/>
          </a:xfrm>
          <a:prstGeom prst="rect">
            <a:avLst/>
          </a:prstGeom>
          <a:noFill/>
        </p:spPr>
        <p:txBody>
          <a:bodyPr wrap="square" lIns="0" tIns="0" rIns="0" bIns="0" anchor="t">
            <a:noAutofit/>
          </a:bodyPr>
          <a:lstStyle/>
          <a:p>
            <a:pPr>
              <a:lnSpc>
                <a:spcPct val="104000"/>
              </a:lnSpc>
              <a:spcBef>
                <a:spcPts val="0"/>
              </a:spcBef>
              <a:spcAft>
                <a:spcPts val="0"/>
              </a:spcAft>
            </a:pPr>
            <a:endParaRPr sz="1500" b="0">
              <a:solidFill>
                <a:srgbClr val="17212D"/>
              </a:solidFill>
              <a:latin typeface="Georgia" panose="02040502050405020303"/>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13483</Words>
  <Application>WPS 演示</Application>
  <PresentationFormat>Custom</PresentationFormat>
  <Paragraphs>770</Paragraphs>
  <Slides>14</Slides>
  <Notes>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宋体</vt:lpstr>
      <vt:lpstr>Wingdings</vt:lpstr>
      <vt:lpstr>Arial</vt:lpstr>
      <vt:lpstr>Calibri</vt:lpstr>
      <vt:lpstr>UnBatang</vt:lpstr>
      <vt:lpstr>Segoe Print</vt:lpstr>
      <vt:lpstr>P052</vt:lpstr>
      <vt:lpstr>Georgia</vt:lpstr>
      <vt:lpstr>Times New Roman</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MDLE</dc:creator>
  <cp:lastModifiedBy>华德红</cp:lastModifiedBy>
  <cp:revision>31</cp:revision>
  <dcterms:created xsi:type="dcterms:W3CDTF">2026-07-22T09:01:00Z</dcterms:created>
  <dcterms:modified xsi:type="dcterms:W3CDTF">2026-10-05T07:30:35Z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B34CDAD0BB0A4F009959E2F451F78189_12</vt:lpwstr>
  </property>
  <property fmtid="{D5CDD505-2E9C-101B-9397-08002B2CF9AE}" pid="3" name="KSOProductBuildVer">
    <vt:lpwstr>2052-12.1.0.28505</vt:lpwstr>
  </property>
</Properties>
</file>